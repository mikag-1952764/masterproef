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21388388" cy="30275213"/>
  <p:notesSz cx="6858000" cy="9144000"/>
  <p:defaultTextStyle>
    <a:defPPr>
      <a:defRPr lang="nl-NL"/>
    </a:defPPr>
    <a:lvl1pPr marL="0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1476027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2952054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4428081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5904109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7380135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8856162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0332190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1808216" algn="l" defTabSz="1476027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7">
          <p15:clr>
            <a:srgbClr val="A4A3A4"/>
          </p15:clr>
        </p15:guide>
        <p15:guide id="2" pos="4764">
          <p15:clr>
            <a:srgbClr val="A4A3A4"/>
          </p15:clr>
        </p15:guide>
        <p15:guide id="3" orient="horz" pos="9536">
          <p15:clr>
            <a:srgbClr val="A4A3A4"/>
          </p15:clr>
        </p15:guide>
        <p15:guide id="4" pos="67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B2B"/>
    <a:srgbClr val="003D77"/>
    <a:srgbClr val="65BEEC"/>
    <a:srgbClr val="E73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78"/>
    <p:restoredTop sz="94816"/>
  </p:normalViewPr>
  <p:slideViewPr>
    <p:cSldViewPr snapToGrid="0" snapToObjects="1">
      <p:cViewPr>
        <p:scale>
          <a:sx n="75" d="100"/>
          <a:sy n="75" d="100"/>
        </p:scale>
        <p:origin x="1876" y="-6036"/>
      </p:cViewPr>
      <p:guideLst>
        <p:guide orient="horz" pos="6737"/>
        <p:guide pos="4764"/>
        <p:guide orient="horz" pos="9536"/>
        <p:guide pos="67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7269F-9428-45A6-A30D-3B0D4F9FE45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B773B352-A10D-46D3-80ED-A569C41F27DE}">
      <dgm:prSet phldrT="[Tekst]" phldr="0" custT="1"/>
      <dgm:spPr>
        <a:solidFill>
          <a:srgbClr val="003D77"/>
        </a:solidFill>
        <a:ln>
          <a:solidFill>
            <a:srgbClr val="E73B2B"/>
          </a:solidFill>
        </a:ln>
      </dgm:spPr>
      <dgm:t>
        <a:bodyPr/>
        <a:lstStyle/>
        <a:p>
          <a:r>
            <a:rPr lang="nl-BE" sz="2400" dirty="0"/>
            <a:t>Node-features</a:t>
          </a:r>
          <a:endParaRPr lang="nl-BE" sz="2800" dirty="0"/>
        </a:p>
      </dgm:t>
    </dgm:pt>
    <dgm:pt modelId="{D012F02D-8477-4ED6-9524-6151D99A79F7}" type="parTrans" cxnId="{CC1E6C61-E6E7-460F-8AA3-28C3FAB6C7AF}">
      <dgm:prSet/>
      <dgm:spPr/>
      <dgm:t>
        <a:bodyPr/>
        <a:lstStyle/>
        <a:p>
          <a:endParaRPr lang="nl-BE"/>
        </a:p>
      </dgm:t>
    </dgm:pt>
    <dgm:pt modelId="{6BC66683-B922-4557-A230-E23DEEE41957}" type="sibTrans" cxnId="{CC1E6C61-E6E7-460F-8AA3-28C3FAB6C7AF}">
      <dgm:prSet/>
      <dgm:spPr/>
      <dgm:t>
        <a:bodyPr/>
        <a:lstStyle/>
        <a:p>
          <a:endParaRPr lang="nl-BE"/>
        </a:p>
      </dgm:t>
    </dgm:pt>
    <dgm:pt modelId="{5976CC51-104E-48F3-8A1A-B33F993EF3C2}">
      <dgm:prSet phldrT="[Tekst]" custT="1"/>
      <dgm:spPr>
        <a:solidFill>
          <a:srgbClr val="E73B2B">
            <a:alpha val="30196"/>
          </a:srgbClr>
        </a:solidFill>
        <a:ln>
          <a:solidFill>
            <a:srgbClr val="E73B2B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nl-BE" sz="2000" b="1" dirty="0">
              <a:solidFill>
                <a:srgbClr val="003D77"/>
              </a:solidFill>
            </a:rPr>
            <a:t>kleurcodering</a:t>
          </a:r>
          <a:r>
            <a:rPr lang="nl-BE" sz="2000" dirty="0"/>
            <a:t> (Fig. 1): (rood = </a:t>
          </a:r>
          <a:r>
            <a:rPr lang="nl-BE" sz="2000" dirty="0" err="1"/>
            <a:t>unfortunately</a:t>
          </a:r>
          <a:r>
            <a:rPr lang="nl-BE" sz="2000" dirty="0"/>
            <a:t>, groen = </a:t>
          </a:r>
          <a:r>
            <a:rPr lang="nl-BE" sz="2000" dirty="0" err="1"/>
            <a:t>fortunately</a:t>
          </a:r>
          <a:r>
            <a:rPr lang="nl-BE" sz="2000" dirty="0"/>
            <a:t>) met automatische afwisseling zorgt voor intuïtieve boomstructuur,</a:t>
          </a:r>
        </a:p>
      </dgm:t>
    </dgm:pt>
    <dgm:pt modelId="{80E601B6-6B53-4C43-BEB5-903F1CBF5425}" type="parTrans" cxnId="{B42237EF-37A1-49EA-84CC-9E2C252F1020}">
      <dgm:prSet/>
      <dgm:spPr/>
      <dgm:t>
        <a:bodyPr/>
        <a:lstStyle/>
        <a:p>
          <a:endParaRPr lang="nl-BE"/>
        </a:p>
      </dgm:t>
    </dgm:pt>
    <dgm:pt modelId="{BD520B03-F3D6-4114-8AF1-2E8993C75EA6}" type="sibTrans" cxnId="{B42237EF-37A1-49EA-84CC-9E2C252F1020}">
      <dgm:prSet/>
      <dgm:spPr/>
      <dgm:t>
        <a:bodyPr/>
        <a:lstStyle/>
        <a:p>
          <a:endParaRPr lang="nl-BE"/>
        </a:p>
      </dgm:t>
    </dgm:pt>
    <dgm:pt modelId="{0A72A427-B130-4AE9-B15F-E42CF676C72F}">
      <dgm:prSet phldrT="[Tekst]" custT="1"/>
      <dgm:spPr>
        <a:solidFill>
          <a:srgbClr val="E73B2B">
            <a:alpha val="30196"/>
          </a:srgbClr>
        </a:solidFill>
        <a:ln>
          <a:solidFill>
            <a:srgbClr val="E73B2B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nl-BE" sz="2000" b="1" dirty="0">
              <a:solidFill>
                <a:srgbClr val="003D77"/>
              </a:solidFill>
            </a:rPr>
            <a:t>statusiconen</a:t>
          </a:r>
          <a:r>
            <a:rPr lang="nl-BE" sz="2000" b="1" dirty="0"/>
            <a:t> </a:t>
          </a:r>
          <a:r>
            <a:rPr lang="nl-BE" sz="2000" dirty="0"/>
            <a:t>(Fig. 2): tonen </a:t>
          </a:r>
          <a:r>
            <a:rPr lang="nl-BE" sz="2000" b="1" dirty="0">
              <a:solidFill>
                <a:srgbClr val="003D77"/>
              </a:solidFill>
            </a:rPr>
            <a:t>voortgang</a:t>
          </a:r>
          <a:r>
            <a:rPr lang="nl-BE" sz="2000" b="1" dirty="0"/>
            <a:t> </a:t>
          </a:r>
          <a:r>
            <a:rPr lang="nl-BE" sz="2000" dirty="0"/>
            <a:t>van een </a:t>
          </a:r>
          <a:r>
            <a:rPr lang="nl-BE" sz="2000" b="1" dirty="0">
              <a:solidFill>
                <a:srgbClr val="003D77"/>
              </a:solidFill>
            </a:rPr>
            <a:t>node</a:t>
          </a:r>
          <a:r>
            <a:rPr lang="nl-BE" sz="2000" b="1" dirty="0"/>
            <a:t> </a:t>
          </a:r>
          <a:r>
            <a:rPr lang="nl-BE" sz="2000" dirty="0"/>
            <a:t>aan de hand van </a:t>
          </a:r>
          <a:r>
            <a:rPr lang="nl-BE" sz="2000" b="1" dirty="0" err="1">
              <a:solidFill>
                <a:srgbClr val="003D77"/>
              </a:solidFill>
            </a:rPr>
            <a:t>Weakness</a:t>
          </a:r>
          <a:r>
            <a:rPr lang="nl-BE" sz="2000" dirty="0"/>
            <a:t> (rood schild</a:t>
          </a:r>
          <a:r>
            <a:rPr lang="nl-BE" sz="2000" b="1" dirty="0"/>
            <a:t>), </a:t>
          </a:r>
          <a:r>
            <a:rPr lang="nl-BE" sz="2000" b="1" dirty="0" err="1">
              <a:solidFill>
                <a:srgbClr val="003D77"/>
              </a:solidFill>
            </a:rPr>
            <a:t>Weakness</a:t>
          </a:r>
          <a:r>
            <a:rPr lang="nl-BE" sz="2000" b="1" dirty="0">
              <a:solidFill>
                <a:srgbClr val="003D77"/>
              </a:solidFill>
            </a:rPr>
            <a:t> Under Review </a:t>
          </a:r>
          <a:r>
            <a:rPr lang="nl-BE" sz="2000" dirty="0"/>
            <a:t>(oranje schild), </a:t>
          </a:r>
          <a:r>
            <a:rPr lang="nl-BE" sz="2000" b="1" dirty="0" err="1">
              <a:solidFill>
                <a:srgbClr val="003D77"/>
              </a:solidFill>
            </a:rPr>
            <a:t>Assumption</a:t>
          </a:r>
          <a:r>
            <a:rPr lang="nl-BE" sz="2000" b="1" dirty="0">
              <a:solidFill>
                <a:srgbClr val="003D77"/>
              </a:solidFill>
            </a:rPr>
            <a:t> Under Review </a:t>
          </a:r>
          <a:r>
            <a:rPr lang="nl-BE" sz="2000" dirty="0"/>
            <a:t>(oranje check schild), </a:t>
          </a:r>
          <a:r>
            <a:rPr lang="nl-BE" sz="2000" b="1" dirty="0" err="1">
              <a:solidFill>
                <a:srgbClr val="003D77"/>
              </a:solidFill>
            </a:rPr>
            <a:t>Verified</a:t>
          </a:r>
          <a:r>
            <a:rPr lang="nl-BE" sz="2000" b="1" dirty="0"/>
            <a:t> </a:t>
          </a:r>
          <a:r>
            <a:rPr lang="nl-BE" sz="2000" b="1" dirty="0" err="1">
              <a:solidFill>
                <a:srgbClr val="003D77"/>
              </a:solidFill>
            </a:rPr>
            <a:t>Assumption</a:t>
          </a:r>
          <a:r>
            <a:rPr lang="nl-BE" sz="2000" b="1" dirty="0"/>
            <a:t> </a:t>
          </a:r>
          <a:r>
            <a:rPr lang="nl-BE" sz="2000" dirty="0"/>
            <a:t>(groen check schild) met </a:t>
          </a:r>
          <a:r>
            <a:rPr lang="nl-BE" sz="2000" dirty="0" err="1"/>
            <a:t>hover</a:t>
          </a:r>
          <a:r>
            <a:rPr lang="nl-BE" sz="2000" dirty="0"/>
            <a:t>-tooltips,</a:t>
          </a:r>
        </a:p>
      </dgm:t>
    </dgm:pt>
    <dgm:pt modelId="{DC65953E-1915-48AD-9516-E49F83AA7302}" type="parTrans" cxnId="{3C32BA37-F373-44D7-A803-DCCCE92017D2}">
      <dgm:prSet/>
      <dgm:spPr/>
      <dgm:t>
        <a:bodyPr/>
        <a:lstStyle/>
        <a:p>
          <a:endParaRPr lang="nl-BE"/>
        </a:p>
      </dgm:t>
    </dgm:pt>
    <dgm:pt modelId="{9113CE44-ECD7-44FB-B383-6162717CB27A}" type="sibTrans" cxnId="{3C32BA37-F373-44D7-A803-DCCCE92017D2}">
      <dgm:prSet/>
      <dgm:spPr/>
      <dgm:t>
        <a:bodyPr/>
        <a:lstStyle/>
        <a:p>
          <a:endParaRPr lang="nl-BE"/>
        </a:p>
      </dgm:t>
    </dgm:pt>
    <dgm:pt modelId="{A96455D1-B296-44F9-A487-BE19BA8646F0}">
      <dgm:prSet phldrT="[Tekst]" custT="1"/>
      <dgm:spPr>
        <a:solidFill>
          <a:srgbClr val="E73B2B">
            <a:alpha val="30196"/>
          </a:srgbClr>
        </a:solidFill>
        <a:ln>
          <a:solidFill>
            <a:srgbClr val="E73B2B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nl-BE" sz="2000" b="1" dirty="0" err="1">
              <a:solidFill>
                <a:srgbClr val="003D77"/>
              </a:solidFill>
            </a:rPr>
            <a:t>danger</a:t>
          </a:r>
          <a:r>
            <a:rPr lang="nl-BE" sz="2000" b="1" dirty="0">
              <a:solidFill>
                <a:srgbClr val="003D77"/>
              </a:solidFill>
            </a:rPr>
            <a:t> rating </a:t>
          </a:r>
          <a:r>
            <a:rPr lang="nl-BE" sz="2000" b="0" dirty="0">
              <a:solidFill>
                <a:schemeClr val="tx1"/>
              </a:solidFill>
            </a:rPr>
            <a:t>(Fig. 3)</a:t>
          </a:r>
          <a:r>
            <a:rPr lang="nl-BE" sz="2000" dirty="0"/>
            <a:t>:</a:t>
          </a:r>
          <a:r>
            <a:rPr lang="nl-BE" sz="2000" b="1" dirty="0"/>
            <a:t> </a:t>
          </a:r>
          <a:r>
            <a:rPr lang="nl-BE" sz="2000" b="1" dirty="0" err="1">
              <a:solidFill>
                <a:srgbClr val="003D77"/>
              </a:solidFill>
            </a:rPr>
            <a:t>scoreert</a:t>
          </a:r>
          <a:r>
            <a:rPr lang="nl-BE" sz="2000" dirty="0"/>
            <a:t> </a:t>
          </a:r>
          <a:r>
            <a:rPr lang="nl-BE" sz="2000" dirty="0" err="1"/>
            <a:t>unfortunately-nodes</a:t>
          </a:r>
          <a:r>
            <a:rPr lang="nl-BE" sz="2000" dirty="0"/>
            <a:t> op basis van </a:t>
          </a:r>
          <a:r>
            <a:rPr lang="nl-BE" sz="2000" b="1" dirty="0" err="1">
              <a:solidFill>
                <a:srgbClr val="003D77"/>
              </a:solidFill>
            </a:rPr>
            <a:t>likelihood</a:t>
          </a:r>
          <a:r>
            <a:rPr lang="nl-BE" sz="2000" dirty="0"/>
            <a:t> (1-5) </a:t>
          </a:r>
          <a:r>
            <a:rPr lang="nl-BE" sz="2000" b="1" dirty="0">
              <a:solidFill>
                <a:srgbClr val="003D77"/>
              </a:solidFill>
            </a:rPr>
            <a:t>×</a:t>
          </a:r>
          <a:r>
            <a:rPr lang="nl-BE" sz="2000" dirty="0"/>
            <a:t> </a:t>
          </a:r>
          <a:r>
            <a:rPr lang="nl-BE" sz="2000" b="1" dirty="0">
              <a:solidFill>
                <a:srgbClr val="003D77"/>
              </a:solidFill>
            </a:rPr>
            <a:t>impact</a:t>
          </a:r>
          <a:r>
            <a:rPr lang="nl-BE" sz="2000" dirty="0"/>
            <a:t> (1-5).</a:t>
          </a:r>
        </a:p>
      </dgm:t>
    </dgm:pt>
    <dgm:pt modelId="{2596DEF6-70D2-442B-BDE9-1C89DEB76F96}" type="parTrans" cxnId="{B1102B7A-9F2B-421A-B9C0-4C35B632E0AB}">
      <dgm:prSet/>
      <dgm:spPr/>
      <dgm:t>
        <a:bodyPr/>
        <a:lstStyle/>
        <a:p>
          <a:endParaRPr lang="nl-BE"/>
        </a:p>
      </dgm:t>
    </dgm:pt>
    <dgm:pt modelId="{2CDE1B52-AB7F-453F-A642-6AE387AD3101}" type="sibTrans" cxnId="{B1102B7A-9F2B-421A-B9C0-4C35B632E0AB}">
      <dgm:prSet/>
      <dgm:spPr/>
      <dgm:t>
        <a:bodyPr/>
        <a:lstStyle/>
        <a:p>
          <a:endParaRPr lang="nl-BE"/>
        </a:p>
      </dgm:t>
    </dgm:pt>
    <dgm:pt modelId="{986E9349-70B3-49DB-ACB1-3A1198589682}" type="pres">
      <dgm:prSet presAssocID="{F797269F-9428-45A6-A30D-3B0D4F9FE45A}" presName="Name0" presStyleCnt="0">
        <dgm:presLayoutVars>
          <dgm:dir/>
          <dgm:animLvl val="lvl"/>
          <dgm:resizeHandles val="exact"/>
        </dgm:presLayoutVars>
      </dgm:prSet>
      <dgm:spPr/>
    </dgm:pt>
    <dgm:pt modelId="{A00E1FA0-5F1E-49E2-95A6-6DE120DBC892}" type="pres">
      <dgm:prSet presAssocID="{B773B352-A10D-46D3-80ED-A569C41F27DE}" presName="linNode" presStyleCnt="0"/>
      <dgm:spPr/>
    </dgm:pt>
    <dgm:pt modelId="{E58E53C7-FC59-4ED9-B1BE-EFE01D9130F5}" type="pres">
      <dgm:prSet presAssocID="{B773B352-A10D-46D3-80ED-A569C41F27DE}" presName="parentText" presStyleLbl="node1" presStyleIdx="0" presStyleCnt="1" custScaleY="85321">
        <dgm:presLayoutVars>
          <dgm:chMax val="1"/>
          <dgm:bulletEnabled val="1"/>
        </dgm:presLayoutVars>
      </dgm:prSet>
      <dgm:spPr/>
    </dgm:pt>
    <dgm:pt modelId="{604463F1-3E75-459A-AAE4-30A27D8FE6B9}" type="pres">
      <dgm:prSet presAssocID="{B773B352-A10D-46D3-80ED-A569C41F27DE}" presName="descendantText" presStyleLbl="alignAccFollowNode1" presStyleIdx="0" presStyleCnt="1" custScaleX="265997" custLinFactNeighborY="0">
        <dgm:presLayoutVars>
          <dgm:bulletEnabled val="1"/>
        </dgm:presLayoutVars>
      </dgm:prSet>
      <dgm:spPr/>
    </dgm:pt>
  </dgm:ptLst>
  <dgm:cxnLst>
    <dgm:cxn modelId="{3C32BA37-F373-44D7-A803-DCCCE92017D2}" srcId="{B773B352-A10D-46D3-80ED-A569C41F27DE}" destId="{0A72A427-B130-4AE9-B15F-E42CF676C72F}" srcOrd="1" destOrd="0" parTransId="{DC65953E-1915-48AD-9516-E49F83AA7302}" sibTransId="{9113CE44-ECD7-44FB-B383-6162717CB27A}"/>
    <dgm:cxn modelId="{CC1E6C61-E6E7-460F-8AA3-28C3FAB6C7AF}" srcId="{F797269F-9428-45A6-A30D-3B0D4F9FE45A}" destId="{B773B352-A10D-46D3-80ED-A569C41F27DE}" srcOrd="0" destOrd="0" parTransId="{D012F02D-8477-4ED6-9524-6151D99A79F7}" sibTransId="{6BC66683-B922-4557-A230-E23DEEE41957}"/>
    <dgm:cxn modelId="{B1102B7A-9F2B-421A-B9C0-4C35B632E0AB}" srcId="{B773B352-A10D-46D3-80ED-A569C41F27DE}" destId="{A96455D1-B296-44F9-A487-BE19BA8646F0}" srcOrd="2" destOrd="0" parTransId="{2596DEF6-70D2-442B-BDE9-1C89DEB76F96}" sibTransId="{2CDE1B52-AB7F-453F-A642-6AE387AD3101}"/>
    <dgm:cxn modelId="{AE91BB82-A06D-4621-A53A-B4BDD75BA4DD}" type="presOf" srcId="{5976CC51-104E-48F3-8A1A-B33F993EF3C2}" destId="{604463F1-3E75-459A-AAE4-30A27D8FE6B9}" srcOrd="0" destOrd="0" presId="urn:microsoft.com/office/officeart/2005/8/layout/vList5"/>
    <dgm:cxn modelId="{35C9A29E-0666-4CC1-BAFD-BBCF56A45178}" type="presOf" srcId="{B773B352-A10D-46D3-80ED-A569C41F27DE}" destId="{E58E53C7-FC59-4ED9-B1BE-EFE01D9130F5}" srcOrd="0" destOrd="0" presId="urn:microsoft.com/office/officeart/2005/8/layout/vList5"/>
    <dgm:cxn modelId="{4E3E39CE-9B4E-471F-8DA9-36E21CA16034}" type="presOf" srcId="{0A72A427-B130-4AE9-B15F-E42CF676C72F}" destId="{604463F1-3E75-459A-AAE4-30A27D8FE6B9}" srcOrd="0" destOrd="1" presId="urn:microsoft.com/office/officeart/2005/8/layout/vList5"/>
    <dgm:cxn modelId="{BF8F49D0-03C1-4694-B04D-751755587206}" type="presOf" srcId="{A96455D1-B296-44F9-A487-BE19BA8646F0}" destId="{604463F1-3E75-459A-AAE4-30A27D8FE6B9}" srcOrd="0" destOrd="2" presId="urn:microsoft.com/office/officeart/2005/8/layout/vList5"/>
    <dgm:cxn modelId="{B42237EF-37A1-49EA-84CC-9E2C252F1020}" srcId="{B773B352-A10D-46D3-80ED-A569C41F27DE}" destId="{5976CC51-104E-48F3-8A1A-B33F993EF3C2}" srcOrd="0" destOrd="0" parTransId="{80E601B6-6B53-4C43-BEB5-903F1CBF5425}" sibTransId="{BD520B03-F3D6-4114-8AF1-2E8993C75EA6}"/>
    <dgm:cxn modelId="{CF9E1AF3-FE01-4321-B164-C610601F9045}" type="presOf" srcId="{F797269F-9428-45A6-A30D-3B0D4F9FE45A}" destId="{986E9349-70B3-49DB-ACB1-3A1198589682}" srcOrd="0" destOrd="0" presId="urn:microsoft.com/office/officeart/2005/8/layout/vList5"/>
    <dgm:cxn modelId="{70C9DDB1-D1C7-4CBE-925D-C0C494DB6EE4}" type="presParOf" srcId="{986E9349-70B3-49DB-ACB1-3A1198589682}" destId="{A00E1FA0-5F1E-49E2-95A6-6DE120DBC892}" srcOrd="0" destOrd="0" presId="urn:microsoft.com/office/officeart/2005/8/layout/vList5"/>
    <dgm:cxn modelId="{D5FEC7D9-2BAA-4619-9B18-68C881A420B3}" type="presParOf" srcId="{A00E1FA0-5F1E-49E2-95A6-6DE120DBC892}" destId="{E58E53C7-FC59-4ED9-B1BE-EFE01D9130F5}" srcOrd="0" destOrd="0" presId="urn:microsoft.com/office/officeart/2005/8/layout/vList5"/>
    <dgm:cxn modelId="{7AB6B82C-A1DE-41AA-9F57-F8D2642FF4E9}" type="presParOf" srcId="{A00E1FA0-5F1E-49E2-95A6-6DE120DBC892}" destId="{604463F1-3E75-459A-AAE4-30A27D8FE6B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258A52-64D9-4C4A-9846-6AB56A389CF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BFAEEB49-0246-40A7-AF68-D3E27687BDFC}">
      <dgm:prSet phldrT="[Tekst]" phldr="0" custT="1"/>
      <dgm:spPr>
        <a:solidFill>
          <a:srgbClr val="003D77"/>
        </a:solidFill>
        <a:ln>
          <a:solidFill>
            <a:srgbClr val="E73B2B"/>
          </a:solidFill>
        </a:ln>
      </dgm:spPr>
      <dgm:t>
        <a:bodyPr/>
        <a:lstStyle/>
        <a:p>
          <a:r>
            <a:rPr lang="nl-BE" sz="2400" dirty="0"/>
            <a:t>Overzicht-features</a:t>
          </a:r>
        </a:p>
      </dgm:t>
    </dgm:pt>
    <dgm:pt modelId="{AE61FF5E-B1A0-4136-8ADC-265D60F8C1E4}" type="parTrans" cxnId="{39A4747C-D837-42D7-9B48-CA2C2E6AAC63}">
      <dgm:prSet/>
      <dgm:spPr/>
      <dgm:t>
        <a:bodyPr/>
        <a:lstStyle/>
        <a:p>
          <a:endParaRPr lang="nl-BE"/>
        </a:p>
      </dgm:t>
    </dgm:pt>
    <dgm:pt modelId="{C13D1273-87E5-484B-B154-63C595E5E0EE}" type="sibTrans" cxnId="{39A4747C-D837-42D7-9B48-CA2C2E6AAC63}">
      <dgm:prSet/>
      <dgm:spPr/>
      <dgm:t>
        <a:bodyPr/>
        <a:lstStyle/>
        <a:p>
          <a:endParaRPr lang="nl-BE"/>
        </a:p>
      </dgm:t>
    </dgm:pt>
    <dgm:pt modelId="{7D18BFFE-D18A-43CC-92E8-483B02C72971}">
      <dgm:prSet phldrT="[Tekst]" custT="1"/>
      <dgm:spPr>
        <a:solidFill>
          <a:srgbClr val="E73B2B">
            <a:alpha val="30196"/>
          </a:srgbClr>
        </a:solidFill>
        <a:ln>
          <a:solidFill>
            <a:srgbClr val="E73B2B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nl-BE" sz="2000" b="1" dirty="0" err="1">
              <a:solidFill>
                <a:srgbClr val="003D77"/>
              </a:solidFill>
            </a:rPr>
            <a:t>branch</a:t>
          </a:r>
          <a:r>
            <a:rPr lang="nl-BE" sz="2000" b="1" dirty="0">
              <a:solidFill>
                <a:srgbClr val="003D77"/>
              </a:solidFill>
            </a:rPr>
            <a:t> summary tab </a:t>
          </a:r>
          <a:r>
            <a:rPr lang="nl-BE" sz="2000" dirty="0"/>
            <a:t>(Fig. 4):</a:t>
          </a:r>
          <a:r>
            <a:rPr lang="nl-BE" sz="2000" b="1" dirty="0"/>
            <a:t> </a:t>
          </a:r>
          <a:r>
            <a:rPr lang="nl-BE" sz="2000" dirty="0"/>
            <a:t>toont het pad van root tot geselecteerde node voor </a:t>
          </a:r>
          <a:r>
            <a:rPr lang="nl-BE" sz="2000" b="1" dirty="0">
              <a:solidFill>
                <a:srgbClr val="003D77"/>
              </a:solidFill>
            </a:rPr>
            <a:t>contextueel overzicht</a:t>
          </a:r>
          <a:r>
            <a:rPr lang="nl-BE" sz="2000" dirty="0"/>
            <a:t>,</a:t>
          </a:r>
        </a:p>
      </dgm:t>
    </dgm:pt>
    <dgm:pt modelId="{CFB6EAA2-5D96-4480-B1C0-1B9F85D237DD}" type="parTrans" cxnId="{2981F4F3-E073-4232-A451-3920A3A9E357}">
      <dgm:prSet/>
      <dgm:spPr/>
      <dgm:t>
        <a:bodyPr/>
        <a:lstStyle/>
        <a:p>
          <a:endParaRPr lang="nl-BE"/>
        </a:p>
      </dgm:t>
    </dgm:pt>
    <dgm:pt modelId="{73B29FAA-2A03-45A8-A7F2-3087271D75EE}" type="sibTrans" cxnId="{2981F4F3-E073-4232-A451-3920A3A9E357}">
      <dgm:prSet/>
      <dgm:spPr/>
      <dgm:t>
        <a:bodyPr/>
        <a:lstStyle/>
        <a:p>
          <a:endParaRPr lang="nl-BE"/>
        </a:p>
      </dgm:t>
    </dgm:pt>
    <dgm:pt modelId="{6FF48D26-EFDE-4A87-BB0E-1BFE389BEA1D}">
      <dgm:prSet phldrT="[Tekst]" custT="1"/>
      <dgm:spPr>
        <a:solidFill>
          <a:srgbClr val="E73B2B">
            <a:alpha val="30196"/>
          </a:srgbClr>
        </a:solidFill>
        <a:ln>
          <a:solidFill>
            <a:srgbClr val="E73B2B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nl-BE" sz="2000" b="1" dirty="0">
              <a:solidFill>
                <a:srgbClr val="003D77"/>
              </a:solidFill>
            </a:rPr>
            <a:t>filter tab </a:t>
          </a:r>
          <a:r>
            <a:rPr lang="nl-BE" sz="2000" dirty="0"/>
            <a:t>(Fig. 5):</a:t>
          </a:r>
          <a:r>
            <a:rPr lang="nl-BE" sz="2000" b="1" dirty="0"/>
            <a:t> </a:t>
          </a:r>
          <a:r>
            <a:rPr lang="nl-BE" sz="2000" dirty="0"/>
            <a:t>groepeert </a:t>
          </a:r>
          <a:r>
            <a:rPr lang="nl-BE" sz="2000" dirty="0" err="1"/>
            <a:t>nodes</a:t>
          </a:r>
          <a:r>
            <a:rPr lang="nl-BE" sz="2000" dirty="0"/>
            <a:t> per status (</a:t>
          </a:r>
          <a:r>
            <a:rPr lang="nl-BE" sz="2000" dirty="0" err="1"/>
            <a:t>Weaknesses</a:t>
          </a:r>
          <a:r>
            <a:rPr lang="nl-BE" sz="2000" dirty="0"/>
            <a:t>, </a:t>
          </a:r>
          <a:r>
            <a:rPr lang="nl-BE" sz="2000" dirty="0" err="1"/>
            <a:t>Weakness</a:t>
          </a:r>
          <a:r>
            <a:rPr lang="nl-BE" sz="2000" dirty="0"/>
            <a:t> Under Review, </a:t>
          </a:r>
          <a:r>
            <a:rPr lang="nl-BE" sz="2000" dirty="0" err="1"/>
            <a:t>Assumptions</a:t>
          </a:r>
          <a:r>
            <a:rPr lang="nl-BE" sz="2000" dirty="0"/>
            <a:t> Under Review, </a:t>
          </a:r>
          <a:r>
            <a:rPr lang="nl-BE" sz="2000" dirty="0" err="1"/>
            <a:t>Verified</a:t>
          </a:r>
          <a:r>
            <a:rPr lang="nl-BE" sz="2000" dirty="0"/>
            <a:t> </a:t>
          </a:r>
          <a:r>
            <a:rPr lang="nl-BE" sz="2000" dirty="0" err="1"/>
            <a:t>Assumptions</a:t>
          </a:r>
          <a:r>
            <a:rPr lang="nl-BE" sz="2000" dirty="0"/>
            <a:t>) met </a:t>
          </a:r>
          <a:r>
            <a:rPr lang="nl-BE" sz="2000" b="1" dirty="0" err="1">
              <a:solidFill>
                <a:srgbClr val="003D77"/>
              </a:solidFill>
            </a:rPr>
            <a:t>danger</a:t>
          </a:r>
          <a:r>
            <a:rPr lang="nl-BE" sz="2000" b="1" dirty="0">
              <a:solidFill>
                <a:srgbClr val="003D77"/>
              </a:solidFill>
            </a:rPr>
            <a:t> rating sortering</a:t>
          </a:r>
          <a:r>
            <a:rPr lang="nl-BE" sz="2000" dirty="0">
              <a:solidFill>
                <a:srgbClr val="003D77"/>
              </a:solidFill>
            </a:rPr>
            <a:t> </a:t>
          </a:r>
          <a:r>
            <a:rPr lang="nl-BE" sz="2000" dirty="0"/>
            <a:t>binnen de </a:t>
          </a:r>
          <a:r>
            <a:rPr lang="nl-BE" sz="2000" dirty="0" err="1"/>
            <a:t>weakness</a:t>
          </a:r>
          <a:r>
            <a:rPr lang="nl-BE" sz="2000" dirty="0"/>
            <a:t> categorieën voor snelle navigatie en prioritering. Figuur 6 geeft de ingeklapte status sortering weer.</a:t>
          </a:r>
        </a:p>
      </dgm:t>
    </dgm:pt>
    <dgm:pt modelId="{A8CA2FC6-0875-4A46-A3A3-DCD737AFE571}" type="parTrans" cxnId="{6636F578-2AE0-4ADC-BA04-49563912D73D}">
      <dgm:prSet/>
      <dgm:spPr/>
      <dgm:t>
        <a:bodyPr/>
        <a:lstStyle/>
        <a:p>
          <a:endParaRPr lang="nl-BE"/>
        </a:p>
      </dgm:t>
    </dgm:pt>
    <dgm:pt modelId="{26113AB7-B937-4802-B863-929CA9621482}" type="sibTrans" cxnId="{6636F578-2AE0-4ADC-BA04-49563912D73D}">
      <dgm:prSet/>
      <dgm:spPr/>
      <dgm:t>
        <a:bodyPr/>
        <a:lstStyle/>
        <a:p>
          <a:endParaRPr lang="nl-BE"/>
        </a:p>
      </dgm:t>
    </dgm:pt>
    <dgm:pt modelId="{36300215-40B5-453E-8BD9-1E394DEEBC0F}" type="pres">
      <dgm:prSet presAssocID="{29258A52-64D9-4C4A-9846-6AB56A389CFA}" presName="Name0" presStyleCnt="0">
        <dgm:presLayoutVars>
          <dgm:dir/>
          <dgm:animLvl val="lvl"/>
          <dgm:resizeHandles val="exact"/>
        </dgm:presLayoutVars>
      </dgm:prSet>
      <dgm:spPr/>
    </dgm:pt>
    <dgm:pt modelId="{AF39224B-263F-4212-8BC8-517C685281BB}" type="pres">
      <dgm:prSet presAssocID="{BFAEEB49-0246-40A7-AF68-D3E27687BDFC}" presName="linNode" presStyleCnt="0"/>
      <dgm:spPr/>
    </dgm:pt>
    <dgm:pt modelId="{172F63F1-B913-4F85-83A7-DDB2FD25F632}" type="pres">
      <dgm:prSet presAssocID="{BFAEEB49-0246-40A7-AF68-D3E27687BDFC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9ABDE2D0-FE3B-4722-BA2E-29CB9E9A1599}" type="pres">
      <dgm:prSet presAssocID="{BFAEEB49-0246-40A7-AF68-D3E27687BDFC}" presName="descendantText" presStyleLbl="alignAccFollowNode1" presStyleIdx="0" presStyleCnt="1" custScaleX="258046" custScaleY="112451">
        <dgm:presLayoutVars>
          <dgm:bulletEnabled val="1"/>
        </dgm:presLayoutVars>
      </dgm:prSet>
      <dgm:spPr/>
    </dgm:pt>
  </dgm:ptLst>
  <dgm:cxnLst>
    <dgm:cxn modelId="{29A7272A-EB62-45F4-9B2E-B5A492AF4472}" type="presOf" srcId="{6FF48D26-EFDE-4A87-BB0E-1BFE389BEA1D}" destId="{9ABDE2D0-FE3B-4722-BA2E-29CB9E9A1599}" srcOrd="0" destOrd="1" presId="urn:microsoft.com/office/officeart/2005/8/layout/vList5"/>
    <dgm:cxn modelId="{6DE1D75D-0E33-4A1B-B456-B99390363CE4}" type="presOf" srcId="{29258A52-64D9-4C4A-9846-6AB56A389CFA}" destId="{36300215-40B5-453E-8BD9-1E394DEEBC0F}" srcOrd="0" destOrd="0" presId="urn:microsoft.com/office/officeart/2005/8/layout/vList5"/>
    <dgm:cxn modelId="{6636F578-2AE0-4ADC-BA04-49563912D73D}" srcId="{BFAEEB49-0246-40A7-AF68-D3E27687BDFC}" destId="{6FF48D26-EFDE-4A87-BB0E-1BFE389BEA1D}" srcOrd="1" destOrd="0" parTransId="{A8CA2FC6-0875-4A46-A3A3-DCD737AFE571}" sibTransId="{26113AB7-B937-4802-B863-929CA9621482}"/>
    <dgm:cxn modelId="{39A4747C-D837-42D7-9B48-CA2C2E6AAC63}" srcId="{29258A52-64D9-4C4A-9846-6AB56A389CFA}" destId="{BFAEEB49-0246-40A7-AF68-D3E27687BDFC}" srcOrd="0" destOrd="0" parTransId="{AE61FF5E-B1A0-4136-8ADC-265D60F8C1E4}" sibTransId="{C13D1273-87E5-484B-B154-63C595E5E0EE}"/>
    <dgm:cxn modelId="{7EC9B48C-5BE1-4140-A1F5-22BB2D0A65F5}" type="presOf" srcId="{BFAEEB49-0246-40A7-AF68-D3E27687BDFC}" destId="{172F63F1-B913-4F85-83A7-DDB2FD25F632}" srcOrd="0" destOrd="0" presId="urn:microsoft.com/office/officeart/2005/8/layout/vList5"/>
    <dgm:cxn modelId="{2981F4F3-E073-4232-A451-3920A3A9E357}" srcId="{BFAEEB49-0246-40A7-AF68-D3E27687BDFC}" destId="{7D18BFFE-D18A-43CC-92E8-483B02C72971}" srcOrd="0" destOrd="0" parTransId="{CFB6EAA2-5D96-4480-B1C0-1B9F85D237DD}" sibTransId="{73B29FAA-2A03-45A8-A7F2-3087271D75EE}"/>
    <dgm:cxn modelId="{F7F514F7-BE6F-45E5-9CE3-D1F5254299F9}" type="presOf" srcId="{7D18BFFE-D18A-43CC-92E8-483B02C72971}" destId="{9ABDE2D0-FE3B-4722-BA2E-29CB9E9A1599}" srcOrd="0" destOrd="0" presId="urn:microsoft.com/office/officeart/2005/8/layout/vList5"/>
    <dgm:cxn modelId="{15D2F11B-7827-4DE1-9BD2-C25923629B7A}" type="presParOf" srcId="{36300215-40B5-453E-8BD9-1E394DEEBC0F}" destId="{AF39224B-263F-4212-8BC8-517C685281BB}" srcOrd="0" destOrd="0" presId="urn:microsoft.com/office/officeart/2005/8/layout/vList5"/>
    <dgm:cxn modelId="{D11D6F1A-D360-4A7F-A4BB-36CE8B090999}" type="presParOf" srcId="{AF39224B-263F-4212-8BC8-517C685281BB}" destId="{172F63F1-B913-4F85-83A7-DDB2FD25F632}" srcOrd="0" destOrd="0" presId="urn:microsoft.com/office/officeart/2005/8/layout/vList5"/>
    <dgm:cxn modelId="{0590B0AA-24DF-4CAB-BE47-961468A1F66F}" type="presParOf" srcId="{AF39224B-263F-4212-8BC8-517C685281BB}" destId="{9ABDE2D0-FE3B-4722-BA2E-29CB9E9A159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463F1-3E75-459A-AAE4-30A27D8FE6B9}">
      <dsp:nvSpPr>
        <dsp:cNvPr id="0" name=""/>
        <dsp:cNvSpPr/>
      </dsp:nvSpPr>
      <dsp:spPr>
        <a:xfrm rot="5400000">
          <a:off x="4394934" y="-2424345"/>
          <a:ext cx="2422095" cy="7879269"/>
        </a:xfrm>
        <a:prstGeom prst="round2SameRect">
          <a:avLst/>
        </a:prstGeom>
        <a:solidFill>
          <a:srgbClr val="E73B2B">
            <a:alpha val="30196"/>
          </a:srgbClr>
        </a:solidFill>
        <a:ln w="25400" cap="flat" cmpd="sng" algn="ctr">
          <a:solidFill>
            <a:srgbClr val="E73B2B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nl-BE" sz="2000" b="1" kern="1200" dirty="0">
              <a:solidFill>
                <a:srgbClr val="003D77"/>
              </a:solidFill>
            </a:rPr>
            <a:t>kleurcodering</a:t>
          </a:r>
          <a:r>
            <a:rPr lang="nl-BE" sz="2000" kern="1200" dirty="0"/>
            <a:t> (Fig. 1): (rood = </a:t>
          </a:r>
          <a:r>
            <a:rPr lang="nl-BE" sz="2000" kern="1200" dirty="0" err="1"/>
            <a:t>unfortunately</a:t>
          </a:r>
          <a:r>
            <a:rPr lang="nl-BE" sz="2000" kern="1200" dirty="0"/>
            <a:t>, groen = </a:t>
          </a:r>
          <a:r>
            <a:rPr lang="nl-BE" sz="2000" kern="1200" dirty="0" err="1"/>
            <a:t>fortunately</a:t>
          </a:r>
          <a:r>
            <a:rPr lang="nl-BE" sz="2000" kern="1200" dirty="0"/>
            <a:t>) met automatische afwisseling zorgt voor intuïtieve boomstructuur,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nl-BE" sz="2000" b="1" kern="1200" dirty="0">
              <a:solidFill>
                <a:srgbClr val="003D77"/>
              </a:solidFill>
            </a:rPr>
            <a:t>statusiconen</a:t>
          </a:r>
          <a:r>
            <a:rPr lang="nl-BE" sz="2000" b="1" kern="1200" dirty="0"/>
            <a:t> </a:t>
          </a:r>
          <a:r>
            <a:rPr lang="nl-BE" sz="2000" kern="1200" dirty="0"/>
            <a:t>(Fig. 2): tonen </a:t>
          </a:r>
          <a:r>
            <a:rPr lang="nl-BE" sz="2000" b="1" kern="1200" dirty="0">
              <a:solidFill>
                <a:srgbClr val="003D77"/>
              </a:solidFill>
            </a:rPr>
            <a:t>voortgang</a:t>
          </a:r>
          <a:r>
            <a:rPr lang="nl-BE" sz="2000" b="1" kern="1200" dirty="0"/>
            <a:t> </a:t>
          </a:r>
          <a:r>
            <a:rPr lang="nl-BE" sz="2000" kern="1200" dirty="0"/>
            <a:t>van een </a:t>
          </a:r>
          <a:r>
            <a:rPr lang="nl-BE" sz="2000" b="1" kern="1200" dirty="0">
              <a:solidFill>
                <a:srgbClr val="003D77"/>
              </a:solidFill>
            </a:rPr>
            <a:t>node</a:t>
          </a:r>
          <a:r>
            <a:rPr lang="nl-BE" sz="2000" b="1" kern="1200" dirty="0"/>
            <a:t> </a:t>
          </a:r>
          <a:r>
            <a:rPr lang="nl-BE" sz="2000" kern="1200" dirty="0"/>
            <a:t>aan de hand van </a:t>
          </a:r>
          <a:r>
            <a:rPr lang="nl-BE" sz="2000" b="1" kern="1200" dirty="0" err="1">
              <a:solidFill>
                <a:srgbClr val="003D77"/>
              </a:solidFill>
            </a:rPr>
            <a:t>Weakness</a:t>
          </a:r>
          <a:r>
            <a:rPr lang="nl-BE" sz="2000" kern="1200" dirty="0"/>
            <a:t> (rood schild</a:t>
          </a:r>
          <a:r>
            <a:rPr lang="nl-BE" sz="2000" b="1" kern="1200" dirty="0"/>
            <a:t>), </a:t>
          </a:r>
          <a:r>
            <a:rPr lang="nl-BE" sz="2000" b="1" kern="1200" dirty="0" err="1">
              <a:solidFill>
                <a:srgbClr val="003D77"/>
              </a:solidFill>
            </a:rPr>
            <a:t>Weakness</a:t>
          </a:r>
          <a:r>
            <a:rPr lang="nl-BE" sz="2000" b="1" kern="1200" dirty="0">
              <a:solidFill>
                <a:srgbClr val="003D77"/>
              </a:solidFill>
            </a:rPr>
            <a:t> Under Review </a:t>
          </a:r>
          <a:r>
            <a:rPr lang="nl-BE" sz="2000" kern="1200" dirty="0"/>
            <a:t>(oranje schild), </a:t>
          </a:r>
          <a:r>
            <a:rPr lang="nl-BE" sz="2000" b="1" kern="1200" dirty="0" err="1">
              <a:solidFill>
                <a:srgbClr val="003D77"/>
              </a:solidFill>
            </a:rPr>
            <a:t>Assumption</a:t>
          </a:r>
          <a:r>
            <a:rPr lang="nl-BE" sz="2000" b="1" kern="1200" dirty="0">
              <a:solidFill>
                <a:srgbClr val="003D77"/>
              </a:solidFill>
            </a:rPr>
            <a:t> Under Review </a:t>
          </a:r>
          <a:r>
            <a:rPr lang="nl-BE" sz="2000" kern="1200" dirty="0"/>
            <a:t>(oranje check schild), </a:t>
          </a:r>
          <a:r>
            <a:rPr lang="nl-BE" sz="2000" b="1" kern="1200" dirty="0" err="1">
              <a:solidFill>
                <a:srgbClr val="003D77"/>
              </a:solidFill>
            </a:rPr>
            <a:t>Verified</a:t>
          </a:r>
          <a:r>
            <a:rPr lang="nl-BE" sz="2000" b="1" kern="1200" dirty="0"/>
            <a:t> </a:t>
          </a:r>
          <a:r>
            <a:rPr lang="nl-BE" sz="2000" b="1" kern="1200" dirty="0" err="1">
              <a:solidFill>
                <a:srgbClr val="003D77"/>
              </a:solidFill>
            </a:rPr>
            <a:t>Assumption</a:t>
          </a:r>
          <a:r>
            <a:rPr lang="nl-BE" sz="2000" b="1" kern="1200" dirty="0"/>
            <a:t> </a:t>
          </a:r>
          <a:r>
            <a:rPr lang="nl-BE" sz="2000" kern="1200" dirty="0"/>
            <a:t>(groen check schild) met </a:t>
          </a:r>
          <a:r>
            <a:rPr lang="nl-BE" sz="2000" kern="1200" dirty="0" err="1"/>
            <a:t>hover</a:t>
          </a:r>
          <a:r>
            <a:rPr lang="nl-BE" sz="2000" kern="1200" dirty="0"/>
            <a:t>-tooltips,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nl-BE" sz="2000" b="1" kern="1200" dirty="0" err="1">
              <a:solidFill>
                <a:srgbClr val="003D77"/>
              </a:solidFill>
            </a:rPr>
            <a:t>danger</a:t>
          </a:r>
          <a:r>
            <a:rPr lang="nl-BE" sz="2000" b="1" kern="1200" dirty="0">
              <a:solidFill>
                <a:srgbClr val="003D77"/>
              </a:solidFill>
            </a:rPr>
            <a:t> rating </a:t>
          </a:r>
          <a:r>
            <a:rPr lang="nl-BE" sz="2000" b="0" kern="1200" dirty="0">
              <a:solidFill>
                <a:schemeClr val="tx1"/>
              </a:solidFill>
            </a:rPr>
            <a:t>(Fig. 3)</a:t>
          </a:r>
          <a:r>
            <a:rPr lang="nl-BE" sz="2000" kern="1200" dirty="0"/>
            <a:t>:</a:t>
          </a:r>
          <a:r>
            <a:rPr lang="nl-BE" sz="2000" b="1" kern="1200" dirty="0"/>
            <a:t> </a:t>
          </a:r>
          <a:r>
            <a:rPr lang="nl-BE" sz="2000" b="1" kern="1200" dirty="0" err="1">
              <a:solidFill>
                <a:srgbClr val="003D77"/>
              </a:solidFill>
            </a:rPr>
            <a:t>scoreert</a:t>
          </a:r>
          <a:r>
            <a:rPr lang="nl-BE" sz="2000" kern="1200" dirty="0"/>
            <a:t> </a:t>
          </a:r>
          <a:r>
            <a:rPr lang="nl-BE" sz="2000" kern="1200" dirty="0" err="1"/>
            <a:t>unfortunately-nodes</a:t>
          </a:r>
          <a:r>
            <a:rPr lang="nl-BE" sz="2000" kern="1200" dirty="0"/>
            <a:t> op basis van </a:t>
          </a:r>
          <a:r>
            <a:rPr lang="nl-BE" sz="2000" b="1" kern="1200" dirty="0" err="1">
              <a:solidFill>
                <a:srgbClr val="003D77"/>
              </a:solidFill>
            </a:rPr>
            <a:t>likelihood</a:t>
          </a:r>
          <a:r>
            <a:rPr lang="nl-BE" sz="2000" kern="1200" dirty="0"/>
            <a:t> (1-5) </a:t>
          </a:r>
          <a:r>
            <a:rPr lang="nl-BE" sz="2000" b="1" kern="1200" dirty="0">
              <a:solidFill>
                <a:srgbClr val="003D77"/>
              </a:solidFill>
            </a:rPr>
            <a:t>×</a:t>
          </a:r>
          <a:r>
            <a:rPr lang="nl-BE" sz="2000" kern="1200" dirty="0"/>
            <a:t> </a:t>
          </a:r>
          <a:r>
            <a:rPr lang="nl-BE" sz="2000" b="1" kern="1200" dirty="0">
              <a:solidFill>
                <a:srgbClr val="003D77"/>
              </a:solidFill>
            </a:rPr>
            <a:t>impact</a:t>
          </a:r>
          <a:r>
            <a:rPr lang="nl-BE" sz="2000" kern="1200" dirty="0"/>
            <a:t> (1-5).</a:t>
          </a:r>
        </a:p>
      </dsp:txBody>
      <dsp:txXfrm rot="-5400000">
        <a:off x="1666348" y="422478"/>
        <a:ext cx="7761032" cy="2185621"/>
      </dsp:txXfrm>
    </dsp:sp>
    <dsp:sp modelId="{E58E53C7-FC59-4ED9-B1BE-EFE01D9130F5}">
      <dsp:nvSpPr>
        <dsp:cNvPr id="0" name=""/>
        <dsp:cNvSpPr/>
      </dsp:nvSpPr>
      <dsp:spPr>
        <a:xfrm>
          <a:off x="130" y="223691"/>
          <a:ext cx="1666217" cy="2583195"/>
        </a:xfrm>
        <a:prstGeom prst="roundRect">
          <a:avLst/>
        </a:prstGeom>
        <a:solidFill>
          <a:srgbClr val="003D77"/>
        </a:solidFill>
        <a:ln w="25400" cap="flat" cmpd="sng" algn="ctr">
          <a:solidFill>
            <a:srgbClr val="E73B2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 dirty="0"/>
            <a:t>Node-features</a:t>
          </a:r>
          <a:endParaRPr lang="nl-BE" sz="2800" kern="1200" dirty="0"/>
        </a:p>
      </dsp:txBody>
      <dsp:txXfrm>
        <a:off x="81468" y="305029"/>
        <a:ext cx="1503541" cy="2420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DE2D0-FE3B-4722-BA2E-29CB9E9A1599}">
      <dsp:nvSpPr>
        <dsp:cNvPr id="0" name=""/>
        <dsp:cNvSpPr/>
      </dsp:nvSpPr>
      <dsp:spPr>
        <a:xfrm rot="5400000">
          <a:off x="4596218" y="-2771210"/>
          <a:ext cx="2061476" cy="7836188"/>
        </a:xfrm>
        <a:prstGeom prst="round2SameRect">
          <a:avLst/>
        </a:prstGeom>
        <a:solidFill>
          <a:srgbClr val="E73B2B">
            <a:alpha val="30196"/>
          </a:srgbClr>
        </a:solidFill>
        <a:ln w="25400" cap="flat" cmpd="sng" algn="ctr">
          <a:solidFill>
            <a:srgbClr val="E73B2B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nl-BE" sz="2000" b="1" kern="1200" dirty="0" err="1">
              <a:solidFill>
                <a:srgbClr val="003D77"/>
              </a:solidFill>
            </a:rPr>
            <a:t>branch</a:t>
          </a:r>
          <a:r>
            <a:rPr lang="nl-BE" sz="2000" b="1" kern="1200" dirty="0">
              <a:solidFill>
                <a:srgbClr val="003D77"/>
              </a:solidFill>
            </a:rPr>
            <a:t> summary tab </a:t>
          </a:r>
          <a:r>
            <a:rPr lang="nl-BE" sz="2000" kern="1200" dirty="0"/>
            <a:t>(Fig. 4):</a:t>
          </a:r>
          <a:r>
            <a:rPr lang="nl-BE" sz="2000" b="1" kern="1200" dirty="0"/>
            <a:t> </a:t>
          </a:r>
          <a:r>
            <a:rPr lang="nl-BE" sz="2000" kern="1200" dirty="0"/>
            <a:t>toont het pad van root tot geselecteerde node voor </a:t>
          </a:r>
          <a:r>
            <a:rPr lang="nl-BE" sz="2000" b="1" kern="1200" dirty="0">
              <a:solidFill>
                <a:srgbClr val="003D77"/>
              </a:solidFill>
            </a:rPr>
            <a:t>contextueel overzicht</a:t>
          </a:r>
          <a:r>
            <a:rPr lang="nl-BE" sz="2000" kern="1200" dirty="0"/>
            <a:t>,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nl-BE" sz="2000" b="1" kern="1200" dirty="0">
              <a:solidFill>
                <a:srgbClr val="003D77"/>
              </a:solidFill>
            </a:rPr>
            <a:t>filter tab </a:t>
          </a:r>
          <a:r>
            <a:rPr lang="nl-BE" sz="2000" kern="1200" dirty="0"/>
            <a:t>(Fig. 5):</a:t>
          </a:r>
          <a:r>
            <a:rPr lang="nl-BE" sz="2000" b="1" kern="1200" dirty="0"/>
            <a:t> </a:t>
          </a:r>
          <a:r>
            <a:rPr lang="nl-BE" sz="2000" kern="1200" dirty="0"/>
            <a:t>groepeert </a:t>
          </a:r>
          <a:r>
            <a:rPr lang="nl-BE" sz="2000" kern="1200" dirty="0" err="1"/>
            <a:t>nodes</a:t>
          </a:r>
          <a:r>
            <a:rPr lang="nl-BE" sz="2000" kern="1200" dirty="0"/>
            <a:t> per status (</a:t>
          </a:r>
          <a:r>
            <a:rPr lang="nl-BE" sz="2000" kern="1200" dirty="0" err="1"/>
            <a:t>Weaknesses</a:t>
          </a:r>
          <a:r>
            <a:rPr lang="nl-BE" sz="2000" kern="1200" dirty="0"/>
            <a:t>, </a:t>
          </a:r>
          <a:r>
            <a:rPr lang="nl-BE" sz="2000" kern="1200" dirty="0" err="1"/>
            <a:t>Weakness</a:t>
          </a:r>
          <a:r>
            <a:rPr lang="nl-BE" sz="2000" kern="1200" dirty="0"/>
            <a:t> Under Review, </a:t>
          </a:r>
          <a:r>
            <a:rPr lang="nl-BE" sz="2000" kern="1200" dirty="0" err="1"/>
            <a:t>Assumptions</a:t>
          </a:r>
          <a:r>
            <a:rPr lang="nl-BE" sz="2000" kern="1200" dirty="0"/>
            <a:t> Under Review, </a:t>
          </a:r>
          <a:r>
            <a:rPr lang="nl-BE" sz="2000" kern="1200" dirty="0" err="1"/>
            <a:t>Verified</a:t>
          </a:r>
          <a:r>
            <a:rPr lang="nl-BE" sz="2000" kern="1200" dirty="0"/>
            <a:t> </a:t>
          </a:r>
          <a:r>
            <a:rPr lang="nl-BE" sz="2000" kern="1200" dirty="0" err="1"/>
            <a:t>Assumptions</a:t>
          </a:r>
          <a:r>
            <a:rPr lang="nl-BE" sz="2000" kern="1200" dirty="0"/>
            <a:t>) met </a:t>
          </a:r>
          <a:r>
            <a:rPr lang="nl-BE" sz="2000" b="1" kern="1200" dirty="0" err="1">
              <a:solidFill>
                <a:srgbClr val="003D77"/>
              </a:solidFill>
            </a:rPr>
            <a:t>danger</a:t>
          </a:r>
          <a:r>
            <a:rPr lang="nl-BE" sz="2000" b="1" kern="1200" dirty="0">
              <a:solidFill>
                <a:srgbClr val="003D77"/>
              </a:solidFill>
            </a:rPr>
            <a:t> rating sortering</a:t>
          </a:r>
          <a:r>
            <a:rPr lang="nl-BE" sz="2000" kern="1200" dirty="0">
              <a:solidFill>
                <a:srgbClr val="003D77"/>
              </a:solidFill>
            </a:rPr>
            <a:t> </a:t>
          </a:r>
          <a:r>
            <a:rPr lang="nl-BE" sz="2000" kern="1200" dirty="0"/>
            <a:t>binnen de </a:t>
          </a:r>
          <a:r>
            <a:rPr lang="nl-BE" sz="2000" kern="1200" dirty="0" err="1"/>
            <a:t>weakness</a:t>
          </a:r>
          <a:r>
            <a:rPr lang="nl-BE" sz="2000" kern="1200" dirty="0"/>
            <a:t> categorieën voor snelle navigatie en prioritering. Figuur 6 geeft de ingeklapte status sortering weer.</a:t>
          </a:r>
        </a:p>
      </dsp:txBody>
      <dsp:txXfrm rot="-5400000">
        <a:off x="1708863" y="216778"/>
        <a:ext cx="7735555" cy="1860210"/>
      </dsp:txXfrm>
    </dsp:sp>
    <dsp:sp modelId="{172F63F1-B913-4F85-83A7-DDB2FD25F632}">
      <dsp:nvSpPr>
        <dsp:cNvPr id="0" name=""/>
        <dsp:cNvSpPr/>
      </dsp:nvSpPr>
      <dsp:spPr>
        <a:xfrm>
          <a:off x="696" y="1120"/>
          <a:ext cx="1708166" cy="2291527"/>
        </a:xfrm>
        <a:prstGeom prst="roundRect">
          <a:avLst/>
        </a:prstGeom>
        <a:solidFill>
          <a:srgbClr val="003D77"/>
        </a:solidFill>
        <a:ln w="25400" cap="flat" cmpd="sng" algn="ctr">
          <a:solidFill>
            <a:srgbClr val="E73B2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 dirty="0"/>
            <a:t>Overzicht-features</a:t>
          </a:r>
        </a:p>
      </dsp:txBody>
      <dsp:txXfrm>
        <a:off x="84082" y="84506"/>
        <a:ext cx="1541394" cy="2124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46936-730D-204E-AB52-3BEB64B90A85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9F560-3724-3947-9597-7DBD1F508BE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01481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49249-6D1C-0748-B1D9-2AF3A057365D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EC66C-3FF7-3E4C-B828-5573FE692F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987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1054306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210861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3162916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421722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5271525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632583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7380135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8434440" algn="l" defTabSz="105430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EC66C-3FF7-3E4C-B828-5573FE692FA9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0278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A61812D2-326A-8BA0-9B4B-E58E1C5AA132}"/>
              </a:ext>
            </a:extLst>
          </p:cNvPr>
          <p:cNvSpPr/>
          <p:nvPr userDrawn="1"/>
        </p:nvSpPr>
        <p:spPr>
          <a:xfrm>
            <a:off x="0" y="27224359"/>
            <a:ext cx="21388387" cy="30494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E738BDE7-F122-1FF4-9B36-CC7C0C8D8D57}"/>
              </a:ext>
            </a:extLst>
          </p:cNvPr>
          <p:cNvSpPr/>
          <p:nvPr userDrawn="1"/>
        </p:nvSpPr>
        <p:spPr>
          <a:xfrm>
            <a:off x="266781" y="5738927"/>
            <a:ext cx="20870602" cy="1081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kstvak 8"/>
          <p:cNvSpPr txBox="1"/>
          <p:nvPr userDrawn="1"/>
        </p:nvSpPr>
        <p:spPr>
          <a:xfrm>
            <a:off x="471533" y="387491"/>
            <a:ext cx="20576031" cy="931843"/>
          </a:xfrm>
          <a:prstGeom prst="rect">
            <a:avLst/>
          </a:prstGeom>
          <a:noFill/>
        </p:spPr>
        <p:txBody>
          <a:bodyPr wrap="square" lIns="210861" tIns="105430" rIns="210861" bIns="105430" rtlCol="0">
            <a:spAutoFit/>
          </a:bodyPr>
          <a:lstStyle/>
          <a:p>
            <a:pPr algn="just"/>
            <a:r>
              <a:rPr lang="nl-NL" sz="4700" b="1" i="0" dirty="0">
                <a:latin typeface="Verdana"/>
                <a:cs typeface="Verdana"/>
              </a:rPr>
              <a:t>Masterproef industriële ingenieurswetenschappen</a:t>
            </a:r>
            <a:endParaRPr lang="nl-NL" sz="3700" b="0" i="0" dirty="0">
              <a:latin typeface="Verdana"/>
              <a:cs typeface="Verdana"/>
            </a:endParaRPr>
          </a:p>
        </p:txBody>
      </p:sp>
      <p:pic>
        <p:nvPicPr>
          <p:cNvPr id="16" name="Afbeelding 15" descr="lij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82" y="1410731"/>
            <a:ext cx="20870602" cy="108123"/>
          </a:xfrm>
          <a:prstGeom prst="rect">
            <a:avLst/>
          </a:prstGeom>
        </p:spPr>
      </p:pic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266781" y="4237716"/>
            <a:ext cx="10148808" cy="886831"/>
          </a:xfrm>
          <a:prstGeom prst="rect">
            <a:avLst/>
          </a:prstGeom>
        </p:spPr>
        <p:txBody>
          <a:bodyPr vert="horz"/>
          <a:lstStyle>
            <a:lvl1pPr algn="l">
              <a:defRPr sz="3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sz="3400" b="0" i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Naam Student</a:t>
            </a:r>
            <a:endParaRPr lang="nl-BE" sz="3400" b="0" i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Tekstvak 22"/>
          <p:cNvSpPr txBox="1"/>
          <p:nvPr userDrawn="1"/>
        </p:nvSpPr>
        <p:spPr>
          <a:xfrm>
            <a:off x="266781" y="27372240"/>
            <a:ext cx="6993001" cy="982361"/>
          </a:xfrm>
          <a:prstGeom prst="rect">
            <a:avLst/>
          </a:prstGeom>
        </p:spPr>
        <p:txBody>
          <a:bodyPr vert="horz" wrap="square" lIns="210861" tIns="105430" rIns="210861" bIns="105430" rtlCol="0">
            <a:spAutoFit/>
          </a:bodyPr>
          <a:lstStyle/>
          <a:p>
            <a:r>
              <a:rPr lang="nl-NL" sz="2500" b="0" dirty="0">
                <a:solidFill>
                  <a:schemeClr val="tx1"/>
                </a:solidFill>
                <a:latin typeface="Verdana"/>
                <a:cs typeface="Verdana"/>
              </a:rPr>
              <a:t>Promotoren / Copromotoren / Begeleiders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A334DB0-1D3F-503A-4913-32285420C7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2" r="2658"/>
          <a:stretch/>
        </p:blipFill>
        <p:spPr>
          <a:xfrm>
            <a:off x="1" y="1450"/>
            <a:ext cx="21388387" cy="20363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4DEABB-C1E9-AEF0-93D6-CC23901548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28849034"/>
            <a:ext cx="21388387" cy="243966"/>
          </a:xfrm>
          <a:prstGeom prst="rect">
            <a:avLst/>
          </a:prstGeom>
        </p:spPr>
      </p:pic>
      <p:pic>
        <p:nvPicPr>
          <p:cNvPr id="13" name="Graphic 2">
            <a:extLst>
              <a:ext uri="{FF2B5EF4-FFF2-40B4-BE49-F238E27FC236}">
                <a16:creationId xmlns:a16="http://schemas.microsoft.com/office/drawing/2014/main" id="{63AF0A51-D806-08FB-E322-300DAB08FD3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59547" y="29155449"/>
            <a:ext cx="10288015" cy="836549"/>
          </a:xfrm>
          <a:prstGeom prst="rect">
            <a:avLst/>
          </a:prstGeom>
        </p:spPr>
      </p:pic>
      <p:sp>
        <p:nvSpPr>
          <p:cNvPr id="27" name="Tijdelijke aanduiding voor inhoud 26">
            <a:extLst>
              <a:ext uri="{FF2B5EF4-FFF2-40B4-BE49-F238E27FC236}">
                <a16:creationId xmlns:a16="http://schemas.microsoft.com/office/drawing/2014/main" id="{7067580C-2B84-C29D-83FC-CFAF4CCD62E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972800" y="4237716"/>
            <a:ext cx="10074275" cy="903822"/>
          </a:xfrm>
        </p:spPr>
        <p:txBody>
          <a:bodyPr>
            <a:normAutofit/>
          </a:bodyPr>
          <a:lstStyle>
            <a:lvl1pPr marL="0" indent="0" algn="r">
              <a:buNone/>
              <a:defRPr sz="3400"/>
            </a:lvl1pPr>
          </a:lstStyle>
          <a:p>
            <a:pPr algn="r">
              <a:defRPr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Naam Student</a:t>
            </a:r>
            <a:endParaRPr lang="nl-BE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28F3551C-1F80-BD87-6F3C-F4B1287BE4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6473" y="1785956"/>
            <a:ext cx="20870601" cy="2169995"/>
          </a:xfrm>
        </p:spPr>
        <p:txBody>
          <a:bodyPr>
            <a:normAutofit/>
          </a:bodyPr>
          <a:lstStyle>
            <a:lvl1pPr marL="0" indent="0" algn="ctr">
              <a:buNone/>
              <a:defRPr sz="6000">
                <a:solidFill>
                  <a:srgbClr val="003D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nl-NL" dirty="0" err="1"/>
              <a:t>Title</a:t>
            </a:r>
            <a:endParaRPr lang="nl-BE" dirty="0"/>
          </a:p>
        </p:txBody>
      </p:sp>
      <p:sp>
        <p:nvSpPr>
          <p:cNvPr id="41" name="Tijdelijke aanduiding voor tekst 40">
            <a:extLst>
              <a:ext uri="{FF2B5EF4-FFF2-40B4-BE49-F238E27FC236}">
                <a16:creationId xmlns:a16="http://schemas.microsoft.com/office/drawing/2014/main" id="{BD40BB47-E94A-3C21-B6D0-6A7FF34E53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49621" y="27334506"/>
            <a:ext cx="14097453" cy="1452079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Namen</a:t>
            </a:r>
            <a:endParaRPr lang="nl-BE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FCB674F-9788-04CE-C9C3-32C4BB46337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13" y="29156025"/>
            <a:ext cx="10239375" cy="836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 dirty="0"/>
              <a:t>Hier logo bedrijf of gastinstelling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AFA3335-7A1D-6DA2-1C54-5A3F84D6450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6145691" y="234273"/>
            <a:ext cx="4991692" cy="568205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Plaats hier onder het huidige academiejaar: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6334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67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1069420" y="1212414"/>
            <a:ext cx="19249550" cy="5045868"/>
          </a:xfrm>
          <a:prstGeom prst="rect">
            <a:avLst/>
          </a:prstGeom>
        </p:spPr>
        <p:txBody>
          <a:bodyPr vert="horz" lIns="295205" tIns="147602" rIns="295205" bIns="147602" rtlCol="0" anchor="ctr">
            <a:normAutofit/>
          </a:bodyPr>
          <a:lstStyle/>
          <a:p>
            <a:r>
              <a:rPr lang="nl-BE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069420" y="7064220"/>
            <a:ext cx="19249550" cy="19980241"/>
          </a:xfrm>
          <a:prstGeom prst="rect">
            <a:avLst/>
          </a:prstGeom>
        </p:spPr>
        <p:txBody>
          <a:bodyPr vert="horz" lIns="295205" tIns="147602" rIns="295205" bIns="147602" rtlCol="0">
            <a:normAutofit/>
          </a:bodyPr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069420" y="28060640"/>
            <a:ext cx="4990624" cy="1611875"/>
          </a:xfrm>
          <a:prstGeom prst="rect">
            <a:avLst/>
          </a:prstGeom>
        </p:spPr>
        <p:txBody>
          <a:bodyPr vert="horz" lIns="295205" tIns="147602" rIns="295205" bIns="147602" rtlCol="0" anchor="ctr"/>
          <a:lstStyle>
            <a:lvl1pPr algn="l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B7129-FE34-674B-A2EC-97FC337DE4A7}" type="datetimeFigureOut">
              <a:rPr lang="nl-NL" smtClean="0"/>
              <a:t>8-12-2025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7307700" y="28060640"/>
            <a:ext cx="6772989" cy="1611875"/>
          </a:xfrm>
          <a:prstGeom prst="rect">
            <a:avLst/>
          </a:prstGeom>
        </p:spPr>
        <p:txBody>
          <a:bodyPr vert="horz" lIns="295205" tIns="147602" rIns="295205" bIns="147602" rtlCol="0" anchor="ctr"/>
          <a:lstStyle>
            <a:lvl1pPr algn="ct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5328345" y="28060640"/>
            <a:ext cx="4990624" cy="1611875"/>
          </a:xfrm>
          <a:prstGeom prst="rect">
            <a:avLst/>
          </a:prstGeom>
        </p:spPr>
        <p:txBody>
          <a:bodyPr vert="horz" lIns="295205" tIns="147602" rIns="295205" bIns="147602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0CD98-A182-7042-93A0-69F99EFFE13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174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476027" rtl="0" eaLnBrk="1" latinLnBrk="0" hangingPunct="1">
        <a:spcBef>
          <a:spcPct val="0"/>
        </a:spcBef>
        <a:buNone/>
        <a:defRPr sz="1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7021" indent="-1107021" algn="l" defTabSz="1476027" rtl="0" eaLnBrk="1" latinLnBrk="0" hangingPunct="1">
        <a:spcBef>
          <a:spcPct val="20000"/>
        </a:spcBef>
        <a:buFont typeface="Arial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8544" indent="-922516" algn="l" defTabSz="1476027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2pPr>
      <a:lvl3pPr marL="3690068" indent="-738013" algn="l" defTabSz="1476027" rtl="0" eaLnBrk="1" latinLnBrk="0" hangingPunct="1">
        <a:spcBef>
          <a:spcPct val="20000"/>
        </a:spcBef>
        <a:buFont typeface="Arial"/>
        <a:buChar char="•"/>
        <a:defRPr sz="7800" kern="1200">
          <a:solidFill>
            <a:schemeClr val="tx1"/>
          </a:solidFill>
          <a:latin typeface="+mn-lt"/>
          <a:ea typeface="+mn-ea"/>
          <a:cs typeface="+mn-cs"/>
        </a:defRPr>
      </a:lvl3pPr>
      <a:lvl4pPr marL="5166094" indent="-738013" algn="l" defTabSz="1476027" rtl="0" eaLnBrk="1" latinLnBrk="0" hangingPunct="1">
        <a:spcBef>
          <a:spcPct val="20000"/>
        </a:spcBef>
        <a:buFont typeface="Arial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42122" indent="-738013" algn="l" defTabSz="1476027" rtl="0" eaLnBrk="1" latinLnBrk="0" hangingPunct="1">
        <a:spcBef>
          <a:spcPct val="20000"/>
        </a:spcBef>
        <a:buFont typeface="Arial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8149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4175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70203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6230" indent="-738013" algn="l" defTabSz="1476027" rtl="0" eaLnBrk="1" latinLnBrk="0" hangingPunct="1">
        <a:spcBef>
          <a:spcPct val="20000"/>
        </a:spcBef>
        <a:buFont typeface="Arial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6027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2054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8081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4109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80135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6162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32190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8216" algn="l" defTabSz="1476027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5" userDrawn="1">
          <p15:clr>
            <a:srgbClr val="F26B43"/>
          </p15:clr>
        </p15:guide>
        <p15:guide id="2" pos="67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diagramDrawing" Target="../diagrams/drawing1.xml"/><Relationship Id="rId18" Type="http://schemas.microsoft.com/office/2007/relationships/diagramDrawing" Target="../diagrams/drawing2.xm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diagramColors" Target="../diagrams/colors1.xml"/><Relationship Id="rId1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10.png"/><Relationship Id="rId15" Type="http://schemas.openxmlformats.org/officeDocument/2006/relationships/diagramLayout" Target="../diagrams/layout2.xml"/><Relationship Id="rId10" Type="http://schemas.openxmlformats.org/officeDocument/2006/relationships/diagramLayout" Target="../diagrams/layout1.xml"/><Relationship Id="rId19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diagramData" Target="../diagrams/data1.xml"/><Relationship Id="rId1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Rechte verbindingslijn 50">
            <a:extLst>
              <a:ext uri="{FF2B5EF4-FFF2-40B4-BE49-F238E27FC236}">
                <a16:creationId xmlns:a16="http://schemas.microsoft.com/office/drawing/2014/main" id="{6E3A3DF1-8FD0-8229-8150-E2CD3D92BDD8}"/>
              </a:ext>
            </a:extLst>
          </p:cNvPr>
          <p:cNvCxnSpPr>
            <a:cxnSpLocks/>
          </p:cNvCxnSpPr>
          <p:nvPr/>
        </p:nvCxnSpPr>
        <p:spPr>
          <a:xfrm>
            <a:off x="10397893" y="20223454"/>
            <a:ext cx="0" cy="480304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Rechte verbindingslijn 76">
            <a:extLst>
              <a:ext uri="{FF2B5EF4-FFF2-40B4-BE49-F238E27FC236}">
                <a16:creationId xmlns:a16="http://schemas.microsoft.com/office/drawing/2014/main" id="{3DF17D06-4F2A-9D7B-4619-C096EFD3C8DF}"/>
              </a:ext>
            </a:extLst>
          </p:cNvPr>
          <p:cNvCxnSpPr>
            <a:cxnSpLocks/>
          </p:cNvCxnSpPr>
          <p:nvPr/>
        </p:nvCxnSpPr>
        <p:spPr>
          <a:xfrm>
            <a:off x="10415589" y="24960365"/>
            <a:ext cx="0" cy="341830"/>
          </a:xfrm>
          <a:prstGeom prst="line">
            <a:avLst/>
          </a:prstGeom>
          <a:ln w="57150">
            <a:solidFill>
              <a:srgbClr val="003D7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Rechthoek: afgeronde hoeken 72">
            <a:extLst>
              <a:ext uri="{FF2B5EF4-FFF2-40B4-BE49-F238E27FC236}">
                <a16:creationId xmlns:a16="http://schemas.microsoft.com/office/drawing/2014/main" id="{7C533638-2982-0C99-1043-3C2BBE5BBCAB}"/>
              </a:ext>
            </a:extLst>
          </p:cNvPr>
          <p:cNvSpPr/>
          <p:nvPr/>
        </p:nvSpPr>
        <p:spPr>
          <a:xfrm>
            <a:off x="471822" y="21122980"/>
            <a:ext cx="20314040" cy="39537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003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 lang="nl-BE" sz="2000" dirty="0">
              <a:solidFill>
                <a:schemeClr val="tx1"/>
              </a:solidFill>
            </a:endParaRPr>
          </a:p>
        </p:txBody>
      </p:sp>
      <p:sp>
        <p:nvSpPr>
          <p:cNvPr id="22" name="Rechthoek: afgeronde hoeken 21">
            <a:extLst>
              <a:ext uri="{FF2B5EF4-FFF2-40B4-BE49-F238E27FC236}">
                <a16:creationId xmlns:a16="http://schemas.microsoft.com/office/drawing/2014/main" id="{A62DD3F8-8707-81E9-4F94-C669F67610DB}"/>
              </a:ext>
            </a:extLst>
          </p:cNvPr>
          <p:cNvSpPr/>
          <p:nvPr/>
        </p:nvSpPr>
        <p:spPr>
          <a:xfrm>
            <a:off x="538869" y="10475073"/>
            <a:ext cx="20310649" cy="9929919"/>
          </a:xfrm>
          <a:prstGeom prst="roundRect">
            <a:avLst>
              <a:gd name="adj" fmla="val 7978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003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nl-BE" sz="2400" dirty="0">
              <a:solidFill>
                <a:schemeClr val="tx1"/>
              </a:solidFill>
            </a:endParaRPr>
          </a:p>
        </p:txBody>
      </p:sp>
      <p:pic>
        <p:nvPicPr>
          <p:cNvPr id="46" name="Afbeelding 45">
            <a:extLst>
              <a:ext uri="{FF2B5EF4-FFF2-40B4-BE49-F238E27FC236}">
                <a16:creationId xmlns:a16="http://schemas.microsoft.com/office/drawing/2014/main" id="{371FA905-E85F-5153-53D7-3245A2A54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425"/>
          <a:stretch>
            <a:fillRect/>
          </a:stretch>
        </p:blipFill>
        <p:spPr>
          <a:xfrm>
            <a:off x="10641979" y="15123869"/>
            <a:ext cx="7758594" cy="4954062"/>
          </a:xfrm>
          <a:prstGeom prst="rect">
            <a:avLst/>
          </a:prstGeom>
        </p:spPr>
      </p:pic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F390E5F4-1304-DC57-0AE1-99D9A945B337}"/>
              </a:ext>
            </a:extLst>
          </p:cNvPr>
          <p:cNvCxnSpPr>
            <a:cxnSpLocks/>
          </p:cNvCxnSpPr>
          <p:nvPr/>
        </p:nvCxnSpPr>
        <p:spPr>
          <a:xfrm>
            <a:off x="10415588" y="8991600"/>
            <a:ext cx="0" cy="15367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F45F2800-95FC-AA38-5E83-80F75AF2B1E1}"/>
              </a:ext>
            </a:extLst>
          </p:cNvPr>
          <p:cNvSpPr/>
          <p:nvPr/>
        </p:nvSpPr>
        <p:spPr>
          <a:xfrm>
            <a:off x="454753" y="6581625"/>
            <a:ext cx="20314040" cy="32842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003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</a:pPr>
            <a:r>
              <a:rPr lang="nl-BE" sz="2000" b="1" dirty="0" err="1">
                <a:solidFill>
                  <a:srgbClr val="E73B2B"/>
                </a:solidFill>
              </a:rPr>
              <a:t>Threat</a:t>
            </a:r>
            <a:r>
              <a:rPr lang="nl-BE" sz="2000" b="1" dirty="0">
                <a:solidFill>
                  <a:srgbClr val="E73B2B"/>
                </a:solidFill>
              </a:rPr>
              <a:t> </a:t>
            </a:r>
            <a:r>
              <a:rPr lang="nl-BE" sz="2000" b="1" dirty="0" err="1">
                <a:solidFill>
                  <a:srgbClr val="E73B2B"/>
                </a:solidFill>
              </a:rPr>
              <a:t>modeling</a:t>
            </a:r>
            <a:r>
              <a:rPr lang="nl-BE" sz="2000" b="1" dirty="0">
                <a:solidFill>
                  <a:srgbClr val="E73B2B"/>
                </a:solidFill>
              </a:rPr>
              <a:t> </a:t>
            </a:r>
            <a:r>
              <a:rPr lang="nl-BE" sz="2000" dirty="0">
                <a:solidFill>
                  <a:schemeClr val="tx1"/>
                </a:solidFill>
              </a:rPr>
              <a:t>is essentieel maar complex voor ontwikkelaars zonder securitykennis, waardoor </a:t>
            </a:r>
            <a:r>
              <a:rPr lang="nl-BE" sz="2000" b="1" dirty="0">
                <a:solidFill>
                  <a:srgbClr val="E73B2B"/>
                </a:solidFill>
              </a:rPr>
              <a:t>risicoanalyses</a:t>
            </a:r>
            <a:r>
              <a:rPr lang="nl-BE" sz="2000" dirty="0">
                <a:solidFill>
                  <a:schemeClr val="tx1"/>
                </a:solidFill>
              </a:rPr>
              <a:t> vaak onvolledig blijven [1]. Dit onderzoek ontwikkelt daarom een </a:t>
            </a:r>
            <a:r>
              <a:rPr lang="nl-BE" sz="2000" b="1" dirty="0">
                <a:solidFill>
                  <a:srgbClr val="E73B2B"/>
                </a:solidFill>
              </a:rPr>
              <a:t>gebruiksvriendelijke </a:t>
            </a:r>
            <a:r>
              <a:rPr lang="nl-BE" sz="2000" b="1" dirty="0" err="1">
                <a:solidFill>
                  <a:srgbClr val="E73B2B"/>
                </a:solidFill>
              </a:rPr>
              <a:t>webtool</a:t>
            </a:r>
            <a:r>
              <a:rPr lang="nl-BE" sz="2000" b="1" dirty="0">
                <a:solidFill>
                  <a:srgbClr val="E73B2B"/>
                </a:solidFill>
              </a:rPr>
              <a:t> </a:t>
            </a:r>
            <a:r>
              <a:rPr lang="nl-BE" sz="2000" dirty="0">
                <a:solidFill>
                  <a:schemeClr val="tx1"/>
                </a:solidFill>
              </a:rPr>
              <a:t>gebaseerd op de </a:t>
            </a:r>
            <a:r>
              <a:rPr lang="nl-BE" sz="2000" b="1" dirty="0" err="1">
                <a:solidFill>
                  <a:srgbClr val="E73B2B"/>
                </a:solidFill>
              </a:rPr>
              <a:t>Fortunately</a:t>
            </a:r>
            <a:r>
              <a:rPr lang="nl-BE" sz="2000" b="1" dirty="0">
                <a:solidFill>
                  <a:srgbClr val="E73B2B"/>
                </a:solidFill>
              </a:rPr>
              <a:t>–</a:t>
            </a:r>
            <a:r>
              <a:rPr lang="nl-BE" sz="2000" b="1" dirty="0" err="1">
                <a:solidFill>
                  <a:srgbClr val="E73B2B"/>
                </a:solidFill>
              </a:rPr>
              <a:t>Unfortunately</a:t>
            </a:r>
            <a:r>
              <a:rPr lang="nl-BE" sz="2000" b="1" dirty="0">
                <a:solidFill>
                  <a:srgbClr val="E73B2B"/>
                </a:solidFill>
              </a:rPr>
              <a:t>-methode</a:t>
            </a:r>
            <a:r>
              <a:rPr lang="nl-BE" sz="2000" dirty="0">
                <a:solidFill>
                  <a:schemeClr val="tx1"/>
                </a:solidFill>
              </a:rPr>
              <a:t>: een intuïtieve boomstructuur waarin dreigingen ("</a:t>
            </a:r>
            <a:r>
              <a:rPr lang="nl-BE" sz="2000" dirty="0" err="1">
                <a:solidFill>
                  <a:schemeClr val="tx1"/>
                </a:solidFill>
              </a:rPr>
              <a:t>unfortunately</a:t>
            </a:r>
            <a:r>
              <a:rPr lang="nl-BE" sz="2000" dirty="0">
                <a:solidFill>
                  <a:schemeClr val="tx1"/>
                </a:solidFill>
              </a:rPr>
              <a:t>", rood) afwisselen met tegenmaatregelen ("</a:t>
            </a:r>
            <a:r>
              <a:rPr lang="nl-BE" sz="2000" dirty="0" err="1">
                <a:solidFill>
                  <a:schemeClr val="tx1"/>
                </a:solidFill>
              </a:rPr>
              <a:t>fortunately</a:t>
            </a:r>
            <a:r>
              <a:rPr lang="nl-BE" sz="2000" dirty="0">
                <a:solidFill>
                  <a:schemeClr val="tx1"/>
                </a:solidFill>
              </a:rPr>
              <a:t>", groen). Het doel van dit onderzoek is een </a:t>
            </a:r>
            <a:r>
              <a:rPr lang="nl-BE" sz="2000" dirty="0" err="1">
                <a:solidFill>
                  <a:schemeClr val="tx1"/>
                </a:solidFill>
              </a:rPr>
              <a:t>proof</a:t>
            </a:r>
            <a:r>
              <a:rPr lang="nl-BE" sz="2000" dirty="0">
                <a:solidFill>
                  <a:schemeClr val="tx1"/>
                </a:solidFill>
              </a:rPr>
              <a:t>-of-concept tool ontwerpen, implementeren en evalueren die </a:t>
            </a:r>
            <a:r>
              <a:rPr lang="nl-BE" sz="2000" dirty="0" err="1">
                <a:solidFill>
                  <a:schemeClr val="tx1"/>
                </a:solidFill>
              </a:rPr>
              <a:t>threat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modeling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b="1" dirty="0">
                <a:solidFill>
                  <a:srgbClr val="E73B2B"/>
                </a:solidFill>
              </a:rPr>
              <a:t>toegankelijker</a:t>
            </a:r>
            <a:r>
              <a:rPr lang="nl-BE" sz="2000" dirty="0">
                <a:solidFill>
                  <a:schemeClr val="tx1"/>
                </a:solidFill>
              </a:rPr>
              <a:t>,</a:t>
            </a:r>
            <a:r>
              <a:rPr lang="nl-BE" sz="2000" dirty="0">
                <a:solidFill>
                  <a:srgbClr val="E73B2B"/>
                </a:solidFill>
              </a:rPr>
              <a:t> </a:t>
            </a:r>
            <a:r>
              <a:rPr lang="nl-BE" sz="2000" b="1" dirty="0">
                <a:solidFill>
                  <a:srgbClr val="E73B2B"/>
                </a:solidFill>
              </a:rPr>
              <a:t>overzichtelijker</a:t>
            </a:r>
            <a:r>
              <a:rPr lang="nl-BE" sz="2000" dirty="0">
                <a:solidFill>
                  <a:schemeClr val="tx1"/>
                </a:solidFill>
              </a:rPr>
              <a:t> en </a:t>
            </a:r>
            <a:r>
              <a:rPr lang="nl-BE" sz="2000" b="1" dirty="0">
                <a:solidFill>
                  <a:srgbClr val="E73B2B"/>
                </a:solidFill>
              </a:rPr>
              <a:t>effectiever</a:t>
            </a:r>
            <a:r>
              <a:rPr lang="nl-BE" sz="2000" dirty="0">
                <a:solidFill>
                  <a:schemeClr val="tx1"/>
                </a:solidFill>
              </a:rPr>
              <a:t> maakt voor niet-experts, met bijdragen aan zowel onderwijs als praktijk.</a:t>
            </a:r>
          </a:p>
          <a:p>
            <a:pPr algn="ctr">
              <a:spcAft>
                <a:spcPts val="600"/>
              </a:spcAft>
            </a:pPr>
            <a:r>
              <a:rPr lang="nl-BE" sz="2000" dirty="0">
                <a:solidFill>
                  <a:schemeClr val="tx1"/>
                </a:solidFill>
              </a:rPr>
              <a:t>Het onderzoek richt zich op vier kernvragen:</a:t>
            </a:r>
          </a:p>
          <a:p>
            <a:pPr algn="ctr">
              <a:spcAft>
                <a:spcPts val="600"/>
              </a:spcAft>
            </a:pPr>
            <a:endParaRPr lang="nl-BE" sz="1100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endParaRPr lang="nl-BE" sz="2000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endParaRPr lang="nl-BE" sz="2000"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endParaRPr lang="nl-BE" sz="2000" dirty="0">
              <a:solidFill>
                <a:schemeClr val="tx1"/>
              </a:solidFill>
            </a:endParaRP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0603669E-1971-D03F-9E72-07FDFBA9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Mika Gielkens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D82E5E48-48C4-023E-1775-041BD488E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/>
              <a:t>Ontwikkeling van een gebruiksvriendelijke security modellering applicatie gebaseerd op </a:t>
            </a:r>
            <a:r>
              <a:rPr lang="nl-BE" dirty="0" err="1"/>
              <a:t>fortunately</a:t>
            </a:r>
            <a:r>
              <a:rPr lang="nl-BE" dirty="0"/>
              <a:t>/</a:t>
            </a:r>
            <a:r>
              <a:rPr lang="nl-BE" dirty="0" err="1"/>
              <a:t>unfortunately</a:t>
            </a:r>
            <a:r>
              <a:rPr lang="nl-BE" dirty="0"/>
              <a:t> methode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2B2FA4C6-F781-784E-2339-ECC6505A2D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9622" y="27334506"/>
            <a:ext cx="4531178" cy="1452079"/>
          </a:xfrm>
        </p:spPr>
        <p:txBody>
          <a:bodyPr>
            <a:normAutofit/>
          </a:bodyPr>
          <a:lstStyle/>
          <a:p>
            <a:r>
              <a:rPr lang="nl-BE" dirty="0"/>
              <a:t>Prof. dr. ir. Koen </a:t>
            </a:r>
            <a:r>
              <a:rPr lang="nl-BE" dirty="0" err="1"/>
              <a:t>Yskout</a:t>
            </a:r>
            <a:r>
              <a:rPr lang="nl-BE" dirty="0"/>
              <a:t>, </a:t>
            </a:r>
          </a:p>
          <a:p>
            <a:r>
              <a:rPr lang="nl-BE" dirty="0"/>
              <a:t>dr. Eva Geurts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E00A283-03C6-5159-E38E-DEDDC807868E}"/>
              </a:ext>
            </a:extLst>
          </p:cNvPr>
          <p:cNvSpPr txBox="1"/>
          <p:nvPr/>
        </p:nvSpPr>
        <p:spPr>
          <a:xfrm>
            <a:off x="266781" y="5064856"/>
            <a:ext cx="10362061" cy="684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nl-NL" sz="2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master IW Informatica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15C6CC2-39A5-B293-8560-2BBABF553AD4}"/>
              </a:ext>
            </a:extLst>
          </p:cNvPr>
          <p:cNvSpPr txBox="1"/>
          <p:nvPr/>
        </p:nvSpPr>
        <p:spPr>
          <a:xfrm>
            <a:off x="14194991" y="585172"/>
            <a:ext cx="6852083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r"/>
            <a:r>
              <a:rPr lang="nl-BE" sz="36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2025-2026</a:t>
            </a:r>
          </a:p>
        </p:txBody>
      </p:sp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8B5B0033-FDBD-9BF6-BF58-6B0DDF43067A}"/>
              </a:ext>
            </a:extLst>
          </p:cNvPr>
          <p:cNvSpPr/>
          <p:nvPr/>
        </p:nvSpPr>
        <p:spPr>
          <a:xfrm>
            <a:off x="8644081" y="5896040"/>
            <a:ext cx="3543014" cy="775541"/>
          </a:xfrm>
          <a:prstGeom prst="roundRect">
            <a:avLst/>
          </a:prstGeom>
          <a:solidFill>
            <a:srgbClr val="E73B2B"/>
          </a:solidFill>
          <a:ln w="12700">
            <a:solidFill>
              <a:srgbClr val="E73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4400" dirty="0"/>
              <a:t>Introductie</a:t>
            </a:r>
            <a:endParaRPr lang="nl-BE" dirty="0"/>
          </a:p>
        </p:txBody>
      </p:sp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3BDA5513-5660-C988-4B0A-172C282791CE}"/>
              </a:ext>
            </a:extLst>
          </p:cNvPr>
          <p:cNvSpPr/>
          <p:nvPr/>
        </p:nvSpPr>
        <p:spPr>
          <a:xfrm>
            <a:off x="8644082" y="9978366"/>
            <a:ext cx="3543014" cy="775541"/>
          </a:xfrm>
          <a:prstGeom prst="roundRect">
            <a:avLst/>
          </a:prstGeom>
          <a:solidFill>
            <a:srgbClr val="E73B2B"/>
          </a:solidFill>
          <a:ln w="12700">
            <a:solidFill>
              <a:srgbClr val="E73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4400" dirty="0"/>
              <a:t>Methode</a:t>
            </a:r>
            <a:endParaRPr lang="nl-BE" dirty="0"/>
          </a:p>
        </p:txBody>
      </p:sp>
      <p:pic>
        <p:nvPicPr>
          <p:cNvPr id="44" name="Afbeelding 43">
            <a:extLst>
              <a:ext uri="{FF2B5EF4-FFF2-40B4-BE49-F238E27FC236}">
                <a16:creationId xmlns:a16="http://schemas.microsoft.com/office/drawing/2014/main" id="{DE4E4194-656B-B1B9-334B-A4B8CF84E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190" y="17544949"/>
            <a:ext cx="946984" cy="2241192"/>
          </a:xfrm>
          <a:prstGeom prst="rect">
            <a:avLst/>
          </a:prstGeom>
        </p:spPr>
      </p:pic>
      <p:sp>
        <p:nvSpPr>
          <p:cNvPr id="53" name="Rechthoek: afgeronde hoeken 52">
            <a:extLst>
              <a:ext uri="{FF2B5EF4-FFF2-40B4-BE49-F238E27FC236}">
                <a16:creationId xmlns:a16="http://schemas.microsoft.com/office/drawing/2014/main" id="{D0C9EDBF-8705-7466-4309-005F12539940}"/>
              </a:ext>
            </a:extLst>
          </p:cNvPr>
          <p:cNvSpPr/>
          <p:nvPr/>
        </p:nvSpPr>
        <p:spPr>
          <a:xfrm>
            <a:off x="8650390" y="20530193"/>
            <a:ext cx="3543014" cy="658523"/>
          </a:xfrm>
          <a:prstGeom prst="roundRect">
            <a:avLst/>
          </a:prstGeom>
          <a:solidFill>
            <a:srgbClr val="E73B2B"/>
          </a:solidFill>
          <a:ln w="12700">
            <a:solidFill>
              <a:srgbClr val="E73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4400" dirty="0"/>
              <a:t>Resultaten</a:t>
            </a:r>
            <a:endParaRPr lang="nl-BE" dirty="0"/>
          </a:p>
        </p:txBody>
      </p:sp>
      <p:sp>
        <p:nvSpPr>
          <p:cNvPr id="54" name="Tekstvak 53">
            <a:extLst>
              <a:ext uri="{FF2B5EF4-FFF2-40B4-BE49-F238E27FC236}">
                <a16:creationId xmlns:a16="http://schemas.microsoft.com/office/drawing/2014/main" id="{3E47591C-C383-4FB1-6138-F3AD3FFB3411}"/>
              </a:ext>
            </a:extLst>
          </p:cNvPr>
          <p:cNvSpPr txBox="1"/>
          <p:nvPr/>
        </p:nvSpPr>
        <p:spPr>
          <a:xfrm>
            <a:off x="12050238" y="14070342"/>
            <a:ext cx="6219871" cy="33855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nl-BE" sz="1600" dirty="0"/>
              <a:t>Figuur 1: een </a:t>
            </a:r>
            <a:r>
              <a:rPr lang="nl-BE" sz="1600" dirty="0" err="1"/>
              <a:t>fortunately</a:t>
            </a:r>
            <a:r>
              <a:rPr lang="nl-BE" sz="1600" dirty="0"/>
              <a:t>-node (groen) en een </a:t>
            </a:r>
            <a:r>
              <a:rPr lang="nl-BE" sz="1600" dirty="0" err="1"/>
              <a:t>unfortunately</a:t>
            </a:r>
            <a:r>
              <a:rPr lang="nl-BE" sz="1600" dirty="0"/>
              <a:t>-node (rood)</a:t>
            </a:r>
            <a:endParaRPr lang="nl-BE" sz="1600" dirty="0">
              <a:solidFill>
                <a:schemeClr val="tx1"/>
              </a:solidFill>
            </a:endParaRP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7CA0184A-9FD3-9EFF-15E7-2B96E5221DCF}"/>
              </a:ext>
            </a:extLst>
          </p:cNvPr>
          <p:cNvSpPr txBox="1"/>
          <p:nvPr/>
        </p:nvSpPr>
        <p:spPr>
          <a:xfrm>
            <a:off x="18072332" y="13930280"/>
            <a:ext cx="2994936" cy="5847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nl-BE" sz="1600" dirty="0"/>
              <a:t>Figuur 3: Uitgeklapte </a:t>
            </a:r>
            <a:r>
              <a:rPr lang="nl-BE" sz="1600" dirty="0" err="1"/>
              <a:t>Danger</a:t>
            </a:r>
            <a:r>
              <a:rPr lang="nl-BE" sz="1600" dirty="0"/>
              <a:t> rating knop</a:t>
            </a:r>
            <a:endParaRPr lang="nl-BE" sz="1600" dirty="0">
              <a:solidFill>
                <a:schemeClr val="tx1"/>
              </a:solidFill>
            </a:endParaRPr>
          </a:p>
        </p:txBody>
      </p:sp>
      <p:sp>
        <p:nvSpPr>
          <p:cNvPr id="56" name="Tekstvak 55">
            <a:extLst>
              <a:ext uri="{FF2B5EF4-FFF2-40B4-BE49-F238E27FC236}">
                <a16:creationId xmlns:a16="http://schemas.microsoft.com/office/drawing/2014/main" id="{2E8CD9B4-D06B-F38B-0831-584C4856E31C}"/>
              </a:ext>
            </a:extLst>
          </p:cNvPr>
          <p:cNvSpPr txBox="1"/>
          <p:nvPr/>
        </p:nvSpPr>
        <p:spPr>
          <a:xfrm>
            <a:off x="9997575" y="14048105"/>
            <a:ext cx="2281767" cy="5847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nl-BE" sz="1600" dirty="0"/>
              <a:t>Figuur 2: Uitgeklapte status knop</a:t>
            </a:r>
            <a:endParaRPr lang="nl-BE" sz="1600" dirty="0">
              <a:solidFill>
                <a:schemeClr val="tx1"/>
              </a:solidFill>
            </a:endParaRPr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B3FA0EE9-1F0E-0A62-0F7D-F4E120AA9033}"/>
              </a:ext>
            </a:extLst>
          </p:cNvPr>
          <p:cNvSpPr txBox="1"/>
          <p:nvPr/>
        </p:nvSpPr>
        <p:spPr>
          <a:xfrm>
            <a:off x="7320047" y="19706414"/>
            <a:ext cx="2994936" cy="5847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nl-BE" sz="1600" dirty="0"/>
              <a:t>Figuur 6: Ingeklapte status filter met hoeveelheid </a:t>
            </a:r>
            <a:r>
              <a:rPr lang="nl-BE" sz="1600" dirty="0" err="1"/>
              <a:t>nodes</a:t>
            </a:r>
            <a:r>
              <a:rPr lang="nl-BE" sz="1600" dirty="0"/>
              <a:t> per status</a:t>
            </a:r>
            <a:endParaRPr lang="nl-BE" sz="1600" dirty="0">
              <a:solidFill>
                <a:schemeClr val="tx1"/>
              </a:solidFill>
            </a:endParaRP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282A892E-F979-9E07-9A30-585BEEC3409A}"/>
              </a:ext>
            </a:extLst>
          </p:cNvPr>
          <p:cNvSpPr txBox="1"/>
          <p:nvPr/>
        </p:nvSpPr>
        <p:spPr>
          <a:xfrm>
            <a:off x="10672021" y="20052531"/>
            <a:ext cx="7617663" cy="33855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nl-BE" sz="1600" dirty="0"/>
              <a:t>Figuur 5: Uitgeklapte status filter met rangschikking op basis van </a:t>
            </a:r>
            <a:r>
              <a:rPr lang="nl-BE" sz="1600" dirty="0" err="1"/>
              <a:t>danger</a:t>
            </a:r>
            <a:r>
              <a:rPr lang="nl-BE" sz="1600" dirty="0"/>
              <a:t> rating</a:t>
            </a:r>
            <a:endParaRPr lang="nl-BE" sz="1600" dirty="0">
              <a:solidFill>
                <a:schemeClr val="tx1"/>
              </a:solidFill>
            </a:endParaRPr>
          </a:p>
        </p:txBody>
      </p:sp>
      <p:pic>
        <p:nvPicPr>
          <p:cNvPr id="63" name="Afbeelding 62">
            <a:extLst>
              <a:ext uri="{FF2B5EF4-FFF2-40B4-BE49-F238E27FC236}">
                <a16:creationId xmlns:a16="http://schemas.microsoft.com/office/drawing/2014/main" id="{195778DF-F702-DE17-91FC-FD18CE267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7164" y="12165988"/>
            <a:ext cx="1022591" cy="1819261"/>
          </a:xfrm>
          <a:prstGeom prst="rect">
            <a:avLst/>
          </a:prstGeom>
        </p:spPr>
      </p:pic>
      <p:pic>
        <p:nvPicPr>
          <p:cNvPr id="65" name="Afbeelding 64">
            <a:extLst>
              <a:ext uri="{FF2B5EF4-FFF2-40B4-BE49-F238E27FC236}">
                <a16:creationId xmlns:a16="http://schemas.microsoft.com/office/drawing/2014/main" id="{A121A34B-1AE4-D01C-79CF-947D239A2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16472" y="12246787"/>
            <a:ext cx="2031303" cy="1733232"/>
          </a:xfrm>
          <a:prstGeom prst="rect">
            <a:avLst/>
          </a:prstGeom>
        </p:spPr>
      </p:pic>
      <p:pic>
        <p:nvPicPr>
          <p:cNvPr id="67" name="Afbeelding 66">
            <a:extLst>
              <a:ext uri="{FF2B5EF4-FFF2-40B4-BE49-F238E27FC236}">
                <a16:creationId xmlns:a16="http://schemas.microsoft.com/office/drawing/2014/main" id="{3510F8CE-BCA8-27DD-610B-3B7EB5A93D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5769" y="12055698"/>
            <a:ext cx="5315313" cy="2071409"/>
          </a:xfrm>
          <a:prstGeom prst="rect">
            <a:avLst/>
          </a:prstGeom>
        </p:spPr>
      </p:pic>
      <p:sp>
        <p:nvSpPr>
          <p:cNvPr id="69" name="Tekstvak 68">
            <a:extLst>
              <a:ext uri="{FF2B5EF4-FFF2-40B4-BE49-F238E27FC236}">
                <a16:creationId xmlns:a16="http://schemas.microsoft.com/office/drawing/2014/main" id="{E5903AA1-6D4D-815A-791B-C093975D63DC}"/>
              </a:ext>
            </a:extLst>
          </p:cNvPr>
          <p:cNvSpPr txBox="1"/>
          <p:nvPr/>
        </p:nvSpPr>
        <p:spPr>
          <a:xfrm>
            <a:off x="649290" y="10716516"/>
            <a:ext cx="9507647" cy="132343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nl-BE" sz="2000" dirty="0"/>
              <a:t>Op basis van </a:t>
            </a:r>
            <a:r>
              <a:rPr lang="nl-BE" sz="2000" b="1" dirty="0">
                <a:solidFill>
                  <a:srgbClr val="E73B2B"/>
                </a:solidFill>
              </a:rPr>
              <a:t>literatuurstudie</a:t>
            </a:r>
            <a:r>
              <a:rPr lang="nl-BE" sz="2000" dirty="0"/>
              <a:t> en </a:t>
            </a:r>
            <a:r>
              <a:rPr lang="nl-BE" sz="2000" b="1" dirty="0">
                <a:solidFill>
                  <a:srgbClr val="E73B2B"/>
                </a:solidFill>
              </a:rPr>
              <a:t>eisenanalyse</a:t>
            </a:r>
            <a:r>
              <a:rPr lang="nl-BE" sz="2000" dirty="0"/>
              <a:t> werd een </a:t>
            </a:r>
            <a:r>
              <a:rPr lang="nl-BE" sz="2000" b="1" dirty="0" err="1">
                <a:solidFill>
                  <a:srgbClr val="E73B2B"/>
                </a:solidFill>
              </a:rPr>
              <a:t>React</a:t>
            </a:r>
            <a:r>
              <a:rPr lang="nl-BE" sz="2000" b="1" dirty="0">
                <a:solidFill>
                  <a:srgbClr val="E73B2B"/>
                </a:solidFill>
              </a:rPr>
              <a:t>/D3 </a:t>
            </a:r>
            <a:r>
              <a:rPr lang="nl-BE" sz="2000" b="1" dirty="0" err="1">
                <a:solidFill>
                  <a:srgbClr val="E73B2B"/>
                </a:solidFill>
              </a:rPr>
              <a:t>webprototype</a:t>
            </a:r>
            <a:r>
              <a:rPr lang="nl-BE" sz="2000" b="1" dirty="0">
                <a:solidFill>
                  <a:srgbClr val="E73B2B"/>
                </a:solidFill>
              </a:rPr>
              <a:t> </a:t>
            </a:r>
            <a:r>
              <a:rPr lang="nl-BE" sz="2000" dirty="0"/>
              <a:t>ontwikkeld met </a:t>
            </a:r>
            <a:r>
              <a:rPr lang="nl-BE" sz="2000" dirty="0" err="1"/>
              <a:t>Fortunately-Unfortunately</a:t>
            </a:r>
            <a:r>
              <a:rPr lang="nl-BE" sz="2000" dirty="0"/>
              <a:t> boomfunctionaliteit en UX-features voor </a:t>
            </a:r>
            <a:r>
              <a:rPr lang="nl-BE" sz="2000" dirty="0" err="1"/>
              <a:t>threat</a:t>
            </a:r>
            <a:r>
              <a:rPr lang="nl-BE" sz="2000" dirty="0"/>
              <a:t> modeling. </a:t>
            </a:r>
            <a:r>
              <a:rPr lang="nl-BE" sz="2000" b="1" dirty="0">
                <a:solidFill>
                  <a:srgbClr val="E73B2B"/>
                </a:solidFill>
              </a:rPr>
              <a:t>Node-features</a:t>
            </a:r>
            <a:r>
              <a:rPr lang="nl-BE" sz="2000" dirty="0"/>
              <a:t> zoals </a:t>
            </a:r>
            <a:r>
              <a:rPr lang="nl-BE" sz="2000" dirty="0" err="1"/>
              <a:t>danger</a:t>
            </a:r>
            <a:r>
              <a:rPr lang="nl-BE" sz="2000" dirty="0"/>
              <a:t> rating, statusiconen en kleurcodering ondersteunen directe </a:t>
            </a:r>
            <a:r>
              <a:rPr lang="nl-BE" sz="2000" b="1" dirty="0">
                <a:solidFill>
                  <a:srgbClr val="E73B2B"/>
                </a:solidFill>
              </a:rPr>
              <a:t>node-interactie</a:t>
            </a:r>
            <a:r>
              <a:rPr lang="nl-BE" sz="2000" dirty="0"/>
              <a:t>:</a:t>
            </a:r>
          </a:p>
        </p:txBody>
      </p:sp>
      <p:sp>
        <p:nvSpPr>
          <p:cNvPr id="75" name="Rechthoek: afgeronde hoeken 74">
            <a:extLst>
              <a:ext uri="{FF2B5EF4-FFF2-40B4-BE49-F238E27FC236}">
                <a16:creationId xmlns:a16="http://schemas.microsoft.com/office/drawing/2014/main" id="{1E1F03A8-FFA4-1615-38BC-38E92FCC5492}"/>
              </a:ext>
            </a:extLst>
          </p:cNvPr>
          <p:cNvSpPr/>
          <p:nvPr/>
        </p:nvSpPr>
        <p:spPr>
          <a:xfrm>
            <a:off x="484875" y="25610766"/>
            <a:ext cx="20314040" cy="159007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solidFill>
              <a:srgbClr val="E73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2000" dirty="0">
                <a:solidFill>
                  <a:schemeClr val="tx1"/>
                </a:solidFill>
              </a:rPr>
              <a:t>De </a:t>
            </a:r>
            <a:r>
              <a:rPr lang="nl-BE" sz="2000" dirty="0" err="1">
                <a:solidFill>
                  <a:schemeClr val="tx1"/>
                </a:solidFill>
              </a:rPr>
              <a:t>Fortunately</a:t>
            </a:r>
            <a:r>
              <a:rPr lang="nl-BE" sz="2000" dirty="0">
                <a:solidFill>
                  <a:schemeClr val="tx1"/>
                </a:solidFill>
              </a:rPr>
              <a:t>–</a:t>
            </a:r>
            <a:r>
              <a:rPr lang="nl-BE" sz="2000" dirty="0" err="1">
                <a:solidFill>
                  <a:schemeClr val="tx1"/>
                </a:solidFill>
              </a:rPr>
              <a:t>Unfortunately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webtool</a:t>
            </a:r>
            <a:r>
              <a:rPr lang="nl-BE" sz="2000" dirty="0">
                <a:solidFill>
                  <a:schemeClr val="tx1"/>
                </a:solidFill>
              </a:rPr>
              <a:t> biedt een </a:t>
            </a:r>
            <a:r>
              <a:rPr lang="nl-BE" sz="2000" b="1" dirty="0">
                <a:solidFill>
                  <a:srgbClr val="E73B2B"/>
                </a:solidFill>
              </a:rPr>
              <a:t>toegankelijke</a:t>
            </a:r>
            <a:r>
              <a:rPr lang="nl-BE" sz="2000" dirty="0">
                <a:solidFill>
                  <a:schemeClr val="tx1"/>
                </a:solidFill>
              </a:rPr>
              <a:t> oplossing voor </a:t>
            </a:r>
            <a:r>
              <a:rPr lang="nl-BE" sz="2000" dirty="0" err="1">
                <a:solidFill>
                  <a:schemeClr val="tx1"/>
                </a:solidFill>
              </a:rPr>
              <a:t>threat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dirty="0" err="1">
                <a:solidFill>
                  <a:schemeClr val="tx1"/>
                </a:solidFill>
              </a:rPr>
              <a:t>modeling</a:t>
            </a:r>
            <a:r>
              <a:rPr lang="nl-BE" sz="2000" dirty="0">
                <a:solidFill>
                  <a:schemeClr val="tx1"/>
                </a:solidFill>
              </a:rPr>
              <a:t> door niet-security-experts, met </a:t>
            </a:r>
            <a:r>
              <a:rPr lang="nl-BE" sz="2000" b="1" dirty="0">
                <a:solidFill>
                  <a:srgbClr val="E73B2B"/>
                </a:solidFill>
              </a:rPr>
              <a:t>superieure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b="1" dirty="0">
                <a:solidFill>
                  <a:srgbClr val="E73B2B"/>
                </a:solidFill>
              </a:rPr>
              <a:t>prestaties</a:t>
            </a:r>
            <a:r>
              <a:rPr lang="nl-BE" sz="2000" dirty="0">
                <a:solidFill>
                  <a:schemeClr val="tx1"/>
                </a:solidFill>
              </a:rPr>
              <a:t> (+28% snelheid, +42% nauwkeurigheid </a:t>
            </a:r>
            <a:r>
              <a:rPr lang="nl-BE" sz="2000" dirty="0" err="1">
                <a:solidFill>
                  <a:schemeClr val="tx1"/>
                </a:solidFill>
              </a:rPr>
              <a:t>vs</a:t>
            </a:r>
            <a:r>
              <a:rPr lang="nl-BE" sz="2000" dirty="0">
                <a:solidFill>
                  <a:schemeClr val="tx1"/>
                </a:solidFill>
              </a:rPr>
              <a:t> mind </a:t>
            </a:r>
            <a:r>
              <a:rPr lang="nl-BE" sz="2000" dirty="0" err="1">
                <a:solidFill>
                  <a:schemeClr val="tx1"/>
                </a:solidFill>
              </a:rPr>
              <a:t>maps</a:t>
            </a:r>
            <a:r>
              <a:rPr lang="nl-BE" sz="2000" dirty="0">
                <a:solidFill>
                  <a:schemeClr val="tx1"/>
                </a:solidFill>
              </a:rPr>
              <a:t>). Kleurcodering, statusiconen en filtering prioritering </a:t>
            </a:r>
            <a:r>
              <a:rPr lang="nl-BE" sz="2000" b="1" dirty="0">
                <a:solidFill>
                  <a:srgbClr val="E73B2B"/>
                </a:solidFill>
              </a:rPr>
              <a:t>verhogen </a:t>
            </a:r>
            <a:r>
              <a:rPr lang="nl-BE" sz="2000" dirty="0">
                <a:solidFill>
                  <a:schemeClr val="tx1"/>
                </a:solidFill>
              </a:rPr>
              <a:t>de</a:t>
            </a:r>
            <a:r>
              <a:rPr lang="nl-BE" sz="2000" dirty="0">
                <a:solidFill>
                  <a:srgbClr val="E73B2B"/>
                </a:solidFill>
              </a:rPr>
              <a:t> </a:t>
            </a:r>
            <a:r>
              <a:rPr lang="nl-BE" sz="2000" b="1" dirty="0">
                <a:solidFill>
                  <a:srgbClr val="E73B2B"/>
                </a:solidFill>
              </a:rPr>
              <a:t>bruikbaarheid</a:t>
            </a:r>
            <a:r>
              <a:rPr lang="nl-BE" sz="2000" dirty="0">
                <a:solidFill>
                  <a:schemeClr val="tx1"/>
                </a:solidFill>
              </a:rPr>
              <a:t>, terwijl </a:t>
            </a:r>
            <a:r>
              <a:rPr lang="nl-BE" sz="2000" b="1" dirty="0">
                <a:solidFill>
                  <a:srgbClr val="E73B2B"/>
                </a:solidFill>
              </a:rPr>
              <a:t>tooltips</a:t>
            </a:r>
            <a:r>
              <a:rPr lang="nl-BE" sz="2000" dirty="0">
                <a:solidFill>
                  <a:srgbClr val="E73B2B"/>
                </a:solidFill>
              </a:rPr>
              <a:t> </a:t>
            </a:r>
            <a:r>
              <a:rPr lang="nl-BE" sz="2000" b="1" dirty="0">
                <a:solidFill>
                  <a:srgbClr val="E73B2B"/>
                </a:solidFill>
              </a:rPr>
              <a:t>essentieel</a:t>
            </a:r>
            <a:r>
              <a:rPr lang="nl-BE" sz="2000" dirty="0">
                <a:solidFill>
                  <a:srgbClr val="E73B2B"/>
                </a:solidFill>
              </a:rPr>
              <a:t> </a:t>
            </a:r>
            <a:r>
              <a:rPr lang="nl-BE" sz="2000" dirty="0">
                <a:solidFill>
                  <a:schemeClr val="tx1"/>
                </a:solidFill>
              </a:rPr>
              <a:t>blijken voor beginners. De intuïtieve boomstructuur en contextuele ondersteuning maken complexe dreigingsanalyse praktisch haalbaar. Toekomstig werk richt zich op </a:t>
            </a:r>
            <a:r>
              <a:rPr lang="nl-BE" sz="2000" b="1" dirty="0">
                <a:solidFill>
                  <a:srgbClr val="E73B2B"/>
                </a:solidFill>
              </a:rPr>
              <a:t>AI-suggesties</a:t>
            </a:r>
            <a:r>
              <a:rPr lang="nl-BE" sz="2000" dirty="0">
                <a:solidFill>
                  <a:schemeClr val="tx1"/>
                </a:solidFill>
              </a:rPr>
              <a:t> en </a:t>
            </a:r>
            <a:r>
              <a:rPr lang="nl-BE" sz="2000" b="1" dirty="0">
                <a:solidFill>
                  <a:srgbClr val="E73B2B"/>
                </a:solidFill>
              </a:rPr>
              <a:t>online</a:t>
            </a:r>
            <a:r>
              <a:rPr lang="nl-BE" sz="2000" dirty="0">
                <a:solidFill>
                  <a:schemeClr val="tx1"/>
                </a:solidFill>
              </a:rPr>
              <a:t> </a:t>
            </a:r>
            <a:r>
              <a:rPr lang="nl-BE" sz="2000" b="1" dirty="0">
                <a:solidFill>
                  <a:srgbClr val="E73B2B"/>
                </a:solidFill>
              </a:rPr>
              <a:t>teamsamenwerking</a:t>
            </a:r>
            <a:r>
              <a:rPr lang="nl-BE" sz="2000" dirty="0">
                <a:solidFill>
                  <a:schemeClr val="tx1"/>
                </a:solidFill>
              </a:rPr>
              <a:t> voor bredere inzet in onderwijs en industrie.</a:t>
            </a:r>
          </a:p>
        </p:txBody>
      </p:sp>
      <p:sp>
        <p:nvSpPr>
          <p:cNvPr id="76" name="Rechthoek: afgeronde hoeken 75">
            <a:extLst>
              <a:ext uri="{FF2B5EF4-FFF2-40B4-BE49-F238E27FC236}">
                <a16:creationId xmlns:a16="http://schemas.microsoft.com/office/drawing/2014/main" id="{64F1B9E6-3CD9-7A6A-F445-E45CCEA25CC9}"/>
              </a:ext>
            </a:extLst>
          </p:cNvPr>
          <p:cNvSpPr/>
          <p:nvPr/>
        </p:nvSpPr>
        <p:spPr>
          <a:xfrm>
            <a:off x="8650390" y="25210357"/>
            <a:ext cx="3543014" cy="617983"/>
          </a:xfrm>
          <a:prstGeom prst="roundRect">
            <a:avLst/>
          </a:prstGeom>
          <a:solidFill>
            <a:srgbClr val="E73B2B"/>
          </a:solidFill>
          <a:ln w="12700">
            <a:solidFill>
              <a:srgbClr val="E73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4400" dirty="0"/>
              <a:t>Conclusie</a:t>
            </a:r>
            <a:endParaRPr lang="nl-BE" dirty="0"/>
          </a:p>
        </p:txBody>
      </p:sp>
      <p:pic>
        <p:nvPicPr>
          <p:cNvPr id="79" name="Afbeelding 78">
            <a:extLst>
              <a:ext uri="{FF2B5EF4-FFF2-40B4-BE49-F238E27FC236}">
                <a16:creationId xmlns:a16="http://schemas.microsoft.com/office/drawing/2014/main" id="{3A237FBD-A674-5DC4-6FFE-631CE602F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0687" y="17496055"/>
            <a:ext cx="4174026" cy="2513556"/>
          </a:xfrm>
          <a:prstGeom prst="rect">
            <a:avLst/>
          </a:prstGeom>
        </p:spPr>
      </p:pic>
      <p:sp>
        <p:nvSpPr>
          <p:cNvPr id="80" name="Tekstvak 79">
            <a:extLst>
              <a:ext uri="{FF2B5EF4-FFF2-40B4-BE49-F238E27FC236}">
                <a16:creationId xmlns:a16="http://schemas.microsoft.com/office/drawing/2014/main" id="{34733E62-8F35-6D04-A8E0-E918A7748C38}"/>
              </a:ext>
            </a:extLst>
          </p:cNvPr>
          <p:cNvSpPr txBox="1"/>
          <p:nvPr/>
        </p:nvSpPr>
        <p:spPr>
          <a:xfrm>
            <a:off x="2241414" y="19951955"/>
            <a:ext cx="4779949" cy="33855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nl-BE" sz="1600" dirty="0"/>
              <a:t>Figuur 4: Uitgeklapte </a:t>
            </a:r>
            <a:r>
              <a:rPr lang="nl-BE" sz="1600" dirty="0" err="1"/>
              <a:t>branch</a:t>
            </a:r>
            <a:r>
              <a:rPr lang="nl-BE" sz="1600" dirty="0"/>
              <a:t> summary tab</a:t>
            </a:r>
            <a:endParaRPr lang="nl-BE" sz="1600" dirty="0">
              <a:solidFill>
                <a:schemeClr val="tx1"/>
              </a:solidFill>
            </a:endParaRPr>
          </a:p>
        </p:txBody>
      </p:sp>
      <p:graphicFrame>
        <p:nvGraphicFramePr>
          <p:cNvPr id="87" name="Diagram 86">
            <a:extLst>
              <a:ext uri="{FF2B5EF4-FFF2-40B4-BE49-F238E27FC236}">
                <a16:creationId xmlns:a16="http://schemas.microsoft.com/office/drawing/2014/main" id="{6BD6EC8D-4C9E-D0E7-3675-3F7113083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9100360"/>
              </p:ext>
            </p:extLst>
          </p:nvPr>
        </p:nvGraphicFramePr>
        <p:xfrm>
          <a:off x="611190" y="11788965"/>
          <a:ext cx="9545747" cy="3030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93" name="Diagram 92">
            <a:extLst>
              <a:ext uri="{FF2B5EF4-FFF2-40B4-BE49-F238E27FC236}">
                <a16:creationId xmlns:a16="http://schemas.microsoft.com/office/drawing/2014/main" id="{92B37474-B41C-4566-85DF-5F075B3FA3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795450"/>
              </p:ext>
            </p:extLst>
          </p:nvPr>
        </p:nvGraphicFramePr>
        <p:xfrm>
          <a:off x="611190" y="15172448"/>
          <a:ext cx="9545747" cy="2293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94" name="Tekstvak 93">
            <a:extLst>
              <a:ext uri="{FF2B5EF4-FFF2-40B4-BE49-F238E27FC236}">
                <a16:creationId xmlns:a16="http://schemas.microsoft.com/office/drawing/2014/main" id="{E4FA641A-D1A2-8553-CF80-8341ADD4F2B5}"/>
              </a:ext>
            </a:extLst>
          </p:cNvPr>
          <p:cNvSpPr txBox="1"/>
          <p:nvPr/>
        </p:nvSpPr>
        <p:spPr>
          <a:xfrm>
            <a:off x="649290" y="14798380"/>
            <a:ext cx="9545747" cy="40011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nl-BE" sz="2000" b="1" dirty="0">
                <a:solidFill>
                  <a:srgbClr val="E73B2B"/>
                </a:solidFill>
              </a:rPr>
              <a:t>Overzicht-features </a:t>
            </a:r>
            <a:r>
              <a:rPr lang="nl-BE" sz="2000" dirty="0"/>
              <a:t>verbeteren </a:t>
            </a:r>
            <a:r>
              <a:rPr lang="nl-BE" sz="2000" b="1" dirty="0">
                <a:solidFill>
                  <a:srgbClr val="E73B2B"/>
                </a:solidFill>
              </a:rPr>
              <a:t>navigatie</a:t>
            </a:r>
            <a:r>
              <a:rPr lang="nl-BE" sz="2000" dirty="0"/>
              <a:t> en </a:t>
            </a:r>
            <a:r>
              <a:rPr lang="nl-BE" sz="2000" b="1" dirty="0">
                <a:solidFill>
                  <a:srgbClr val="E73B2B"/>
                </a:solidFill>
              </a:rPr>
              <a:t>contextbegrip</a:t>
            </a:r>
            <a:r>
              <a:rPr lang="nl-BE" sz="2000" dirty="0"/>
              <a:t>:</a:t>
            </a:r>
          </a:p>
        </p:txBody>
      </p:sp>
      <p:sp>
        <p:nvSpPr>
          <p:cNvPr id="95" name="Tekstvak 94">
            <a:extLst>
              <a:ext uri="{FF2B5EF4-FFF2-40B4-BE49-F238E27FC236}">
                <a16:creationId xmlns:a16="http://schemas.microsoft.com/office/drawing/2014/main" id="{C1AA2603-7CAF-FD4B-43C8-5FE2DA129F56}"/>
              </a:ext>
            </a:extLst>
          </p:cNvPr>
          <p:cNvSpPr txBox="1"/>
          <p:nvPr/>
        </p:nvSpPr>
        <p:spPr>
          <a:xfrm>
            <a:off x="649290" y="21169716"/>
            <a:ext cx="12606474" cy="1631216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nl-BE" sz="1800" b="1" dirty="0">
                <a:solidFill>
                  <a:srgbClr val="E73B2B"/>
                </a:solidFill>
              </a:rPr>
              <a:t>Taakprestaties</a:t>
            </a:r>
            <a:r>
              <a:rPr lang="nl-BE" sz="1800" dirty="0"/>
              <a:t> (2 scenario's): de </a:t>
            </a:r>
            <a:r>
              <a:rPr lang="nl-BE" sz="1800" b="1" dirty="0">
                <a:solidFill>
                  <a:srgbClr val="E73B2B"/>
                </a:solidFill>
              </a:rPr>
              <a:t>uitgebreide tool</a:t>
            </a:r>
            <a:r>
              <a:rPr lang="nl-BE" sz="1800" dirty="0"/>
              <a:t> voltooit taken </a:t>
            </a:r>
            <a:r>
              <a:rPr lang="nl-BE" sz="1800" b="1" dirty="0">
                <a:solidFill>
                  <a:srgbClr val="E73B2B"/>
                </a:solidFill>
              </a:rPr>
              <a:t>28% sneller </a:t>
            </a:r>
            <a:r>
              <a:rPr lang="nl-BE" sz="1800" dirty="0"/>
              <a:t>(13.8 </a:t>
            </a:r>
            <a:r>
              <a:rPr lang="nl-BE" sz="1800" dirty="0" err="1"/>
              <a:t>vs</a:t>
            </a:r>
            <a:r>
              <a:rPr lang="nl-BE" sz="1800" dirty="0"/>
              <a:t> 19.2 min), bereikt </a:t>
            </a:r>
            <a:r>
              <a:rPr lang="nl-BE" sz="1800" b="1" dirty="0">
                <a:solidFill>
                  <a:srgbClr val="E73B2B"/>
                </a:solidFill>
              </a:rPr>
              <a:t>42% hogere nauwkeurigheid </a:t>
            </a:r>
            <a:r>
              <a:rPr lang="nl-BE" sz="1800" dirty="0"/>
              <a:t>(91% </a:t>
            </a:r>
            <a:r>
              <a:rPr lang="nl-BE" sz="1800" dirty="0" err="1"/>
              <a:t>vs</a:t>
            </a:r>
            <a:r>
              <a:rPr lang="nl-BE" sz="1800" dirty="0"/>
              <a:t> 64% succes) en </a:t>
            </a:r>
            <a:r>
              <a:rPr lang="nl-BE" sz="1800" b="1" dirty="0">
                <a:solidFill>
                  <a:srgbClr val="E73B2B"/>
                </a:solidFill>
              </a:rPr>
              <a:t>reduceert navigatiefouten met 71% </a:t>
            </a:r>
            <a:r>
              <a:rPr lang="nl-BE" sz="1800" dirty="0"/>
              <a:t>(7% </a:t>
            </a:r>
            <a:r>
              <a:rPr lang="nl-BE" sz="1800" dirty="0" err="1"/>
              <a:t>vs</a:t>
            </a:r>
            <a:r>
              <a:rPr lang="nl-BE" sz="1800" dirty="0"/>
              <a:t> 24%) vergeleken met de basisversie.</a:t>
            </a:r>
          </a:p>
          <a:p>
            <a:pPr algn="ctr">
              <a:spcAft>
                <a:spcPts val="600"/>
              </a:spcAft>
            </a:pPr>
            <a:r>
              <a:rPr lang="nl-BE" sz="1800" dirty="0"/>
              <a:t>Figuur 7 geeft de </a:t>
            </a:r>
            <a:r>
              <a:rPr lang="nl-BE" sz="1800" b="1" dirty="0">
                <a:solidFill>
                  <a:srgbClr val="E73B2B"/>
                </a:solidFill>
              </a:rPr>
              <a:t>scores</a:t>
            </a:r>
            <a:r>
              <a:rPr lang="nl-BE" sz="1800" dirty="0"/>
              <a:t> (uitgebreide </a:t>
            </a:r>
            <a:r>
              <a:rPr lang="nl-BE" sz="1800" dirty="0" err="1"/>
              <a:t>vs</a:t>
            </a:r>
            <a:r>
              <a:rPr lang="nl-BE" sz="1800" dirty="0"/>
              <a:t> basis software, alle &gt;0=positief) weer </a:t>
            </a:r>
            <a:r>
              <a:rPr lang="nl-BE" sz="1800" dirty="0" err="1"/>
              <a:t>fir</a:t>
            </a:r>
            <a:r>
              <a:rPr lang="nl-BE" sz="1800" dirty="0"/>
              <a:t> werden verkregen uit de </a:t>
            </a:r>
            <a:r>
              <a:rPr lang="nl-BE" sz="1800" b="1" dirty="0">
                <a:solidFill>
                  <a:srgbClr val="E73B2B"/>
                </a:solidFill>
              </a:rPr>
              <a:t>user </a:t>
            </a:r>
            <a:r>
              <a:rPr lang="nl-BE" sz="1800" b="1" dirty="0" err="1">
                <a:solidFill>
                  <a:srgbClr val="E73B2B"/>
                </a:solidFill>
              </a:rPr>
              <a:t>experience</a:t>
            </a:r>
            <a:r>
              <a:rPr lang="nl-BE" sz="1800" b="1" dirty="0">
                <a:solidFill>
                  <a:srgbClr val="E73B2B"/>
                </a:solidFill>
              </a:rPr>
              <a:t> questionnaire (UEQ)</a:t>
            </a:r>
            <a:r>
              <a:rPr lang="nl-BE" sz="1800" dirty="0"/>
              <a:t>.</a:t>
            </a:r>
            <a:endParaRPr lang="nl-BE" sz="1800" b="1" dirty="0">
              <a:solidFill>
                <a:srgbClr val="E73B2B"/>
              </a:solidFill>
            </a:endParaRPr>
          </a:p>
          <a:p>
            <a:pPr algn="ctr"/>
            <a:r>
              <a:rPr lang="nl-BE" sz="1800" b="1" dirty="0">
                <a:solidFill>
                  <a:srgbClr val="E73B2B"/>
                </a:solidFill>
              </a:rPr>
              <a:t>Feature-ranking</a:t>
            </a:r>
            <a:r>
              <a:rPr lang="nl-BE" sz="1800" dirty="0"/>
              <a:t> (1=meest nuttig, 8=minst):</a:t>
            </a:r>
          </a:p>
        </p:txBody>
      </p:sp>
      <p:sp>
        <p:nvSpPr>
          <p:cNvPr id="103" name="Tekstvak 102">
            <a:extLst>
              <a:ext uri="{FF2B5EF4-FFF2-40B4-BE49-F238E27FC236}">
                <a16:creationId xmlns:a16="http://schemas.microsoft.com/office/drawing/2014/main" id="{24680A28-7CBD-6F06-17BD-A1ADB203EF3F}"/>
              </a:ext>
            </a:extLst>
          </p:cNvPr>
          <p:cNvSpPr txBox="1"/>
          <p:nvPr/>
        </p:nvSpPr>
        <p:spPr>
          <a:xfrm>
            <a:off x="3836331" y="8405646"/>
            <a:ext cx="13158515" cy="132343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BE" sz="2000" dirty="0"/>
              <a:t>Welke minimale </a:t>
            </a:r>
            <a:r>
              <a:rPr lang="nl-BE" sz="2000" b="1" dirty="0">
                <a:solidFill>
                  <a:srgbClr val="E73B2B"/>
                </a:solidFill>
              </a:rPr>
              <a:t>basisfunctionaliteit</a:t>
            </a:r>
            <a:r>
              <a:rPr lang="nl-BE" sz="2000" dirty="0"/>
              <a:t> is nodig om </a:t>
            </a:r>
            <a:r>
              <a:rPr lang="nl-BE" sz="2000" dirty="0" err="1"/>
              <a:t>threat</a:t>
            </a:r>
            <a:r>
              <a:rPr lang="nl-BE" sz="2000" dirty="0"/>
              <a:t> </a:t>
            </a:r>
            <a:r>
              <a:rPr lang="nl-BE" sz="2000" dirty="0" err="1"/>
              <a:t>modeling</a:t>
            </a:r>
            <a:r>
              <a:rPr lang="nl-BE" sz="2000" dirty="0"/>
              <a:t> met </a:t>
            </a:r>
            <a:r>
              <a:rPr lang="nl-BE" sz="2000" dirty="0" err="1"/>
              <a:t>Fortunately-Unfortunately</a:t>
            </a:r>
            <a:r>
              <a:rPr lang="nl-BE" sz="2000" dirty="0"/>
              <a:t> trees te ondersteunen?</a:t>
            </a:r>
          </a:p>
          <a:p>
            <a:pPr marL="457200" indent="-457200">
              <a:buFont typeface="+mj-lt"/>
              <a:buAutoNum type="arabicPeriod"/>
            </a:pPr>
            <a:r>
              <a:rPr lang="nl-BE" sz="2000" dirty="0"/>
              <a:t>Welke </a:t>
            </a:r>
            <a:r>
              <a:rPr lang="nl-BE" sz="2000" b="1" dirty="0">
                <a:solidFill>
                  <a:srgbClr val="E73B2B"/>
                </a:solidFill>
              </a:rPr>
              <a:t>functies</a:t>
            </a:r>
            <a:r>
              <a:rPr lang="nl-BE" sz="2000" dirty="0"/>
              <a:t> worden als meest </a:t>
            </a:r>
            <a:r>
              <a:rPr lang="nl-BE" sz="2000" b="1" dirty="0">
                <a:solidFill>
                  <a:srgbClr val="E73B2B"/>
                </a:solidFill>
              </a:rPr>
              <a:t>nuttig</a:t>
            </a:r>
            <a:r>
              <a:rPr lang="nl-BE" sz="2000" dirty="0"/>
              <a:t> ervaren?</a:t>
            </a:r>
          </a:p>
          <a:p>
            <a:pPr marL="457200" indent="-457200">
              <a:buFont typeface="+mj-lt"/>
              <a:buAutoNum type="arabicPeriod"/>
            </a:pPr>
            <a:r>
              <a:rPr lang="nl-BE" sz="2000" dirty="0"/>
              <a:t>In welke mate verhoogt de toevoeging van </a:t>
            </a:r>
            <a:r>
              <a:rPr lang="nl-BE" sz="2000" b="1" dirty="0">
                <a:solidFill>
                  <a:srgbClr val="E73B2B"/>
                </a:solidFill>
              </a:rPr>
              <a:t>educatieve ondersteuning </a:t>
            </a:r>
            <a:r>
              <a:rPr lang="nl-BE" sz="2000" dirty="0"/>
              <a:t>(tooltips) de </a:t>
            </a:r>
            <a:r>
              <a:rPr lang="nl-BE" sz="2000" b="1" dirty="0">
                <a:solidFill>
                  <a:srgbClr val="E73B2B"/>
                </a:solidFill>
              </a:rPr>
              <a:t>bruikbaarheid</a:t>
            </a:r>
            <a:r>
              <a:rPr lang="nl-BE" sz="2000" dirty="0"/>
              <a:t> van de tool?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nl-BE" sz="2000" dirty="0"/>
              <a:t>Hoe </a:t>
            </a:r>
            <a:r>
              <a:rPr lang="nl-BE" sz="2000" b="1" dirty="0">
                <a:solidFill>
                  <a:srgbClr val="E73B2B"/>
                </a:solidFill>
              </a:rPr>
              <a:t>presteert</a:t>
            </a:r>
            <a:r>
              <a:rPr lang="nl-BE" sz="2000" dirty="0"/>
              <a:t> de tool vergeleken met </a:t>
            </a:r>
            <a:r>
              <a:rPr lang="nl-BE" sz="2000" b="1" dirty="0">
                <a:solidFill>
                  <a:srgbClr val="E73B2B"/>
                </a:solidFill>
              </a:rPr>
              <a:t>generieke</a:t>
            </a:r>
            <a:r>
              <a:rPr lang="nl-BE" sz="2000" dirty="0"/>
              <a:t> </a:t>
            </a:r>
            <a:r>
              <a:rPr lang="nl-BE" sz="2000" b="1" dirty="0">
                <a:solidFill>
                  <a:srgbClr val="E73B2B"/>
                </a:solidFill>
              </a:rPr>
              <a:t>mind map software</a:t>
            </a:r>
            <a:r>
              <a:rPr lang="nl-BE" sz="2000" dirty="0"/>
              <a:t>?</a:t>
            </a:r>
          </a:p>
        </p:txBody>
      </p:sp>
      <p:sp>
        <p:nvSpPr>
          <p:cNvPr id="110" name="Tekstvak 109">
            <a:extLst>
              <a:ext uri="{FF2B5EF4-FFF2-40B4-BE49-F238E27FC236}">
                <a16:creationId xmlns:a16="http://schemas.microsoft.com/office/drawing/2014/main" id="{2F2FC96D-12DF-8371-EDD3-5A45DCBF2C8A}"/>
              </a:ext>
            </a:extLst>
          </p:cNvPr>
          <p:cNvSpPr txBox="1"/>
          <p:nvPr/>
        </p:nvSpPr>
        <p:spPr>
          <a:xfrm>
            <a:off x="12253386" y="27355622"/>
            <a:ext cx="10125602" cy="615553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nl-BE" sz="1800" dirty="0"/>
              <a:t>[1] </a:t>
            </a:r>
            <a:r>
              <a:rPr lang="nl-BE" sz="1600" dirty="0">
                <a:solidFill>
                  <a:schemeClr val="tx1"/>
                </a:solidFill>
              </a:rPr>
              <a:t>S. </a:t>
            </a:r>
            <a:r>
              <a:rPr lang="nl-BE" sz="1600" dirty="0" err="1">
                <a:solidFill>
                  <a:schemeClr val="tx1"/>
                </a:solidFill>
              </a:rPr>
              <a:t>Verreydt</a:t>
            </a:r>
            <a:r>
              <a:rPr lang="nl-BE" sz="1600" dirty="0">
                <a:solidFill>
                  <a:schemeClr val="tx1"/>
                </a:solidFill>
              </a:rPr>
              <a:t>, „</a:t>
            </a:r>
            <a:r>
              <a:rPr lang="nl-BE" sz="1600" dirty="0" err="1">
                <a:solidFill>
                  <a:schemeClr val="tx1"/>
                </a:solidFill>
              </a:rPr>
              <a:t>cybersercurity</a:t>
            </a:r>
            <a:r>
              <a:rPr lang="nl-BE" sz="1600" dirty="0">
                <a:solidFill>
                  <a:schemeClr val="tx1"/>
                </a:solidFill>
              </a:rPr>
              <a:t> </a:t>
            </a:r>
            <a:r>
              <a:rPr lang="nl-BE" sz="1600" dirty="0" err="1">
                <a:solidFill>
                  <a:schemeClr val="tx1"/>
                </a:solidFill>
              </a:rPr>
              <a:t>bites</a:t>
            </a:r>
            <a:r>
              <a:rPr lang="nl-BE" sz="1600" dirty="0">
                <a:solidFill>
                  <a:schemeClr val="tx1"/>
                </a:solidFill>
              </a:rPr>
              <a:t>,” 3 Oktober 2024. [Online]. </a:t>
            </a:r>
            <a:r>
              <a:rPr lang="nl-BE" sz="1600" dirty="0" err="1">
                <a:solidFill>
                  <a:schemeClr val="tx1"/>
                </a:solidFill>
              </a:rPr>
              <a:t>Available</a:t>
            </a:r>
            <a:r>
              <a:rPr lang="nl-BE" sz="1600" dirty="0">
                <a:solidFill>
                  <a:schemeClr val="tx1"/>
                </a:solidFill>
              </a:rPr>
              <a:t>: https://cybersecurity-bites.be/cybersecuritybydesign/threat-modeling-in-nederlandse-organisaties/. [Geopend 13 Oktober 2025]</a:t>
            </a:r>
          </a:p>
        </p:txBody>
      </p:sp>
      <p:pic>
        <p:nvPicPr>
          <p:cNvPr id="113" name="Afbeelding 112">
            <a:extLst>
              <a:ext uri="{FF2B5EF4-FFF2-40B4-BE49-F238E27FC236}">
                <a16:creationId xmlns:a16="http://schemas.microsoft.com/office/drawing/2014/main" id="{96AC4FAF-E35E-0845-B6D7-B3A13F76472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99626" y="21509184"/>
            <a:ext cx="7348149" cy="2926131"/>
          </a:xfrm>
          <a:prstGeom prst="rect">
            <a:avLst/>
          </a:prstGeom>
        </p:spPr>
      </p:pic>
      <p:sp>
        <p:nvSpPr>
          <p:cNvPr id="114" name="Tekstvak 113">
            <a:extLst>
              <a:ext uri="{FF2B5EF4-FFF2-40B4-BE49-F238E27FC236}">
                <a16:creationId xmlns:a16="http://schemas.microsoft.com/office/drawing/2014/main" id="{4ECD2AA2-CB87-CC72-2AB2-20EB89A589CB}"/>
              </a:ext>
            </a:extLst>
          </p:cNvPr>
          <p:cNvSpPr txBox="1"/>
          <p:nvPr/>
        </p:nvSpPr>
        <p:spPr>
          <a:xfrm>
            <a:off x="13151665" y="24386954"/>
            <a:ext cx="7122464" cy="33855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nl-BE" sz="1600" dirty="0"/>
              <a:t>Figuur 7: User </a:t>
            </a:r>
            <a:r>
              <a:rPr lang="nl-BE" sz="1600" dirty="0" err="1"/>
              <a:t>experience</a:t>
            </a:r>
            <a:r>
              <a:rPr lang="nl-BE" sz="1600" dirty="0"/>
              <a:t> questionnaire score</a:t>
            </a:r>
            <a:endParaRPr lang="nl-BE" sz="1600" dirty="0">
              <a:solidFill>
                <a:schemeClr val="tx1"/>
              </a:solidFill>
            </a:endParaRPr>
          </a:p>
        </p:txBody>
      </p:sp>
      <p:sp>
        <p:nvSpPr>
          <p:cNvPr id="115" name="Tekstvak 114">
            <a:extLst>
              <a:ext uri="{FF2B5EF4-FFF2-40B4-BE49-F238E27FC236}">
                <a16:creationId xmlns:a16="http://schemas.microsoft.com/office/drawing/2014/main" id="{89097E2C-0F91-F363-441D-F738571EB2A6}"/>
              </a:ext>
            </a:extLst>
          </p:cNvPr>
          <p:cNvSpPr txBox="1"/>
          <p:nvPr/>
        </p:nvSpPr>
        <p:spPr>
          <a:xfrm>
            <a:off x="4086381" y="22760097"/>
            <a:ext cx="5874784" cy="230832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nl-BE" sz="1800" dirty="0"/>
              <a:t>weergave van soort node door de kleur,</a:t>
            </a:r>
          </a:p>
          <a:p>
            <a:pPr marL="342900" indent="-342900">
              <a:buFont typeface="+mj-lt"/>
              <a:buAutoNum type="arabicPeriod"/>
            </a:pPr>
            <a:r>
              <a:rPr lang="nl-BE" sz="1800" dirty="0"/>
              <a:t>aantonen van status van een node door het schildicoon,</a:t>
            </a:r>
          </a:p>
          <a:p>
            <a:pPr marL="342900" indent="-342900">
              <a:buFont typeface="+mj-lt"/>
              <a:buAutoNum type="arabicPeriod"/>
            </a:pPr>
            <a:r>
              <a:rPr lang="nl-BE" sz="1800" dirty="0"/>
              <a:t>filtering op basis van de status van de node,</a:t>
            </a:r>
          </a:p>
          <a:p>
            <a:pPr marL="342900" indent="-342900">
              <a:buFont typeface="+mj-lt"/>
              <a:buAutoNum type="arabicPeriod"/>
            </a:pPr>
            <a:r>
              <a:rPr lang="nl-BE" sz="1800" dirty="0"/>
              <a:t>rangschikken op basis van de </a:t>
            </a:r>
            <a:r>
              <a:rPr lang="nl-BE" sz="1800" dirty="0" err="1"/>
              <a:t>danger</a:t>
            </a:r>
            <a:r>
              <a:rPr lang="nl-BE" sz="1800" dirty="0"/>
              <a:t> rating,</a:t>
            </a:r>
          </a:p>
          <a:p>
            <a:pPr marL="342900" indent="-342900">
              <a:buFont typeface="+mj-lt"/>
              <a:buAutoNum type="arabicPeriod"/>
            </a:pPr>
            <a:r>
              <a:rPr lang="nl-BE" sz="1800" dirty="0"/>
              <a:t>highlight van node bij klikken op de node in de filter tab,</a:t>
            </a:r>
          </a:p>
          <a:p>
            <a:pPr marL="342900" indent="-342900">
              <a:buFont typeface="+mj-lt"/>
              <a:buAutoNum type="arabicPeriod"/>
            </a:pPr>
            <a:r>
              <a:rPr lang="nl-BE" sz="1800" dirty="0"/>
              <a:t>weergeven van aantal </a:t>
            </a:r>
            <a:r>
              <a:rPr lang="nl-BE" sz="1800" dirty="0" err="1"/>
              <a:t>nodes</a:t>
            </a:r>
            <a:r>
              <a:rPr lang="nl-BE" sz="1800" dirty="0"/>
              <a:t> per status,</a:t>
            </a:r>
          </a:p>
          <a:p>
            <a:pPr marL="342900" indent="-342900">
              <a:buFont typeface="+mj-lt"/>
              <a:buAutoNum type="arabicPeriod"/>
            </a:pPr>
            <a:r>
              <a:rPr lang="nl-BE" sz="1800" dirty="0"/>
              <a:t>Samenvatting van root node tot de aangeduide node,</a:t>
            </a:r>
          </a:p>
          <a:p>
            <a:pPr marL="342900" indent="-342900">
              <a:buFont typeface="+mj-lt"/>
              <a:buAutoNum type="arabicPeriod"/>
            </a:pPr>
            <a:r>
              <a:rPr lang="nl-BE" sz="1800" dirty="0"/>
              <a:t>tooltips bij het </a:t>
            </a:r>
            <a:r>
              <a:rPr lang="nl-BE" sz="1800" dirty="0" err="1"/>
              <a:t>hoveren</a:t>
            </a:r>
            <a:r>
              <a:rPr lang="nl-BE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050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/>
      <a:lstStyle>
        <a:defPPr>
          <a:defRPr sz="3000" b="1" dirty="0" err="1" smtClean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717</Words>
  <Application>Microsoft Office PowerPoint</Application>
  <PresentationFormat>Aangepast</PresentationFormat>
  <Paragraphs>48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Office-thema</vt:lpstr>
      <vt:lpstr>Mika Gielkens</vt:lpstr>
    </vt:vector>
  </TitlesOfParts>
  <Company>Universiteit 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Dave Bosmans</dc:creator>
  <cp:lastModifiedBy>Mika Gielkens</cp:lastModifiedBy>
  <cp:revision>137</cp:revision>
  <cp:lastPrinted>2023-03-07T08:02:27Z</cp:lastPrinted>
  <dcterms:created xsi:type="dcterms:W3CDTF">2014-03-07T12:50:19Z</dcterms:created>
  <dcterms:modified xsi:type="dcterms:W3CDTF">2025-12-08T20:24:48Z</dcterms:modified>
</cp:coreProperties>
</file>