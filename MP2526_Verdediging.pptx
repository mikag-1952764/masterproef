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60" r:id="rId3"/>
    <p:sldId id="264" r:id="rId4"/>
    <p:sldId id="261" r:id="rId5"/>
    <p:sldId id="263" r:id="rId6"/>
    <p:sldId id="262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300" r:id="rId33"/>
    <p:sldId id="301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2" r:id="rId45"/>
    <p:sldId id="303" r:id="rId46"/>
    <p:sldId id="304" r:id="rId47"/>
    <p:sldId id="305" r:id="rId48"/>
    <p:sldId id="306" r:id="rId49"/>
    <p:sldId id="307" r:id="rId50"/>
  </p:sldIdLst>
  <p:sldSz cx="12192000" cy="6858000"/>
  <p:notesSz cx="6858000" cy="9144000"/>
  <p:custDataLst>
    <p:tags r:id="rId52"/>
  </p:custDataLst>
  <p:defaultTextStyle>
    <a:defPPr>
      <a:defRPr lang="nl-B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073"/>
    <a:srgbClr val="D94F20"/>
    <a:srgbClr val="811A20"/>
    <a:srgbClr val="18233A"/>
    <a:srgbClr val="631D1D"/>
    <a:srgbClr val="62616E"/>
    <a:srgbClr val="053C7B"/>
    <a:srgbClr val="ACD6E6"/>
    <a:srgbClr val="239B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70" autoAdjust="0"/>
    <p:restoredTop sz="94660"/>
  </p:normalViewPr>
  <p:slideViewPr>
    <p:cSldViewPr>
      <p:cViewPr varScale="1">
        <p:scale>
          <a:sx n="161" d="100"/>
          <a:sy n="161" d="100"/>
        </p:scale>
        <p:origin x="2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fld id="{21DFDB4D-B014-47D8-9459-83B31BD9F760}" type="datetimeFigureOut">
              <a:rPr lang="nl-NL"/>
              <a:pPr>
                <a:defRPr/>
              </a:pPr>
              <a:t>25-1-2026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nl-NL" noProof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BE" noProof="0"/>
              <a:t>Klik om de tekststijl van het model te bewerken</a:t>
            </a:r>
          </a:p>
          <a:p>
            <a:pPr lvl="1"/>
            <a:r>
              <a:rPr lang="nl-BE" noProof="0"/>
              <a:t>Tweede niveau</a:t>
            </a:r>
          </a:p>
          <a:p>
            <a:pPr lvl="2"/>
            <a:r>
              <a:rPr lang="nl-BE" noProof="0"/>
              <a:t>Derde niveau</a:t>
            </a:r>
          </a:p>
          <a:p>
            <a:pPr lvl="3"/>
            <a:r>
              <a:rPr lang="nl-BE" noProof="0"/>
              <a:t>Vierde niveau</a:t>
            </a:r>
          </a:p>
          <a:p>
            <a:pPr lvl="4"/>
            <a:r>
              <a:rPr lang="nl-BE" noProof="0"/>
              <a:t>Vijfde niveau</a:t>
            </a:r>
            <a:endParaRPr lang="nl-NL" noProof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E766661-4A69-4D38-9B93-78F7EA23D71A}" type="slidenum">
              <a:rPr lang="nl-NL" altLang="en-US"/>
              <a:pPr/>
              <a:t>‹nr.›</a:t>
            </a:fld>
            <a:endParaRPr lang="nl-NL" altLang="en-US"/>
          </a:p>
        </p:txBody>
      </p:sp>
    </p:spTree>
    <p:extLst>
      <p:ext uri="{BB962C8B-B14F-4D97-AF65-F5344CB8AC3E}">
        <p14:creationId xmlns:p14="http://schemas.microsoft.com/office/powerpoint/2010/main" val="27298556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404" y="2996952"/>
            <a:ext cx="9313035" cy="63098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164073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404" y="3644978"/>
            <a:ext cx="9313035" cy="43204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rgbClr val="18233A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Klikken om de ondertitelstijl van het model te bewerken</a:t>
            </a:r>
            <a:endParaRPr lang="nl-BE" dirty="0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BDB5C448-BFED-D515-CD4C-B62EDB33F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1400" y="6234250"/>
            <a:ext cx="5960588" cy="48467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3476DB1-94F6-13C7-BEAC-A74D7628E1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32" r="2658"/>
          <a:stretch/>
        </p:blipFill>
        <p:spPr>
          <a:xfrm>
            <a:off x="0" y="2207"/>
            <a:ext cx="12192000" cy="18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055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08723"/>
            <a:ext cx="10972800" cy="5217443"/>
          </a:xfrm>
        </p:spPr>
        <p:txBody>
          <a:bodyPr/>
          <a:lstStyle>
            <a:lvl1pPr>
              <a:buFont typeface="Wingdings" pitchFamily="2" charset="2"/>
              <a:buChar char="§"/>
              <a:defRPr sz="2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>
              <a:buFont typeface="Wingdings" pitchFamily="2" charset="2"/>
              <a:buChar char="§"/>
              <a:defRPr sz="2000"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>
              <a:buFont typeface="Wingdings" pitchFamily="2" charset="2"/>
              <a:buChar char="§"/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>
              <a:buFont typeface="Wingdings" pitchFamily="2" charset="2"/>
              <a:buChar char="§"/>
              <a:defRPr sz="1400"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>
              <a:buFont typeface="Wingdings" pitchFamily="2" charset="2"/>
              <a:buChar char="§"/>
              <a:defRPr sz="1200"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10" name="Titel 1"/>
          <p:cNvSpPr>
            <a:spLocks noGrp="1"/>
          </p:cNvSpPr>
          <p:nvPr>
            <p:ph type="title" idx="4294967295"/>
          </p:nvPr>
        </p:nvSpPr>
        <p:spPr>
          <a:xfrm>
            <a:off x="143935" y="198981"/>
            <a:ext cx="11987005" cy="549844"/>
          </a:xfrm>
        </p:spPr>
        <p:txBody>
          <a:bodyPr/>
          <a:lstStyle>
            <a:lvl1pPr algn="l">
              <a:defRPr sz="2000" b="1" i="0">
                <a:solidFill>
                  <a:srgbClr val="164073"/>
                </a:solidFill>
                <a:latin typeface="Verdana"/>
                <a:cs typeface="Verdana"/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115908-0829-DB5A-459A-6857208915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2" r="2658"/>
          <a:stretch/>
        </p:blipFill>
        <p:spPr>
          <a:xfrm>
            <a:off x="0" y="2208"/>
            <a:ext cx="12192000" cy="107326"/>
          </a:xfrm>
          <a:prstGeom prst="rect">
            <a:avLst/>
          </a:prstGeom>
        </p:spPr>
      </p:pic>
      <p:sp>
        <p:nvSpPr>
          <p:cNvPr id="6" name="Rechthoek 5">
            <a:extLst>
              <a:ext uri="{FF2B5EF4-FFF2-40B4-BE49-F238E27FC236}">
                <a16:creationId xmlns:a16="http://schemas.microsoft.com/office/drawing/2014/main" id="{11E10137-9D80-4BA3-EDD5-0F83026C48F6}"/>
              </a:ext>
            </a:extLst>
          </p:cNvPr>
          <p:cNvSpPr/>
          <p:nvPr userDrawn="1"/>
        </p:nvSpPr>
        <p:spPr>
          <a:xfrm>
            <a:off x="0" y="6337462"/>
            <a:ext cx="12192000" cy="520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6053670-FDBB-1452-133C-69752F32B4C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719" y="6458132"/>
            <a:ext cx="1186582" cy="279196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C56E13A6-0CC5-2975-39BC-469589F63E3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047" y="6442341"/>
            <a:ext cx="874706" cy="310778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F562D7D-A406-FE1B-F9F4-FD5730C80BC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6229198"/>
            <a:ext cx="12192000" cy="10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46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80731"/>
            <a:ext cx="5384800" cy="5145435"/>
          </a:xfrm>
        </p:spPr>
        <p:txBody>
          <a:bodyPr/>
          <a:lstStyle>
            <a:lvl1pPr>
              <a:buFont typeface="Wingdings" pitchFamily="2" charset="2"/>
              <a:buChar char="§"/>
              <a:defRPr sz="2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>
              <a:buFont typeface="Wingdings" pitchFamily="2" charset="2"/>
              <a:buChar char="§"/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>
              <a:buFont typeface="Wingdings" pitchFamily="2" charset="2"/>
              <a:buChar char="§"/>
              <a:defRPr sz="1600"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>
              <a:buFont typeface="Wingdings" pitchFamily="2" charset="2"/>
              <a:buChar char="§"/>
              <a:defRPr sz="1400"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>
              <a:buFont typeface="Wingdings" pitchFamily="2" charset="2"/>
              <a:buChar char="§"/>
              <a:defRPr sz="1200"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002655-E643-F9A9-4C51-7D6BDBDAD59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98981"/>
            <a:ext cx="11987005" cy="549844"/>
          </a:xfrm>
        </p:spPr>
        <p:txBody>
          <a:bodyPr/>
          <a:lstStyle>
            <a:lvl1pPr algn="l">
              <a:defRPr sz="2000" b="1" i="0">
                <a:solidFill>
                  <a:srgbClr val="164073"/>
                </a:solidFill>
                <a:latin typeface="Verdana"/>
                <a:cs typeface="Verdana"/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7EDE0EE-1902-2106-9ECE-DDA4310937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2" r="2658"/>
          <a:stretch/>
        </p:blipFill>
        <p:spPr>
          <a:xfrm>
            <a:off x="0" y="2208"/>
            <a:ext cx="12192000" cy="107326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D8007E6E-8127-32C2-0063-0033D5FDB2A5}"/>
              </a:ext>
            </a:extLst>
          </p:cNvPr>
          <p:cNvSpPr/>
          <p:nvPr userDrawn="1"/>
        </p:nvSpPr>
        <p:spPr>
          <a:xfrm>
            <a:off x="0" y="6337462"/>
            <a:ext cx="12192000" cy="520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B726D2E9-9F52-3D12-12D7-405E1D5C273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719" y="6458132"/>
            <a:ext cx="1186582" cy="279196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20D0A630-6D2D-6F62-7F29-5322B1F2882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047" y="6442341"/>
            <a:ext cx="874706" cy="31077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8BF60AE3-0DE0-1BA4-40B8-CED16E11A1D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6229198"/>
            <a:ext cx="12192000" cy="108265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5687564-63AA-9129-5E31-6658C8C6F3B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97602" y="980731"/>
            <a:ext cx="5384800" cy="5145435"/>
          </a:xfrm>
        </p:spPr>
        <p:txBody>
          <a:bodyPr/>
          <a:lstStyle>
            <a:lvl1pPr>
              <a:buFont typeface="Wingdings" pitchFamily="2" charset="2"/>
              <a:buChar char="§"/>
              <a:defRPr sz="2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>
              <a:buFont typeface="Wingdings" pitchFamily="2" charset="2"/>
              <a:buChar char="§"/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>
              <a:buFont typeface="Wingdings" pitchFamily="2" charset="2"/>
              <a:buChar char="§"/>
              <a:defRPr sz="1600"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>
              <a:buFont typeface="Wingdings" pitchFamily="2" charset="2"/>
              <a:buChar char="§"/>
              <a:defRPr sz="1400"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>
              <a:buFont typeface="Wingdings" pitchFamily="2" charset="2"/>
              <a:buChar char="§"/>
              <a:defRPr sz="1200"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91147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4417" y="115891"/>
            <a:ext cx="10972800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en-US"/>
              <a:t>Klik om de stijl te bewerken</a:t>
            </a:r>
            <a:endParaRPr lang="nl-BE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908050"/>
            <a:ext cx="10972800" cy="521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en-US"/>
              <a:t>Tekststijl van het model bewerken</a:t>
            </a:r>
          </a:p>
          <a:p>
            <a:pPr lvl="1"/>
            <a:r>
              <a:rPr lang="nl-NL" altLang="en-US"/>
              <a:t>Tweede niveau</a:t>
            </a:r>
          </a:p>
          <a:p>
            <a:pPr lvl="2"/>
            <a:r>
              <a:rPr lang="nl-NL" altLang="en-US"/>
              <a:t>Derde niveau</a:t>
            </a:r>
          </a:p>
          <a:p>
            <a:pPr lvl="3"/>
            <a:r>
              <a:rPr lang="nl-NL" altLang="en-US"/>
              <a:t>Vierde niveau</a:t>
            </a:r>
          </a:p>
          <a:p>
            <a:pPr lvl="4"/>
            <a:r>
              <a:rPr lang="nl-NL" altLang="en-US"/>
              <a:t>Vijfde niveau</a:t>
            </a:r>
            <a:endParaRPr lang="nl-BE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fld id="{B404C629-8429-4A47-8547-87B1AFF6545A}" type="datetime1">
              <a:rPr lang="nl-BE"/>
              <a:pPr>
                <a:defRPr/>
              </a:pPr>
              <a:t>25/01/2026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2C8C6316-E44E-4DB2-87E9-228972E3BC6C}" type="slidenum">
              <a:rPr lang="nl-BE" altLang="en-US"/>
              <a:pPr/>
              <a:t>‹nr.›</a:t>
            </a:fld>
            <a:endParaRPr lang="nl-B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ＭＳ Ｐゴシック" pitchFamily="-105" charset="-128"/>
          <a:cs typeface="ＭＳ Ｐゴシック" pitchFamily="-105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  <a:ea typeface="ＭＳ Ｐゴシック" pitchFamily="-105" charset="-128"/>
          <a:cs typeface="ＭＳ Ｐゴシック" pitchFamily="-105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  <a:ea typeface="ＭＳ Ｐゴシック" pitchFamily="-105" charset="-128"/>
          <a:cs typeface="ＭＳ Ｐゴシック" pitchFamily="-105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  <a:ea typeface="ＭＳ Ｐゴシック" pitchFamily="-105" charset="-128"/>
          <a:cs typeface="ＭＳ Ｐゴシック" pitchFamily="-105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  <a:ea typeface="ＭＳ Ｐゴシック" pitchFamily="-105" charset="-128"/>
          <a:cs typeface="ＭＳ Ｐゴシック" pitchFamily="-10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105" charset="-128"/>
          <a:cs typeface="ＭＳ Ｐゴシック" pitchFamily="-105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-111" charset="-128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-111" charset="-128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-111" charset="-128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-111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19404" y="3113509"/>
            <a:ext cx="11137236" cy="630982"/>
          </a:xfrm>
        </p:spPr>
        <p:txBody>
          <a:bodyPr>
            <a:noAutofit/>
          </a:bodyPr>
          <a:lstStyle/>
          <a:p>
            <a:r>
              <a:rPr lang="nl-BE" dirty="0"/>
              <a:t>Gebruiksvriendelijke beveiligingsmodelleringtool voor de </a:t>
            </a:r>
            <a:r>
              <a:rPr lang="nl-BE" dirty="0" err="1"/>
              <a:t>fortunately-unfortunately</a:t>
            </a:r>
            <a:r>
              <a:rPr lang="nl-BE" dirty="0"/>
              <a:t> methode</a:t>
            </a:r>
            <a:endParaRPr lang="en-GB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719404" y="4365104"/>
            <a:ext cx="11137236" cy="432048"/>
          </a:xfrm>
        </p:spPr>
        <p:txBody>
          <a:bodyPr>
            <a:normAutofit fontScale="25000" lnSpcReduction="20000"/>
          </a:bodyPr>
          <a:lstStyle/>
          <a:p>
            <a:r>
              <a:rPr lang="en-GB" sz="4200" dirty="0" err="1"/>
              <a:t>Juryverdediging</a:t>
            </a:r>
            <a:r>
              <a:rPr lang="en-GB" sz="4200" dirty="0"/>
              <a:t> </a:t>
            </a:r>
            <a:r>
              <a:rPr lang="en-GB" sz="4200" dirty="0" err="1"/>
              <a:t>februari</a:t>
            </a:r>
            <a:r>
              <a:rPr lang="en-GB" sz="4200" dirty="0"/>
              <a:t> 2026</a:t>
            </a:r>
            <a:endParaRPr lang="en-GB" sz="2200" dirty="0"/>
          </a:p>
          <a:p>
            <a:endParaRPr lang="en-GB" sz="2200" dirty="0"/>
          </a:p>
          <a:p>
            <a:pPr algn="r"/>
            <a:r>
              <a:rPr lang="en-GB" sz="3300" dirty="0"/>
              <a:t>		</a:t>
            </a:r>
          </a:p>
          <a:p>
            <a:pPr algn="r"/>
            <a:r>
              <a:rPr lang="en-GB" sz="3800" dirty="0"/>
              <a:t>Mika Gielkens</a:t>
            </a:r>
          </a:p>
          <a:p>
            <a:endParaRPr lang="en-GB" sz="3800" dirty="0"/>
          </a:p>
          <a:p>
            <a:pPr algn="r"/>
            <a:r>
              <a:rPr lang="en-GB" sz="3800" dirty="0" err="1"/>
              <a:t>Promotoren</a:t>
            </a:r>
            <a:r>
              <a:rPr lang="en-GB" sz="3800" dirty="0"/>
              <a:t>: </a:t>
            </a:r>
            <a:r>
              <a:rPr lang="nl-BE" sz="4000" dirty="0"/>
              <a:t>Prof. dr. ir. Koen </a:t>
            </a:r>
            <a:r>
              <a:rPr lang="nl-BE" sz="4000" dirty="0" err="1"/>
              <a:t>Yskout</a:t>
            </a:r>
            <a:r>
              <a:rPr lang="nl-BE" sz="4000" dirty="0"/>
              <a:t>, dr. Eva Geurt</a:t>
            </a:r>
            <a:endParaRPr lang="en-GB" sz="3800" dirty="0"/>
          </a:p>
          <a:p>
            <a:endParaRPr lang="en-GB" sz="3800" dirty="0"/>
          </a:p>
          <a:p>
            <a:pPr algn="r"/>
            <a:r>
              <a:rPr lang="en-GB" sz="3800" dirty="0" err="1"/>
              <a:t>KULeuven</a:t>
            </a:r>
            <a:r>
              <a:rPr lang="en-GB" sz="3800" dirty="0"/>
              <a:t>/</a:t>
            </a:r>
            <a:r>
              <a:rPr lang="en-GB" sz="3800" dirty="0" err="1"/>
              <a:t>UHasselt</a:t>
            </a:r>
            <a:endParaRPr lang="en-GB" sz="3800" dirty="0"/>
          </a:p>
          <a:p>
            <a:endParaRPr lang="en-GB" sz="2200" dirty="0"/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231571" y="152400"/>
            <a:ext cx="232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BE" dirty="0"/>
          </a:p>
        </p:txBody>
      </p:sp>
      <p:sp>
        <p:nvSpPr>
          <p:cNvPr id="5" name="TextBox 4"/>
          <p:cNvSpPr txBox="1"/>
          <p:nvPr/>
        </p:nvSpPr>
        <p:spPr>
          <a:xfrm>
            <a:off x="719404" y="2276872"/>
            <a:ext cx="9337036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nl-BE" dirty="0"/>
              <a:t>master IW informatica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6A603CD8-CF25-868B-99B7-DDDAF44B7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AA1FD5C-D969-F167-DD74-BFE2C6DE8663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l-BE" dirty="0"/>
              <a:t>Inhoudsopgave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A6C96-589A-8D8F-B076-49EBE85DA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BE1A07E-D00C-EFAE-EBAA-01F48345BBE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417" y="2851597"/>
            <a:ext cx="10972800" cy="433387"/>
          </a:xfrm>
        </p:spPr>
        <p:txBody>
          <a:bodyPr/>
          <a:lstStyle/>
          <a:p>
            <a:r>
              <a:rPr lang="nl-BE" sz="6000" dirty="0"/>
              <a:t>Situering en doel</a:t>
            </a:r>
          </a:p>
        </p:txBody>
      </p:sp>
    </p:spTree>
    <p:extLst>
      <p:ext uri="{BB962C8B-B14F-4D97-AF65-F5344CB8AC3E}">
        <p14:creationId xmlns:p14="http://schemas.microsoft.com/office/powerpoint/2010/main" val="1448001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3EE127C-0163-F279-AD1F-46C29A7B5F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l-BE" sz="2400" dirty="0" err="1"/>
              <a:t>Threat</a:t>
            </a:r>
            <a:r>
              <a:rPr lang="nl-BE" sz="2400" dirty="0"/>
              <a:t> </a:t>
            </a:r>
            <a:r>
              <a:rPr lang="nl-BE" sz="2400" dirty="0" err="1"/>
              <a:t>modeling</a:t>
            </a:r>
            <a:endParaRPr lang="nl-BE" sz="2400" dirty="0"/>
          </a:p>
          <a:p>
            <a:pPr lvl="1"/>
            <a:r>
              <a:rPr lang="nl-BE" sz="2000" dirty="0"/>
              <a:t>Vaak:</a:t>
            </a:r>
          </a:p>
          <a:p>
            <a:pPr lvl="2"/>
            <a:r>
              <a:rPr lang="nl-BE" sz="1800" dirty="0"/>
              <a:t>Uitgesteld</a:t>
            </a:r>
          </a:p>
          <a:p>
            <a:pPr lvl="2"/>
            <a:r>
              <a:rPr lang="nl-BE" sz="1800" dirty="0"/>
              <a:t>Oppervlakkig</a:t>
            </a:r>
          </a:p>
          <a:p>
            <a:pPr lvl="2"/>
            <a:r>
              <a:rPr lang="nl-BE" sz="1800" dirty="0"/>
              <a:t>Overgeslagen</a:t>
            </a:r>
          </a:p>
          <a:p>
            <a:pPr lvl="1"/>
            <a:r>
              <a:rPr lang="nl-BE" sz="2000" dirty="0"/>
              <a:t>Redenen:</a:t>
            </a:r>
          </a:p>
          <a:p>
            <a:pPr lvl="2"/>
            <a:r>
              <a:rPr lang="nl-BE" sz="1800" dirty="0"/>
              <a:t>Tijdsdruk</a:t>
            </a:r>
          </a:p>
          <a:p>
            <a:pPr lvl="2"/>
            <a:r>
              <a:rPr lang="nl-BE" sz="1800" dirty="0"/>
              <a:t>Beperkte securityexpertise</a:t>
            </a:r>
          </a:p>
          <a:p>
            <a:pPr lvl="2"/>
            <a:r>
              <a:rPr lang="nl-BE" sz="1800" dirty="0"/>
              <a:t>Beperkte passende </a:t>
            </a:r>
            <a:r>
              <a:rPr lang="nl-BE" sz="1800" dirty="0" err="1"/>
              <a:t>tooling</a:t>
            </a:r>
            <a:endParaRPr lang="nl-BE" sz="1800" dirty="0"/>
          </a:p>
          <a:p>
            <a:pPr lvl="1"/>
            <a:r>
              <a:rPr lang="nl-BE" sz="2000" dirty="0"/>
              <a:t>Bestaande methoden:</a:t>
            </a:r>
          </a:p>
          <a:p>
            <a:pPr lvl="2"/>
            <a:r>
              <a:rPr lang="nl-BE" sz="1800" dirty="0"/>
              <a:t>STRIDE</a:t>
            </a:r>
          </a:p>
          <a:p>
            <a:pPr lvl="2"/>
            <a:r>
              <a:rPr lang="nl-BE" sz="1800" dirty="0"/>
              <a:t>Attack trees</a:t>
            </a:r>
          </a:p>
          <a:p>
            <a:pPr lvl="2"/>
            <a:endParaRPr lang="nl-B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89A9D75-215E-9088-57D7-372C3FAD982D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l-BE" dirty="0"/>
              <a:t>Situering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526978D4-4211-AF4C-1631-3D1A7BB9235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nl-BE" sz="2400" dirty="0"/>
              <a:t>Problemen met methoden:</a:t>
            </a:r>
          </a:p>
          <a:p>
            <a:pPr lvl="1"/>
            <a:r>
              <a:rPr lang="nl-BE" sz="2000" dirty="0"/>
              <a:t>Nodige kennis</a:t>
            </a:r>
          </a:p>
          <a:p>
            <a:pPr lvl="1"/>
            <a:r>
              <a:rPr lang="nl-BE" sz="2000" dirty="0"/>
              <a:t>Formele notaties</a:t>
            </a:r>
          </a:p>
          <a:p>
            <a:pPr lvl="1"/>
            <a:r>
              <a:rPr lang="nl-BE" sz="2000" dirty="0"/>
              <a:t>Kennis standaarddreigingen</a:t>
            </a:r>
          </a:p>
          <a:p>
            <a:pPr lvl="1"/>
            <a:r>
              <a:rPr lang="nl-BE" sz="2000" dirty="0" err="1"/>
              <a:t>Beprekte</a:t>
            </a:r>
            <a:r>
              <a:rPr lang="nl-BE" sz="2000" dirty="0"/>
              <a:t> </a:t>
            </a:r>
            <a:r>
              <a:rPr lang="nl-BE" sz="2000" dirty="0" err="1"/>
              <a:t>domeinspecifieke</a:t>
            </a:r>
            <a:r>
              <a:rPr lang="nl-BE" sz="2000" dirty="0"/>
              <a:t> tools</a:t>
            </a:r>
          </a:p>
        </p:txBody>
      </p:sp>
    </p:spTree>
    <p:extLst>
      <p:ext uri="{BB962C8B-B14F-4D97-AF65-F5344CB8AC3E}">
        <p14:creationId xmlns:p14="http://schemas.microsoft.com/office/powerpoint/2010/main" val="1244339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ADC93-D8F8-E67E-220A-C6CE524C3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96BE2ED-C1B2-AA82-A97B-56241EB42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80731"/>
            <a:ext cx="10598968" cy="5145435"/>
          </a:xfrm>
        </p:spPr>
        <p:txBody>
          <a:bodyPr/>
          <a:lstStyle/>
          <a:p>
            <a:r>
              <a:rPr lang="nl-BE" sz="2800" dirty="0" err="1"/>
              <a:t>Adhv</a:t>
            </a:r>
            <a:r>
              <a:rPr lang="nl-BE" sz="2800" dirty="0"/>
              <a:t> </a:t>
            </a:r>
            <a:r>
              <a:rPr lang="nl-BE" sz="2800" dirty="0" err="1"/>
              <a:t>fortunately-unfortunately</a:t>
            </a:r>
            <a:r>
              <a:rPr lang="nl-BE" sz="2800" dirty="0"/>
              <a:t> methode</a:t>
            </a:r>
          </a:p>
          <a:p>
            <a:endParaRPr lang="nl-BE" sz="2800" dirty="0"/>
          </a:p>
          <a:p>
            <a:r>
              <a:rPr lang="nl-BE" sz="2800" dirty="0"/>
              <a:t>Kloof verkleinen</a:t>
            </a:r>
          </a:p>
          <a:p>
            <a:endParaRPr lang="nl-BE" sz="2800" dirty="0"/>
          </a:p>
          <a:p>
            <a:r>
              <a:rPr lang="nl-BE" sz="2800" dirty="0"/>
              <a:t>Gebruiksvriendelijke </a:t>
            </a:r>
            <a:r>
              <a:rPr lang="nl-BE" sz="2800" dirty="0" err="1"/>
              <a:t>webtool</a:t>
            </a:r>
            <a:endParaRPr lang="nl-BE" sz="2800" dirty="0"/>
          </a:p>
          <a:p>
            <a:endParaRPr lang="nl-BE" sz="2800" dirty="0"/>
          </a:p>
          <a:p>
            <a:r>
              <a:rPr lang="nl-BE" sz="2800" dirty="0"/>
              <a:t>Efficiëntie</a:t>
            </a:r>
          </a:p>
          <a:p>
            <a:endParaRPr lang="nl-BE" sz="2800" dirty="0"/>
          </a:p>
          <a:p>
            <a:r>
              <a:rPr lang="nl-BE" sz="2800" dirty="0"/>
              <a:t>Toegankelijk voor niet-security experts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39E43AF-7693-F28B-4928-68EED034DCAC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l-BE" dirty="0"/>
              <a:t>Doel van de thesis</a:t>
            </a:r>
          </a:p>
        </p:txBody>
      </p:sp>
    </p:spTree>
    <p:extLst>
      <p:ext uri="{BB962C8B-B14F-4D97-AF65-F5344CB8AC3E}">
        <p14:creationId xmlns:p14="http://schemas.microsoft.com/office/powerpoint/2010/main" val="4143991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07097-AFEE-AC65-4F00-26C82F8E7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A58531E-440C-A8F7-CA58-332BC1764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80731"/>
            <a:ext cx="10598968" cy="514543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nl-BE" dirty="0"/>
          </a:p>
          <a:p>
            <a:pPr marL="457200" indent="-457200">
              <a:buFont typeface="+mj-lt"/>
              <a:buAutoNum type="arabicPeriod"/>
            </a:pPr>
            <a:r>
              <a:rPr lang="nl-BE" dirty="0"/>
              <a:t>Welke basisfunctionaliteit is minimaal noodzakelijk om </a:t>
            </a:r>
            <a:r>
              <a:rPr lang="nl-BE" dirty="0" err="1"/>
              <a:t>threat</a:t>
            </a:r>
            <a:r>
              <a:rPr lang="nl-BE" dirty="0"/>
              <a:t> </a:t>
            </a:r>
            <a:r>
              <a:rPr lang="nl-BE" dirty="0" err="1"/>
              <a:t>modeling</a:t>
            </a:r>
            <a:r>
              <a:rPr lang="nl-BE" dirty="0"/>
              <a:t> met </a:t>
            </a:r>
            <a:r>
              <a:rPr lang="nl-BE" dirty="0" err="1"/>
              <a:t>fortunately‑unfortunately</a:t>
            </a:r>
            <a:r>
              <a:rPr lang="nl-BE" dirty="0"/>
              <a:t> trees te ondersteunen?</a:t>
            </a:r>
          </a:p>
          <a:p>
            <a:pPr marL="457200" indent="-457200">
              <a:buFont typeface="+mj-lt"/>
              <a:buAutoNum type="arabicPeriod"/>
            </a:pPr>
            <a:endParaRPr lang="nl-BE" dirty="0"/>
          </a:p>
          <a:p>
            <a:pPr marL="457200" indent="-457200">
              <a:buFont typeface="+mj-lt"/>
              <a:buAutoNum type="arabicPeriod"/>
            </a:pPr>
            <a:endParaRPr lang="nl-BE" dirty="0"/>
          </a:p>
          <a:p>
            <a:pPr marL="457200" indent="-457200">
              <a:buFont typeface="+mj-lt"/>
              <a:buAutoNum type="arabicPeriod"/>
            </a:pPr>
            <a:r>
              <a:rPr lang="nl-BE" dirty="0"/>
              <a:t>Welke extra functies (bv. filters, zoekfuncties, statusiconen en visuele structuren) worden door gebruikers als het meest nuttig ervaren?</a:t>
            </a:r>
          </a:p>
          <a:p>
            <a:pPr marL="457200" indent="-457200">
              <a:buFont typeface="+mj-lt"/>
              <a:buAutoNum type="arabicPeriod"/>
            </a:pPr>
            <a:endParaRPr lang="nl-BE" dirty="0"/>
          </a:p>
          <a:p>
            <a:pPr marL="457200" indent="-457200">
              <a:buFont typeface="+mj-lt"/>
              <a:buAutoNum type="arabicPeriod"/>
            </a:pPr>
            <a:endParaRPr lang="nl-BE" dirty="0"/>
          </a:p>
          <a:p>
            <a:pPr marL="457200" indent="-457200">
              <a:buFont typeface="+mj-lt"/>
              <a:buAutoNum type="arabicPeriod"/>
            </a:pPr>
            <a:r>
              <a:rPr lang="nl-BE" dirty="0"/>
              <a:t>Hoe verhoudt de voorgestelde tool zich qua gebruiksvriendelijkheid en effectiviteit ten opzichte van een basisversie van </a:t>
            </a:r>
            <a:r>
              <a:rPr lang="nl-BE" dirty="0" err="1"/>
              <a:t>mindmapsoftware</a:t>
            </a:r>
            <a:r>
              <a:rPr lang="nl-BE" dirty="0"/>
              <a:t>?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2DA85BD-DC0E-FB03-C22D-E0593E7B95EC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l-BE" dirty="0"/>
              <a:t>Onderzoeksvragen</a:t>
            </a:r>
          </a:p>
        </p:txBody>
      </p:sp>
    </p:spTree>
    <p:extLst>
      <p:ext uri="{BB962C8B-B14F-4D97-AF65-F5344CB8AC3E}">
        <p14:creationId xmlns:p14="http://schemas.microsoft.com/office/powerpoint/2010/main" val="3666254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322FD-FEAC-BF30-3835-2A574C1AA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E344E82-3F1C-A3AE-E5EC-734E52157D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417" y="2851597"/>
            <a:ext cx="10972800" cy="433387"/>
          </a:xfrm>
        </p:spPr>
        <p:txBody>
          <a:bodyPr/>
          <a:lstStyle/>
          <a:p>
            <a:r>
              <a:rPr lang="nl-BE" sz="6000" dirty="0" err="1"/>
              <a:t>Fortunately-unfortunately</a:t>
            </a:r>
            <a:r>
              <a:rPr lang="nl-BE" sz="6000" dirty="0"/>
              <a:t> methode</a:t>
            </a:r>
          </a:p>
        </p:txBody>
      </p:sp>
    </p:spTree>
    <p:extLst>
      <p:ext uri="{BB962C8B-B14F-4D97-AF65-F5344CB8AC3E}">
        <p14:creationId xmlns:p14="http://schemas.microsoft.com/office/powerpoint/2010/main" val="1682129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E4BE0-CBB1-66EA-CE0B-558E1FBF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4A2E2A1-BB2F-80CB-60DE-79EAEB5D4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80731"/>
            <a:ext cx="10598968" cy="5145435"/>
          </a:xfrm>
        </p:spPr>
        <p:txBody>
          <a:bodyPr/>
          <a:lstStyle/>
          <a:p>
            <a:r>
              <a:rPr lang="nl-BE" sz="2800" dirty="0"/>
              <a:t>Afkomstig uit theater</a:t>
            </a:r>
          </a:p>
          <a:p>
            <a:endParaRPr lang="nl-BE" sz="2800" dirty="0"/>
          </a:p>
          <a:p>
            <a:r>
              <a:rPr lang="nl-BE" sz="2800" dirty="0"/>
              <a:t>Gebruikt als thread-</a:t>
            </a:r>
            <a:r>
              <a:rPr lang="nl-BE" sz="2800" dirty="0" err="1"/>
              <a:t>modelingtechniek</a:t>
            </a:r>
            <a:endParaRPr lang="nl-BE" sz="2800" dirty="0"/>
          </a:p>
          <a:p>
            <a:pPr marL="0" indent="0">
              <a:buNone/>
            </a:pPr>
            <a:endParaRPr lang="nl-BE" sz="2800" dirty="0"/>
          </a:p>
          <a:p>
            <a:r>
              <a:rPr lang="nl-BE" sz="2800" dirty="0"/>
              <a:t>Afwisseling </a:t>
            </a:r>
            <a:r>
              <a:rPr lang="nl-BE" sz="2800" dirty="0" err="1"/>
              <a:t>gustig</a:t>
            </a:r>
            <a:r>
              <a:rPr lang="nl-BE" sz="2800" dirty="0"/>
              <a:t> en ongunstig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93828C6-D28C-43DC-1977-36297301183F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l-BE" dirty="0" err="1"/>
              <a:t>Fortunately-unfortunately</a:t>
            </a:r>
            <a:r>
              <a:rPr lang="nl-BE" dirty="0"/>
              <a:t> methode</a:t>
            </a:r>
          </a:p>
        </p:txBody>
      </p:sp>
    </p:spTree>
    <p:extLst>
      <p:ext uri="{BB962C8B-B14F-4D97-AF65-F5344CB8AC3E}">
        <p14:creationId xmlns:p14="http://schemas.microsoft.com/office/powerpoint/2010/main" val="156929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7A827-E1CE-CCFD-0726-BCA4A1AF3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A9F2FF1-86FB-F1A2-3BD8-76C1A3454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80731"/>
            <a:ext cx="10598968" cy="5145435"/>
          </a:xfrm>
        </p:spPr>
        <p:txBody>
          <a:bodyPr/>
          <a:lstStyle/>
          <a:p>
            <a:r>
              <a:rPr lang="nl-BE" sz="2800" dirty="0"/>
              <a:t>Begin met </a:t>
            </a:r>
            <a:r>
              <a:rPr lang="nl-BE" sz="2800" dirty="0" err="1"/>
              <a:t>fortunately</a:t>
            </a:r>
            <a:endParaRPr lang="nl-BE" sz="2800" dirty="0"/>
          </a:p>
          <a:p>
            <a:endParaRPr lang="nl-BE" sz="2800" dirty="0"/>
          </a:p>
          <a:p>
            <a:r>
              <a:rPr lang="nl-BE" sz="2800" dirty="0"/>
              <a:t>Hierna </a:t>
            </a:r>
            <a:r>
              <a:rPr lang="nl-BE" sz="2800" dirty="0" err="1"/>
              <a:t>unfortunately</a:t>
            </a:r>
            <a:endParaRPr lang="nl-BE" sz="2800" dirty="0"/>
          </a:p>
          <a:p>
            <a:endParaRPr lang="nl-BE" sz="2800" dirty="0"/>
          </a:p>
          <a:p>
            <a:r>
              <a:rPr lang="nl-BE" sz="2800" dirty="0"/>
              <a:t>Verdere afwisseling doorheen tree</a:t>
            </a:r>
          </a:p>
          <a:p>
            <a:endParaRPr lang="nl-BE" sz="2800" dirty="0"/>
          </a:p>
          <a:p>
            <a:r>
              <a:rPr lang="nl-BE" sz="2800" dirty="0"/>
              <a:t>Voorbeeld </a:t>
            </a:r>
            <a:r>
              <a:rPr lang="nl-BE" sz="2800" dirty="0" err="1"/>
              <a:t>branch</a:t>
            </a:r>
            <a:r>
              <a:rPr lang="nl-BE" sz="28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nl-BE" sz="2000" dirty="0" err="1"/>
              <a:t>Fortunately</a:t>
            </a:r>
            <a:r>
              <a:rPr lang="nl-BE" sz="2000" dirty="0"/>
              <a:t>: "Uitrol wachtwoordmanager verbetert gebruiksgemak”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GB" sz="2000" dirty="0"/>
              <a:t>Unfortunately: "</a:t>
            </a:r>
            <a:r>
              <a:rPr lang="en-GB" sz="2000" dirty="0" err="1"/>
              <a:t>Werknemers</a:t>
            </a:r>
            <a:r>
              <a:rPr lang="en-GB" sz="2000" dirty="0"/>
              <a:t> </a:t>
            </a:r>
            <a:r>
              <a:rPr lang="en-GB" sz="2000" dirty="0" err="1"/>
              <a:t>weigeren</a:t>
            </a:r>
            <a:r>
              <a:rPr lang="en-GB" sz="2000" dirty="0"/>
              <a:t> </a:t>
            </a:r>
            <a:r>
              <a:rPr lang="en-GB" sz="2000" dirty="0" err="1"/>
              <a:t>wachtwoordmanagers</a:t>
            </a:r>
            <a:r>
              <a:rPr lang="en-GB" sz="2000" dirty="0"/>
              <a:t>;</a:t>
            </a:r>
            <a:endParaRPr lang="nl-BE" sz="2000" dirty="0"/>
          </a:p>
          <a:p>
            <a:pPr lvl="3">
              <a:buFont typeface="Wingdings" panose="05000000000000000000" pitchFamily="2" charset="2"/>
              <a:buChar char="Ø"/>
            </a:pPr>
            <a:r>
              <a:rPr lang="en-GB" sz="2000" dirty="0"/>
              <a:t>Fortunately: "Training </a:t>
            </a:r>
            <a:r>
              <a:rPr lang="en-GB" sz="2000" dirty="0" err="1"/>
              <a:t>verlaagt</a:t>
            </a:r>
            <a:r>
              <a:rPr lang="en-GB" sz="2000" dirty="0"/>
              <a:t> </a:t>
            </a:r>
            <a:r>
              <a:rPr lang="en-GB" sz="2000" dirty="0" err="1"/>
              <a:t>drempel</a:t>
            </a:r>
            <a:r>
              <a:rPr lang="en-GB" sz="2000" dirty="0"/>
              <a:t>".</a:t>
            </a:r>
            <a:endParaRPr lang="nl-BE" sz="2000" dirty="0"/>
          </a:p>
          <a:p>
            <a:pPr lvl="1"/>
            <a:endParaRPr lang="nl-BE" sz="260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CD624AF-D22F-E566-6A96-B84E70014401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l-BE" dirty="0"/>
              <a:t>Werking van de methode</a:t>
            </a:r>
          </a:p>
        </p:txBody>
      </p:sp>
    </p:spTree>
    <p:extLst>
      <p:ext uri="{BB962C8B-B14F-4D97-AF65-F5344CB8AC3E}">
        <p14:creationId xmlns:p14="http://schemas.microsoft.com/office/powerpoint/2010/main" val="2770387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74CA9-8CF2-65E4-7AA8-E5784DFEB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7C34431-941A-A36B-15D6-E45126DD7D0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417" y="2851597"/>
            <a:ext cx="10972800" cy="433387"/>
          </a:xfrm>
        </p:spPr>
        <p:txBody>
          <a:bodyPr/>
          <a:lstStyle/>
          <a:p>
            <a:r>
              <a:rPr lang="nl-BE" sz="6000" dirty="0"/>
              <a:t>Gerelateerd werk</a:t>
            </a:r>
          </a:p>
        </p:txBody>
      </p:sp>
    </p:spTree>
    <p:extLst>
      <p:ext uri="{BB962C8B-B14F-4D97-AF65-F5344CB8AC3E}">
        <p14:creationId xmlns:p14="http://schemas.microsoft.com/office/powerpoint/2010/main" val="22450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A3468-FCF6-45F6-5258-25FC40461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7262061-1A21-60B5-1996-214F561151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80731"/>
            <a:ext cx="10598968" cy="5145435"/>
          </a:xfrm>
        </p:spPr>
        <p:txBody>
          <a:bodyPr/>
          <a:lstStyle/>
          <a:p>
            <a:r>
              <a:rPr lang="nl-BE" sz="2800" dirty="0"/>
              <a:t>Geen bestaande tools</a:t>
            </a:r>
          </a:p>
          <a:p>
            <a:endParaRPr lang="nl-BE" sz="2800" dirty="0"/>
          </a:p>
          <a:p>
            <a:r>
              <a:rPr lang="nl-BE" sz="2800" dirty="0"/>
              <a:t>Focus op STRIDE, attack trees, …</a:t>
            </a:r>
          </a:p>
          <a:p>
            <a:endParaRPr lang="nl-BE" sz="2800" dirty="0"/>
          </a:p>
          <a:p>
            <a:r>
              <a:rPr lang="nl-BE" sz="2800" dirty="0"/>
              <a:t>Mogelijkheid gebruik generieke </a:t>
            </a:r>
            <a:r>
              <a:rPr lang="nl-BE" sz="2800" dirty="0" err="1"/>
              <a:t>mindmapsoftware</a:t>
            </a:r>
            <a:endParaRPr lang="nl-BE" sz="2800" dirty="0"/>
          </a:p>
          <a:p>
            <a:endParaRPr lang="nl-BE" sz="2800" dirty="0"/>
          </a:p>
          <a:p>
            <a:r>
              <a:rPr lang="nl-BE" sz="2800" dirty="0"/>
              <a:t>Visualisatie technieken</a:t>
            </a:r>
          </a:p>
          <a:p>
            <a:pPr lvl="1"/>
            <a:r>
              <a:rPr lang="nl-BE" dirty="0" err="1"/>
              <a:t>Treemaps</a:t>
            </a:r>
            <a:endParaRPr lang="nl-BE" dirty="0"/>
          </a:p>
          <a:p>
            <a:pPr lvl="1"/>
            <a:r>
              <a:rPr lang="nl-BE" dirty="0"/>
              <a:t>Circulaire </a:t>
            </a:r>
            <a:r>
              <a:rPr lang="nl-BE" dirty="0" err="1"/>
              <a:t>treemaps</a:t>
            </a:r>
            <a:endParaRPr lang="nl-BE" dirty="0"/>
          </a:p>
          <a:p>
            <a:pPr lvl="1"/>
            <a:r>
              <a:rPr lang="nl-BE" dirty="0"/>
              <a:t>Argument-</a:t>
            </a:r>
            <a:r>
              <a:rPr lang="nl-BE" dirty="0" err="1"/>
              <a:t>mappingtool</a:t>
            </a:r>
            <a:r>
              <a:rPr lang="nl-BE" dirty="0"/>
              <a:t> (hi-tree)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nl-BE" dirty="0"/>
              <a:t>Duidelijkere relatie</a:t>
            </a:r>
          </a:p>
          <a:p>
            <a:pPr lvl="1"/>
            <a:endParaRPr lang="nl-BE" dirty="0"/>
          </a:p>
          <a:p>
            <a:pPr lvl="1"/>
            <a:endParaRPr lang="nl-BE" sz="260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E3061E4-7715-6BF1-468A-4270DA7333DE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l-BE" dirty="0"/>
              <a:t>Gerelateerd werk</a:t>
            </a:r>
          </a:p>
        </p:txBody>
      </p:sp>
    </p:spTree>
    <p:extLst>
      <p:ext uri="{BB962C8B-B14F-4D97-AF65-F5344CB8AC3E}">
        <p14:creationId xmlns:p14="http://schemas.microsoft.com/office/powerpoint/2010/main" val="343184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70EB7-286A-B0F1-1DA0-D51B55888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F5D7FEA-5F11-87B3-A53F-E93D7D305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80731"/>
            <a:ext cx="10598968" cy="5145435"/>
          </a:xfrm>
        </p:spPr>
        <p:txBody>
          <a:bodyPr/>
          <a:lstStyle/>
          <a:p>
            <a:pPr lvl="1"/>
            <a:endParaRPr lang="nl-BE" dirty="0"/>
          </a:p>
          <a:p>
            <a:pPr lvl="1"/>
            <a:endParaRPr lang="nl-BE" sz="260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57A7E28-5F32-DD9A-E8F8-CB07C86CF3BC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l-BE" dirty="0"/>
              <a:t>Visualisatie technieken</a:t>
            </a:r>
          </a:p>
        </p:txBody>
      </p:sp>
      <p:pic>
        <p:nvPicPr>
          <p:cNvPr id="5" name="Afbeelding 4" descr="Afbeelding met tekst, diagram, Lettertype, Plan&#10;&#10;Door AI gegenereerde inhoud is mogelijk onjuist.">
            <a:extLst>
              <a:ext uri="{FF2B5EF4-FFF2-40B4-BE49-F238E27FC236}">
                <a16:creationId xmlns:a16="http://schemas.microsoft.com/office/drawing/2014/main" id="{2DD04A76-10F1-5340-DAAE-28999E238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856" y="1844824"/>
            <a:ext cx="7166024" cy="3312804"/>
          </a:xfrm>
          <a:prstGeom prst="rect">
            <a:avLst/>
          </a:prstGeom>
        </p:spPr>
      </p:pic>
      <p:pic>
        <p:nvPicPr>
          <p:cNvPr id="7" name="Afbeelding 6" descr="Afbeelding met schermopname, Rechthoek, plein, ontwerp&#10;&#10;Door AI gegenereerde inhoud is mogelijk onjuist.">
            <a:extLst>
              <a:ext uri="{FF2B5EF4-FFF2-40B4-BE49-F238E27FC236}">
                <a16:creationId xmlns:a16="http://schemas.microsoft.com/office/drawing/2014/main" id="{4C103E87-85F2-119D-5C18-5A877411D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0" y="1572329"/>
            <a:ext cx="3744416" cy="372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42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8EEA0-1EE9-79A0-4381-32624CE6C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E082D76-384A-F6F9-9B63-C26A5D45031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417" y="2851597"/>
            <a:ext cx="10972800" cy="433387"/>
          </a:xfrm>
        </p:spPr>
        <p:txBody>
          <a:bodyPr/>
          <a:lstStyle/>
          <a:p>
            <a:r>
              <a:rPr lang="nl-BE" sz="6000" dirty="0"/>
              <a:t>Ontwerp van de tool</a:t>
            </a:r>
          </a:p>
        </p:txBody>
      </p:sp>
    </p:spTree>
    <p:extLst>
      <p:ext uri="{BB962C8B-B14F-4D97-AF65-F5344CB8AC3E}">
        <p14:creationId xmlns:p14="http://schemas.microsoft.com/office/powerpoint/2010/main" val="1890365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3E3FD-B874-A2B6-6CD9-A5D760D92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4C4752D-D7BE-8610-064F-A139142E78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764704"/>
            <a:ext cx="10598968" cy="5145435"/>
          </a:xfrm>
        </p:spPr>
        <p:txBody>
          <a:bodyPr/>
          <a:lstStyle/>
          <a:p>
            <a:r>
              <a:rPr lang="nl-BE" sz="2400" dirty="0"/>
              <a:t>Single-page webapplicatie</a:t>
            </a:r>
          </a:p>
          <a:p>
            <a:endParaRPr lang="nl-BE" sz="2400" dirty="0"/>
          </a:p>
          <a:p>
            <a:r>
              <a:rPr lang="nl-BE" sz="2400" dirty="0" err="1"/>
              <a:t>React</a:t>
            </a:r>
            <a:endParaRPr lang="nl-BE" sz="2400" dirty="0"/>
          </a:p>
          <a:p>
            <a:endParaRPr lang="nl-BE" sz="2400" dirty="0"/>
          </a:p>
          <a:p>
            <a:r>
              <a:rPr lang="nl-BE" sz="2400" dirty="0"/>
              <a:t>Next.js</a:t>
            </a:r>
          </a:p>
          <a:p>
            <a:endParaRPr lang="nl-BE" sz="2400" dirty="0"/>
          </a:p>
          <a:p>
            <a:r>
              <a:rPr lang="nl-BE" sz="2400" dirty="0"/>
              <a:t>D3 </a:t>
            </a:r>
            <a:r>
              <a:rPr lang="nl-BE" sz="2400" dirty="0" err="1"/>
              <a:t>library</a:t>
            </a:r>
            <a:endParaRPr lang="nl-BE" sz="2400" dirty="0"/>
          </a:p>
          <a:p>
            <a:endParaRPr lang="nl-BE" sz="2400" dirty="0"/>
          </a:p>
          <a:p>
            <a:r>
              <a:rPr lang="nl-BE" sz="2400" dirty="0"/>
              <a:t>Node opbouw:</a:t>
            </a:r>
          </a:p>
          <a:p>
            <a:pPr lvl="1"/>
            <a:r>
              <a:rPr lang="nl-BE" sz="2000" dirty="0" err="1"/>
              <a:t>Children</a:t>
            </a:r>
            <a:endParaRPr lang="nl-BE" sz="2000" dirty="0"/>
          </a:p>
          <a:p>
            <a:pPr lvl="1"/>
            <a:r>
              <a:rPr lang="nl-BE" sz="2000" dirty="0" err="1"/>
              <a:t>Danger</a:t>
            </a:r>
            <a:r>
              <a:rPr lang="nl-BE" sz="2000" dirty="0"/>
              <a:t> rating</a:t>
            </a:r>
          </a:p>
          <a:p>
            <a:pPr lvl="1"/>
            <a:r>
              <a:rPr lang="nl-BE" sz="2000" dirty="0"/>
              <a:t>Level</a:t>
            </a:r>
          </a:p>
          <a:p>
            <a:pPr lvl="1"/>
            <a:r>
              <a:rPr lang="nl-BE" sz="2000" dirty="0"/>
              <a:t>Status</a:t>
            </a:r>
          </a:p>
          <a:p>
            <a:pPr lvl="1"/>
            <a:endParaRPr lang="nl-BE" sz="260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48104DA-F952-4746-3EB8-7286CC1AE574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l-BE" dirty="0"/>
              <a:t>De basis van de tool</a:t>
            </a:r>
          </a:p>
        </p:txBody>
      </p:sp>
    </p:spTree>
    <p:extLst>
      <p:ext uri="{BB962C8B-B14F-4D97-AF65-F5344CB8AC3E}">
        <p14:creationId xmlns:p14="http://schemas.microsoft.com/office/powerpoint/2010/main" val="3974817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E1C16-B24A-4614-0C74-58E2E58B8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1B4FCF74-C7F0-6D60-FC6F-B97C9C91D1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016" y="2592759"/>
            <a:ext cx="5750279" cy="3428529"/>
          </a:xfrm>
          <a:prstGeom prst="rect">
            <a:avLst/>
          </a:prstGeom>
        </p:spPr>
      </p:pic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CDBF585-D1C7-2E45-2FBB-A1686646F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764704"/>
            <a:ext cx="4334272" cy="5156721"/>
          </a:xfrm>
        </p:spPr>
        <p:txBody>
          <a:bodyPr/>
          <a:lstStyle/>
          <a:p>
            <a:r>
              <a:rPr lang="nl-BE" sz="2400" dirty="0"/>
              <a:t>Onderzocht</a:t>
            </a:r>
            <a:r>
              <a:rPr lang="nl-BE" sz="2800" dirty="0"/>
              <a:t>:</a:t>
            </a:r>
          </a:p>
          <a:p>
            <a:pPr lvl="1"/>
            <a:r>
              <a:rPr lang="nl-BE" sz="2000" dirty="0" err="1"/>
              <a:t>Treemaps</a:t>
            </a:r>
            <a:endParaRPr lang="nl-BE" sz="2000" dirty="0"/>
          </a:p>
          <a:p>
            <a:pPr lvl="1"/>
            <a:r>
              <a:rPr lang="nl-BE" sz="2000" dirty="0"/>
              <a:t>Circulaire </a:t>
            </a:r>
            <a:r>
              <a:rPr lang="nl-BE" sz="2000" dirty="0" err="1"/>
              <a:t>treemaps</a:t>
            </a:r>
            <a:endParaRPr lang="nl-BE" sz="200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E88FC11-15BC-F760-ED2C-6ED3695317CF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l-BE" dirty="0"/>
              <a:t>Visualisatie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37685CBF-9963-B4D7-9E1C-A8B82DACD5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58" y="2586431"/>
            <a:ext cx="5483835" cy="3362849"/>
          </a:xfrm>
          <a:prstGeom prst="rect">
            <a:avLst/>
          </a:prstGeom>
        </p:spPr>
      </p:pic>
      <p:sp>
        <p:nvSpPr>
          <p:cNvPr id="8" name="Tijdelijke aanduiding voor inhoud 3">
            <a:extLst>
              <a:ext uri="{FF2B5EF4-FFF2-40B4-BE49-F238E27FC236}">
                <a16:creationId xmlns:a16="http://schemas.microsoft.com/office/drawing/2014/main" id="{19C37285-2DCC-E6A3-140D-3B84147CFDC0}"/>
              </a:ext>
            </a:extLst>
          </p:cNvPr>
          <p:cNvSpPr txBox="1">
            <a:spLocks/>
          </p:cNvSpPr>
          <p:nvPr/>
        </p:nvSpPr>
        <p:spPr bwMode="auto">
          <a:xfrm>
            <a:off x="5807968" y="620688"/>
            <a:ext cx="5404402" cy="508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nl-BE" sz="2400" dirty="0"/>
              <a:t>Structuur:</a:t>
            </a:r>
          </a:p>
          <a:p>
            <a:pPr lvl="2"/>
            <a:r>
              <a:rPr lang="nl-BE" sz="2000" dirty="0"/>
              <a:t>Goed ruimtegebruik</a:t>
            </a:r>
          </a:p>
          <a:p>
            <a:pPr lvl="2"/>
            <a:r>
              <a:rPr lang="nl-BE" sz="2000" dirty="0"/>
              <a:t>Onduidelijke sequentiële weergave</a:t>
            </a:r>
          </a:p>
          <a:p>
            <a:pPr lvl="2"/>
            <a:r>
              <a:rPr lang="nl-BE" sz="2000" dirty="0"/>
              <a:t>Onduidelijk </a:t>
            </a:r>
            <a:r>
              <a:rPr lang="nl-BE" sz="2000" dirty="0" err="1"/>
              <a:t>parent-child</a:t>
            </a:r>
            <a:r>
              <a:rPr lang="nl-BE" sz="2000" dirty="0"/>
              <a:t> relatie</a:t>
            </a:r>
          </a:p>
        </p:txBody>
      </p:sp>
    </p:spTree>
    <p:extLst>
      <p:ext uri="{BB962C8B-B14F-4D97-AF65-F5344CB8AC3E}">
        <p14:creationId xmlns:p14="http://schemas.microsoft.com/office/powerpoint/2010/main" val="3979329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AE051-F32C-49F0-50F8-EB31376FC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FCB47AC-5EF7-8B08-7AE0-CA3953DE4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764705"/>
            <a:ext cx="4694312" cy="1800200"/>
          </a:xfrm>
        </p:spPr>
        <p:txBody>
          <a:bodyPr/>
          <a:lstStyle/>
          <a:p>
            <a:r>
              <a:rPr lang="nl-BE" sz="2400" dirty="0"/>
              <a:t>Geïmplementeerd:</a:t>
            </a:r>
          </a:p>
          <a:p>
            <a:pPr lvl="1"/>
            <a:r>
              <a:rPr lang="nl-BE" sz="2000" dirty="0"/>
              <a:t>Horizontale tree lay-outs</a:t>
            </a:r>
          </a:p>
          <a:p>
            <a:pPr lvl="1"/>
            <a:r>
              <a:rPr lang="nl-BE" sz="2000" dirty="0"/>
              <a:t>Verticale tree lay-outs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BD87DF1-858C-F73A-6B20-217663F7DD29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l-BE" dirty="0"/>
              <a:t>Visualisatie</a:t>
            </a:r>
          </a:p>
        </p:txBody>
      </p:sp>
      <p:pic>
        <p:nvPicPr>
          <p:cNvPr id="5" name="Afbeelding 4" descr="Afbeelding met diagram, schermopname, lijn, ontwerp&#10;&#10;Door AI gegenereerde inhoud is mogelijk onjuist.">
            <a:extLst>
              <a:ext uri="{FF2B5EF4-FFF2-40B4-BE49-F238E27FC236}">
                <a16:creationId xmlns:a16="http://schemas.microsoft.com/office/drawing/2014/main" id="{3837FFD8-9E7D-5395-94A6-372C75F179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56" y="641837"/>
            <a:ext cx="5328592" cy="2643147"/>
          </a:xfrm>
          <a:prstGeom prst="rect">
            <a:avLst/>
          </a:prstGeom>
        </p:spPr>
      </p:pic>
      <p:pic>
        <p:nvPicPr>
          <p:cNvPr id="7" name="Afbeelding 6" descr="Afbeelding met diagram, lijn, origami, ontwerp&#10;&#10;Door AI gegenereerde inhoud is mogelijk onjuist.">
            <a:extLst>
              <a:ext uri="{FF2B5EF4-FFF2-40B4-BE49-F238E27FC236}">
                <a16:creationId xmlns:a16="http://schemas.microsoft.com/office/drawing/2014/main" id="{B763E27B-08A5-1C25-1057-E72A403EB0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744" y="3727177"/>
            <a:ext cx="8064896" cy="2366118"/>
          </a:xfrm>
          <a:prstGeom prst="rect">
            <a:avLst/>
          </a:prstGeom>
        </p:spPr>
      </p:pic>
      <p:sp>
        <p:nvSpPr>
          <p:cNvPr id="8" name="Tijdelijke aanduiding voor inhoud 3">
            <a:extLst>
              <a:ext uri="{FF2B5EF4-FFF2-40B4-BE49-F238E27FC236}">
                <a16:creationId xmlns:a16="http://schemas.microsoft.com/office/drawing/2014/main" id="{2A84B892-B1C1-DD30-92FD-C7493A2EEA49}"/>
              </a:ext>
            </a:extLst>
          </p:cNvPr>
          <p:cNvSpPr txBox="1">
            <a:spLocks/>
          </p:cNvSpPr>
          <p:nvPr/>
        </p:nvSpPr>
        <p:spPr bwMode="auto">
          <a:xfrm>
            <a:off x="624417" y="2492896"/>
            <a:ext cx="4694312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2400" dirty="0"/>
              <a:t>Structuur:</a:t>
            </a:r>
          </a:p>
          <a:p>
            <a:pPr lvl="1"/>
            <a:r>
              <a:rPr lang="nl-BE" sz="2000" dirty="0"/>
              <a:t>Onvoldoende leesbaarheid</a:t>
            </a:r>
          </a:p>
          <a:p>
            <a:pPr lvl="1"/>
            <a:r>
              <a:rPr lang="nl-BE" sz="2000" dirty="0"/>
              <a:t>Onvoldoende overzicht</a:t>
            </a:r>
          </a:p>
          <a:p>
            <a:pPr lvl="1"/>
            <a:r>
              <a:rPr lang="nl-BE" sz="2000" dirty="0"/>
              <a:t>Teveel witruimte</a:t>
            </a:r>
          </a:p>
        </p:txBody>
      </p:sp>
    </p:spTree>
    <p:extLst>
      <p:ext uri="{BB962C8B-B14F-4D97-AF65-F5344CB8AC3E}">
        <p14:creationId xmlns:p14="http://schemas.microsoft.com/office/powerpoint/2010/main" val="2181810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4FEAD-0F39-046C-AF9D-F96EB4390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10D7540-E64B-07D1-EB89-0B29A0945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764705"/>
            <a:ext cx="5054352" cy="1008112"/>
          </a:xfrm>
        </p:spPr>
        <p:txBody>
          <a:bodyPr/>
          <a:lstStyle/>
          <a:p>
            <a:r>
              <a:rPr lang="nl-BE" sz="2400" dirty="0"/>
              <a:t>Ontwikkelde implementatie:</a:t>
            </a:r>
          </a:p>
          <a:p>
            <a:pPr lvl="1"/>
            <a:r>
              <a:rPr lang="nl-BE" sz="2000" dirty="0"/>
              <a:t>Fileview-geïnspireerde lay-out</a:t>
            </a:r>
          </a:p>
          <a:p>
            <a:pPr lvl="1"/>
            <a:endParaRPr lang="nl-BE" sz="260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2A1B5D3-2C93-474F-D4B6-B197A34C533C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l-BE" dirty="0"/>
              <a:t>Gekozen visualisatie</a:t>
            </a:r>
          </a:p>
        </p:txBody>
      </p:sp>
      <p:pic>
        <p:nvPicPr>
          <p:cNvPr id="2" name="Afbeelding 1" descr="Afbeelding met schermopname, ontwerp&#10;&#10;Door AI gegenereerde inhoud is mogelijk onjuist.">
            <a:extLst>
              <a:ext uri="{FF2B5EF4-FFF2-40B4-BE49-F238E27FC236}">
                <a16:creationId xmlns:a16="http://schemas.microsoft.com/office/drawing/2014/main" id="{630A8C63-9521-27C2-EECF-E9CC822E1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016" y="764704"/>
            <a:ext cx="4197469" cy="5113802"/>
          </a:xfrm>
          <a:prstGeom prst="rect">
            <a:avLst/>
          </a:prstGeom>
        </p:spPr>
      </p:pic>
      <p:sp>
        <p:nvSpPr>
          <p:cNvPr id="3" name="Tijdelijke aanduiding voor inhoud 3">
            <a:extLst>
              <a:ext uri="{FF2B5EF4-FFF2-40B4-BE49-F238E27FC236}">
                <a16:creationId xmlns:a16="http://schemas.microsoft.com/office/drawing/2014/main" id="{787D27E9-FBC9-720D-1EF2-99887F274E22}"/>
              </a:ext>
            </a:extLst>
          </p:cNvPr>
          <p:cNvSpPr txBox="1">
            <a:spLocks/>
          </p:cNvSpPr>
          <p:nvPr/>
        </p:nvSpPr>
        <p:spPr bwMode="auto">
          <a:xfrm>
            <a:off x="624417" y="2060848"/>
            <a:ext cx="5054352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2400" dirty="0"/>
              <a:t>Structuur:</a:t>
            </a:r>
          </a:p>
          <a:p>
            <a:pPr lvl="1"/>
            <a:r>
              <a:rPr lang="nl-BE" sz="2000" dirty="0"/>
              <a:t>Compact</a:t>
            </a:r>
          </a:p>
          <a:p>
            <a:pPr lvl="1"/>
            <a:r>
              <a:rPr lang="nl-BE" sz="2000" dirty="0" err="1"/>
              <a:t>Hiërachische</a:t>
            </a:r>
            <a:r>
              <a:rPr lang="nl-BE" sz="2000" dirty="0"/>
              <a:t> bestandweergave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nl-BE" sz="1800" dirty="0"/>
              <a:t>Bekend voor IT</a:t>
            </a:r>
          </a:p>
          <a:p>
            <a:pPr lvl="1"/>
            <a:r>
              <a:rPr lang="nl-BE" sz="2000" dirty="0"/>
              <a:t>Duidelijke lineaire volgorde</a:t>
            </a:r>
          </a:p>
          <a:p>
            <a:pPr lvl="1"/>
            <a:r>
              <a:rPr lang="nl-BE" sz="2000" dirty="0"/>
              <a:t>Optimaal schermgebruik</a:t>
            </a:r>
          </a:p>
        </p:txBody>
      </p:sp>
    </p:spTree>
    <p:extLst>
      <p:ext uri="{BB962C8B-B14F-4D97-AF65-F5344CB8AC3E}">
        <p14:creationId xmlns:p14="http://schemas.microsoft.com/office/powerpoint/2010/main" val="1330565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30DE-4331-57E7-486B-BEBD8347D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00769C2-8543-6EF4-9286-279C19B59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764704"/>
            <a:ext cx="10598968" cy="5145435"/>
          </a:xfrm>
        </p:spPr>
        <p:txBody>
          <a:bodyPr/>
          <a:lstStyle/>
          <a:p>
            <a:pPr lvl="1"/>
            <a:endParaRPr lang="nl-BE" sz="2400" dirty="0"/>
          </a:p>
          <a:p>
            <a:pPr lvl="1"/>
            <a:endParaRPr lang="nl-BE" sz="2400" dirty="0"/>
          </a:p>
          <a:p>
            <a:pPr lvl="1"/>
            <a:r>
              <a:rPr lang="nl-BE" sz="2400" dirty="0"/>
              <a:t>Nodes aanmaken</a:t>
            </a:r>
          </a:p>
          <a:p>
            <a:pPr lvl="1"/>
            <a:endParaRPr lang="nl-BE" sz="2400" dirty="0"/>
          </a:p>
          <a:p>
            <a:pPr lvl="1"/>
            <a:r>
              <a:rPr lang="nl-BE" sz="2400" dirty="0"/>
              <a:t>Nodes hernoemen</a:t>
            </a:r>
          </a:p>
          <a:p>
            <a:pPr lvl="1"/>
            <a:endParaRPr lang="nl-BE" sz="2400" dirty="0"/>
          </a:p>
          <a:p>
            <a:pPr lvl="1"/>
            <a:r>
              <a:rPr lang="nl-BE" sz="2400" dirty="0"/>
              <a:t>Uit- en inklappen van branches</a:t>
            </a:r>
          </a:p>
          <a:p>
            <a:pPr lvl="1"/>
            <a:endParaRPr lang="nl-BE" sz="2400" dirty="0"/>
          </a:p>
          <a:p>
            <a:pPr lvl="1"/>
            <a:r>
              <a:rPr lang="nl-BE" sz="2400" dirty="0"/>
              <a:t>Eenvoudige </a:t>
            </a:r>
            <a:r>
              <a:rPr lang="nl-BE" sz="2400" dirty="0" err="1"/>
              <a:t>zoekfuntie</a:t>
            </a:r>
            <a:endParaRPr lang="nl-BE" sz="240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1E9059D6-0C4B-D526-E1EF-1D86DDD8FDF3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l-BE" dirty="0"/>
              <a:t>Basisfuncties van de tool</a:t>
            </a:r>
          </a:p>
        </p:txBody>
      </p:sp>
    </p:spTree>
    <p:extLst>
      <p:ext uri="{BB962C8B-B14F-4D97-AF65-F5344CB8AC3E}">
        <p14:creationId xmlns:p14="http://schemas.microsoft.com/office/powerpoint/2010/main" val="3312610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C951A-BBEE-EA44-D0F8-C22C15984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B12B180-CA5E-AAB0-23F4-16862F5C8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764704"/>
            <a:ext cx="10598968" cy="5145435"/>
          </a:xfrm>
        </p:spPr>
        <p:txBody>
          <a:bodyPr/>
          <a:lstStyle/>
          <a:p>
            <a:pPr lvl="1"/>
            <a:endParaRPr lang="nl-BE" sz="2400" dirty="0"/>
          </a:p>
          <a:p>
            <a:pPr lvl="1"/>
            <a:r>
              <a:rPr lang="nl-BE" sz="2400" dirty="0"/>
              <a:t>Focus op:</a:t>
            </a:r>
          </a:p>
          <a:p>
            <a:pPr lvl="2"/>
            <a:r>
              <a:rPr lang="nl-BE" sz="2200" dirty="0"/>
              <a:t>Gebruiksgemak</a:t>
            </a:r>
          </a:p>
          <a:p>
            <a:pPr lvl="2"/>
            <a:r>
              <a:rPr lang="nl-BE" sz="2200" dirty="0"/>
              <a:t>Efficiëntie</a:t>
            </a:r>
          </a:p>
          <a:p>
            <a:pPr lvl="1"/>
            <a:endParaRPr lang="nl-BE" sz="2400" dirty="0"/>
          </a:p>
          <a:p>
            <a:pPr lvl="1"/>
            <a:r>
              <a:rPr lang="nl-BE" sz="2400" dirty="0"/>
              <a:t>Features:</a:t>
            </a:r>
          </a:p>
          <a:p>
            <a:pPr lvl="2"/>
            <a:r>
              <a:rPr lang="nl-BE" sz="2200" dirty="0"/>
              <a:t>Duidelijke node visualisatie</a:t>
            </a:r>
          </a:p>
          <a:p>
            <a:pPr lvl="2"/>
            <a:r>
              <a:rPr lang="nl-BE" sz="2200" dirty="0"/>
              <a:t>Statusiconen</a:t>
            </a:r>
          </a:p>
          <a:p>
            <a:pPr lvl="2"/>
            <a:r>
              <a:rPr lang="nl-BE" sz="2200" dirty="0" err="1"/>
              <a:t>Danger</a:t>
            </a:r>
            <a:r>
              <a:rPr lang="nl-BE" sz="2200" dirty="0"/>
              <a:t> rating</a:t>
            </a:r>
          </a:p>
          <a:p>
            <a:pPr lvl="2"/>
            <a:r>
              <a:rPr lang="nl-BE" sz="2200" dirty="0" err="1"/>
              <a:t>Branch</a:t>
            </a:r>
            <a:r>
              <a:rPr lang="nl-BE" sz="2200" dirty="0"/>
              <a:t> summary</a:t>
            </a:r>
          </a:p>
          <a:p>
            <a:pPr lvl="2"/>
            <a:r>
              <a:rPr lang="nl-BE" sz="2200" dirty="0"/>
              <a:t>Filterlogica</a:t>
            </a:r>
          </a:p>
          <a:p>
            <a:pPr lvl="2"/>
            <a:endParaRPr lang="nl-BE" sz="220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353A175-DBC7-8722-A3CF-405CFF1A1A48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l-BE" dirty="0"/>
              <a:t>Toegevoegde features</a:t>
            </a:r>
          </a:p>
        </p:txBody>
      </p:sp>
    </p:spTree>
    <p:extLst>
      <p:ext uri="{BB962C8B-B14F-4D97-AF65-F5344CB8AC3E}">
        <p14:creationId xmlns:p14="http://schemas.microsoft.com/office/powerpoint/2010/main" val="1171651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1B360-BCBC-76AA-B12D-DC5EE62D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8C44A0A-55C1-5800-DD20-A5DC9A81D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764704"/>
            <a:ext cx="10598968" cy="5145435"/>
          </a:xfrm>
        </p:spPr>
        <p:txBody>
          <a:bodyPr/>
          <a:lstStyle/>
          <a:p>
            <a:pPr lvl="1"/>
            <a:endParaRPr lang="nl-BE" sz="2400" dirty="0"/>
          </a:p>
          <a:p>
            <a:pPr lvl="1"/>
            <a:r>
              <a:rPr lang="nl-BE" sz="2400" dirty="0" err="1"/>
              <a:t>Fortunately</a:t>
            </a:r>
            <a:r>
              <a:rPr lang="nl-BE" sz="2400" dirty="0"/>
              <a:t> –&gt; Groen</a:t>
            </a:r>
          </a:p>
          <a:p>
            <a:pPr lvl="1"/>
            <a:r>
              <a:rPr lang="nl-BE" sz="2400" dirty="0" err="1"/>
              <a:t>Unfortunately</a:t>
            </a:r>
            <a:r>
              <a:rPr lang="nl-BE" sz="2400" dirty="0"/>
              <a:t> -&gt; Rood</a:t>
            </a:r>
          </a:p>
          <a:p>
            <a:pPr lvl="1"/>
            <a:r>
              <a:rPr lang="nl-BE" sz="2400" dirty="0"/>
              <a:t>Consistente vormgeving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57741DE-43F0-BB73-8190-62928B40676C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l-BE" dirty="0"/>
              <a:t>Node visualisatie</a:t>
            </a:r>
          </a:p>
        </p:txBody>
      </p:sp>
      <p:pic>
        <p:nvPicPr>
          <p:cNvPr id="2" name="Afbeelding 1" descr="Afbeelding met tekst, schermopname, Lettertype, lijn&#10;&#10;Door AI gegenereerde inhoud is mogelijk onjuist.">
            <a:extLst>
              <a:ext uri="{FF2B5EF4-FFF2-40B4-BE49-F238E27FC236}">
                <a16:creationId xmlns:a16="http://schemas.microsoft.com/office/drawing/2014/main" id="{40903ECD-1973-9192-C053-0D36D437F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624" y="2796400"/>
            <a:ext cx="5328592" cy="1370761"/>
          </a:xfrm>
          <a:prstGeom prst="rect">
            <a:avLst/>
          </a:prstGeom>
        </p:spPr>
      </p:pic>
      <p:pic>
        <p:nvPicPr>
          <p:cNvPr id="3" name="Afbeelding 2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53491071-8E08-08ED-66D1-CA7520052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625" y="4490787"/>
            <a:ext cx="5427808" cy="131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875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6817A-F104-825A-EF80-3333B006C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D2F4FE6-A34E-1230-5275-DB2283237C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764704"/>
            <a:ext cx="10598968" cy="5145435"/>
          </a:xfrm>
        </p:spPr>
        <p:txBody>
          <a:bodyPr/>
          <a:lstStyle/>
          <a:p>
            <a:pPr lvl="1"/>
            <a:r>
              <a:rPr lang="nl-BE" sz="2400" dirty="0"/>
              <a:t>Statussen:</a:t>
            </a:r>
          </a:p>
          <a:p>
            <a:pPr lvl="2"/>
            <a:r>
              <a:rPr lang="nl-BE" sz="2200" dirty="0" err="1"/>
              <a:t>Weakness</a:t>
            </a:r>
            <a:endParaRPr lang="nl-BE" sz="2200" dirty="0"/>
          </a:p>
          <a:p>
            <a:pPr lvl="2"/>
            <a:r>
              <a:rPr lang="nl-BE" sz="2200" dirty="0" err="1"/>
              <a:t>Weakness</a:t>
            </a:r>
            <a:r>
              <a:rPr lang="nl-BE" sz="2200" dirty="0"/>
              <a:t> Under Review</a:t>
            </a:r>
          </a:p>
          <a:p>
            <a:pPr lvl="2"/>
            <a:r>
              <a:rPr lang="nl-BE" sz="2200" dirty="0" err="1"/>
              <a:t>Assumption</a:t>
            </a:r>
            <a:r>
              <a:rPr lang="nl-BE" sz="2200" dirty="0"/>
              <a:t> Under Review</a:t>
            </a:r>
          </a:p>
          <a:p>
            <a:pPr lvl="2"/>
            <a:r>
              <a:rPr lang="nl-BE" sz="2200" dirty="0" err="1"/>
              <a:t>Verified</a:t>
            </a:r>
            <a:r>
              <a:rPr lang="nl-BE" sz="2200" dirty="0"/>
              <a:t> </a:t>
            </a:r>
            <a:r>
              <a:rPr lang="nl-BE" sz="2200" dirty="0" err="1"/>
              <a:t>Assumption</a:t>
            </a:r>
            <a:endParaRPr lang="nl-BE" sz="2200" dirty="0"/>
          </a:p>
          <a:p>
            <a:pPr lvl="2"/>
            <a:endParaRPr lang="nl-BE" sz="2200" dirty="0"/>
          </a:p>
          <a:p>
            <a:pPr lvl="1"/>
            <a:r>
              <a:rPr lang="nl-BE" sz="2400" dirty="0"/>
              <a:t>Schild-icoon weergave</a:t>
            </a:r>
          </a:p>
          <a:p>
            <a:pPr lvl="2"/>
            <a:r>
              <a:rPr lang="nl-BE" sz="2200" dirty="0"/>
              <a:t>Associatie beveiliging</a:t>
            </a:r>
          </a:p>
          <a:p>
            <a:pPr lvl="2"/>
            <a:endParaRPr lang="nl-BE" sz="2200" dirty="0"/>
          </a:p>
          <a:p>
            <a:pPr lvl="1"/>
            <a:r>
              <a:rPr lang="nl-BE" sz="2400" dirty="0"/>
              <a:t>Context afhankelijke selectie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CDA3C2B-FD4F-2021-A689-D1F54F84AB97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l-BE" dirty="0"/>
              <a:t>Statusiconen</a:t>
            </a:r>
          </a:p>
        </p:txBody>
      </p:sp>
      <p:grpSp>
        <p:nvGrpSpPr>
          <p:cNvPr id="2" name="Groep 1">
            <a:extLst>
              <a:ext uri="{FF2B5EF4-FFF2-40B4-BE49-F238E27FC236}">
                <a16:creationId xmlns:a16="http://schemas.microsoft.com/office/drawing/2014/main" id="{2D82A638-F4F8-57F7-E97F-08B316A51F3D}"/>
              </a:ext>
            </a:extLst>
          </p:cNvPr>
          <p:cNvGrpSpPr/>
          <p:nvPr/>
        </p:nvGrpSpPr>
        <p:grpSpPr>
          <a:xfrm>
            <a:off x="6456040" y="1268760"/>
            <a:ext cx="5052611" cy="3096344"/>
            <a:chOff x="0" y="0"/>
            <a:chExt cx="2971800" cy="1821180"/>
          </a:xfrm>
        </p:grpSpPr>
        <p:pic>
          <p:nvPicPr>
            <p:cNvPr id="3" name="Afbeelding 2">
              <a:extLst>
                <a:ext uri="{FF2B5EF4-FFF2-40B4-BE49-F238E27FC236}">
                  <a16:creationId xmlns:a16="http://schemas.microsoft.com/office/drawing/2014/main" id="{2ACD2AEC-5A40-3BAE-5BFA-AF337F6C1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33600" y="7621"/>
              <a:ext cx="838200" cy="784859"/>
            </a:xfrm>
            <a:prstGeom prst="rect">
              <a:avLst/>
            </a:prstGeom>
          </p:spPr>
        </p:pic>
        <p:pic>
          <p:nvPicPr>
            <p:cNvPr id="5" name="Afbeelding 4">
              <a:extLst>
                <a:ext uri="{FF2B5EF4-FFF2-40B4-BE49-F238E27FC236}">
                  <a16:creationId xmlns:a16="http://schemas.microsoft.com/office/drawing/2014/main" id="{8E5C5C7E-4990-4738-13C0-458385257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04800" y="13879"/>
              <a:ext cx="822960" cy="749481"/>
            </a:xfrm>
            <a:prstGeom prst="rect">
              <a:avLst/>
            </a:prstGeom>
          </p:spPr>
        </p:pic>
        <p:pic>
          <p:nvPicPr>
            <p:cNvPr id="7" name="Afbeelding 6" descr="Afbeelding met schermopname, clipart, ontwerp&#10;&#10;Door AI gegenereerde inhoud is mogelijk onjuist.">
              <a:extLst>
                <a:ext uri="{FF2B5EF4-FFF2-40B4-BE49-F238E27FC236}">
                  <a16:creationId xmlns:a16="http://schemas.microsoft.com/office/drawing/2014/main" id="{20C45C50-845A-86B0-BA24-2F669D8B8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5980" y="1051560"/>
              <a:ext cx="838200" cy="769620"/>
            </a:xfrm>
            <a:prstGeom prst="rect">
              <a:avLst/>
            </a:prstGeom>
          </p:spPr>
        </p:pic>
        <p:pic>
          <p:nvPicPr>
            <p:cNvPr id="8" name="Afbeelding 7" descr="Afbeelding met schermopname, diagram, symbool, ontwerp&#10;&#10;Door AI gegenereerde inhoud is mogelijk onjuist.">
              <a:extLst>
                <a:ext uri="{FF2B5EF4-FFF2-40B4-BE49-F238E27FC236}">
                  <a16:creationId xmlns:a16="http://schemas.microsoft.com/office/drawing/2014/main" id="{0E79CA78-72BC-FF38-F089-3FE81ADFB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800" y="1051560"/>
              <a:ext cx="800100" cy="762000"/>
            </a:xfrm>
            <a:prstGeom prst="rect">
              <a:avLst/>
            </a:prstGeom>
          </p:spPr>
        </p:pic>
        <p:sp>
          <p:nvSpPr>
            <p:cNvPr id="9" name="Tekstvak 2">
              <a:extLst>
                <a:ext uri="{FF2B5EF4-FFF2-40B4-BE49-F238E27FC236}">
                  <a16:creationId xmlns:a16="http://schemas.microsoft.com/office/drawing/2014/main" id="{7020E25A-63F0-9176-027D-9DFCEF89D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" y="7620"/>
              <a:ext cx="335280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nl-BE" sz="12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a)</a:t>
              </a:r>
            </a:p>
          </p:txBody>
        </p:sp>
        <p:sp>
          <p:nvSpPr>
            <p:cNvPr id="10" name="Tekstvak 2">
              <a:extLst>
                <a:ext uri="{FF2B5EF4-FFF2-40B4-BE49-F238E27FC236}">
                  <a16:creationId xmlns:a16="http://schemas.microsoft.com/office/drawing/2014/main" id="{19E68D19-8FE2-0FEF-1845-B771B8FAE7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800" y="0"/>
              <a:ext cx="335280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nl-BE" sz="12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b)</a:t>
              </a:r>
            </a:p>
          </p:txBody>
        </p:sp>
        <p:sp>
          <p:nvSpPr>
            <p:cNvPr id="11" name="Tekstvak 2">
              <a:extLst>
                <a:ext uri="{FF2B5EF4-FFF2-40B4-BE49-F238E27FC236}">
                  <a16:creationId xmlns:a16="http://schemas.microsoft.com/office/drawing/2014/main" id="{DCCEEE11-402A-5D86-CC8B-F229564CA6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051560"/>
              <a:ext cx="335280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nl-BE" sz="12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c)</a:t>
              </a:r>
            </a:p>
          </p:txBody>
        </p:sp>
        <p:sp>
          <p:nvSpPr>
            <p:cNvPr id="12" name="Tekstvak 2">
              <a:extLst>
                <a:ext uri="{FF2B5EF4-FFF2-40B4-BE49-F238E27FC236}">
                  <a16:creationId xmlns:a16="http://schemas.microsoft.com/office/drawing/2014/main" id="{B4AA9F99-D8F8-F87A-1899-47940574E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6420" y="1051560"/>
              <a:ext cx="335280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nl-BE" sz="12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2180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C1910-3409-0B65-48ED-16D942F1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E02AB51-FD54-A637-C23C-0B9D9E011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764704"/>
            <a:ext cx="10598968" cy="5145435"/>
          </a:xfrm>
        </p:spPr>
        <p:txBody>
          <a:bodyPr/>
          <a:lstStyle/>
          <a:p>
            <a:pPr lvl="1"/>
            <a:r>
              <a:rPr lang="nl-BE" sz="2400" dirty="0"/>
              <a:t>Statussen:</a:t>
            </a:r>
          </a:p>
          <a:p>
            <a:pPr lvl="2"/>
            <a:r>
              <a:rPr lang="nl-BE" sz="2200" dirty="0" err="1"/>
              <a:t>Weakness</a:t>
            </a:r>
            <a:endParaRPr lang="nl-BE" sz="2200" dirty="0"/>
          </a:p>
          <a:p>
            <a:pPr lvl="2"/>
            <a:r>
              <a:rPr lang="nl-BE" sz="2200" dirty="0" err="1"/>
              <a:t>Weakness</a:t>
            </a:r>
            <a:r>
              <a:rPr lang="nl-BE" sz="2200" dirty="0"/>
              <a:t> Under Review</a:t>
            </a:r>
          </a:p>
          <a:p>
            <a:pPr lvl="2"/>
            <a:r>
              <a:rPr lang="nl-BE" sz="2200" dirty="0" err="1"/>
              <a:t>Assumption</a:t>
            </a:r>
            <a:r>
              <a:rPr lang="nl-BE" sz="2200" dirty="0"/>
              <a:t> Under Review</a:t>
            </a:r>
          </a:p>
          <a:p>
            <a:pPr lvl="2"/>
            <a:r>
              <a:rPr lang="nl-BE" sz="2200" dirty="0" err="1"/>
              <a:t>Verified</a:t>
            </a:r>
            <a:r>
              <a:rPr lang="nl-BE" sz="2200" dirty="0"/>
              <a:t> </a:t>
            </a:r>
            <a:r>
              <a:rPr lang="nl-BE" sz="2200" dirty="0" err="1"/>
              <a:t>Assumption</a:t>
            </a:r>
            <a:endParaRPr lang="nl-BE" sz="2200" dirty="0"/>
          </a:p>
          <a:p>
            <a:pPr lvl="2"/>
            <a:endParaRPr lang="nl-BE" sz="2200" dirty="0"/>
          </a:p>
          <a:p>
            <a:pPr lvl="1"/>
            <a:r>
              <a:rPr lang="nl-BE" sz="2400" dirty="0"/>
              <a:t>Schild-icoon weergave</a:t>
            </a:r>
          </a:p>
          <a:p>
            <a:pPr lvl="2"/>
            <a:r>
              <a:rPr lang="nl-BE" sz="2200" dirty="0"/>
              <a:t>Associatie beveiliging</a:t>
            </a:r>
          </a:p>
          <a:p>
            <a:pPr lvl="2"/>
            <a:endParaRPr lang="nl-BE" sz="2200" dirty="0"/>
          </a:p>
          <a:p>
            <a:pPr lvl="1"/>
            <a:r>
              <a:rPr lang="nl-BE" sz="2400" dirty="0"/>
              <a:t>Context afhankelijke selectie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7BBF47D-3F7B-85C9-DE3D-601D728F7E31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l-BE" dirty="0"/>
              <a:t>Statusiconen</a:t>
            </a:r>
          </a:p>
        </p:txBody>
      </p:sp>
      <p:grpSp>
        <p:nvGrpSpPr>
          <p:cNvPr id="2" name="Groep 1">
            <a:extLst>
              <a:ext uri="{FF2B5EF4-FFF2-40B4-BE49-F238E27FC236}">
                <a16:creationId xmlns:a16="http://schemas.microsoft.com/office/drawing/2014/main" id="{19164D79-2CE5-F0B8-DA3E-396057F84866}"/>
              </a:ext>
            </a:extLst>
          </p:cNvPr>
          <p:cNvGrpSpPr/>
          <p:nvPr/>
        </p:nvGrpSpPr>
        <p:grpSpPr>
          <a:xfrm>
            <a:off x="6456040" y="1268760"/>
            <a:ext cx="5052611" cy="3096344"/>
            <a:chOff x="0" y="0"/>
            <a:chExt cx="2971800" cy="1821180"/>
          </a:xfrm>
        </p:grpSpPr>
        <p:pic>
          <p:nvPicPr>
            <p:cNvPr id="3" name="Afbeelding 2">
              <a:extLst>
                <a:ext uri="{FF2B5EF4-FFF2-40B4-BE49-F238E27FC236}">
                  <a16:creationId xmlns:a16="http://schemas.microsoft.com/office/drawing/2014/main" id="{09DAC379-2DFD-9209-BAD4-C4C6DD304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33600" y="7621"/>
              <a:ext cx="838200" cy="784859"/>
            </a:xfrm>
            <a:prstGeom prst="rect">
              <a:avLst/>
            </a:prstGeom>
          </p:spPr>
        </p:pic>
        <p:pic>
          <p:nvPicPr>
            <p:cNvPr id="5" name="Afbeelding 4">
              <a:extLst>
                <a:ext uri="{FF2B5EF4-FFF2-40B4-BE49-F238E27FC236}">
                  <a16:creationId xmlns:a16="http://schemas.microsoft.com/office/drawing/2014/main" id="{FAF6D147-30ED-0633-76C3-6615A2C0D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04800" y="13879"/>
              <a:ext cx="822960" cy="749481"/>
            </a:xfrm>
            <a:prstGeom prst="rect">
              <a:avLst/>
            </a:prstGeom>
          </p:spPr>
        </p:pic>
        <p:pic>
          <p:nvPicPr>
            <p:cNvPr id="7" name="Afbeelding 6" descr="Afbeelding met schermopname, clipart, ontwerp&#10;&#10;Door AI gegenereerde inhoud is mogelijk onjuist.">
              <a:extLst>
                <a:ext uri="{FF2B5EF4-FFF2-40B4-BE49-F238E27FC236}">
                  <a16:creationId xmlns:a16="http://schemas.microsoft.com/office/drawing/2014/main" id="{03780566-E1F3-4AB4-21F2-E05133D4B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5980" y="1051560"/>
              <a:ext cx="838200" cy="769620"/>
            </a:xfrm>
            <a:prstGeom prst="rect">
              <a:avLst/>
            </a:prstGeom>
          </p:spPr>
        </p:pic>
        <p:pic>
          <p:nvPicPr>
            <p:cNvPr id="8" name="Afbeelding 7" descr="Afbeelding met schermopname, diagram, symbool, ontwerp&#10;&#10;Door AI gegenereerde inhoud is mogelijk onjuist.">
              <a:extLst>
                <a:ext uri="{FF2B5EF4-FFF2-40B4-BE49-F238E27FC236}">
                  <a16:creationId xmlns:a16="http://schemas.microsoft.com/office/drawing/2014/main" id="{4F53F89E-36C4-7BD5-EF72-13889B6A5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800" y="1051560"/>
              <a:ext cx="800100" cy="762000"/>
            </a:xfrm>
            <a:prstGeom prst="rect">
              <a:avLst/>
            </a:prstGeom>
          </p:spPr>
        </p:pic>
        <p:sp>
          <p:nvSpPr>
            <p:cNvPr id="9" name="Tekstvak 2">
              <a:extLst>
                <a:ext uri="{FF2B5EF4-FFF2-40B4-BE49-F238E27FC236}">
                  <a16:creationId xmlns:a16="http://schemas.microsoft.com/office/drawing/2014/main" id="{6FDD2EEB-A573-89F1-4F83-DA55DE0DE7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" y="7620"/>
              <a:ext cx="335280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nl-BE" sz="12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a)</a:t>
              </a:r>
            </a:p>
          </p:txBody>
        </p:sp>
        <p:sp>
          <p:nvSpPr>
            <p:cNvPr id="10" name="Tekstvak 2">
              <a:extLst>
                <a:ext uri="{FF2B5EF4-FFF2-40B4-BE49-F238E27FC236}">
                  <a16:creationId xmlns:a16="http://schemas.microsoft.com/office/drawing/2014/main" id="{E7C18BD6-A3B2-E9C2-A18A-EAEA53A5A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800" y="0"/>
              <a:ext cx="335280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nl-BE" sz="12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b)</a:t>
              </a:r>
            </a:p>
          </p:txBody>
        </p:sp>
        <p:sp>
          <p:nvSpPr>
            <p:cNvPr id="11" name="Tekstvak 2">
              <a:extLst>
                <a:ext uri="{FF2B5EF4-FFF2-40B4-BE49-F238E27FC236}">
                  <a16:creationId xmlns:a16="http://schemas.microsoft.com/office/drawing/2014/main" id="{E023DE10-13AE-DC0B-304B-F9F38C22B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051560"/>
              <a:ext cx="335280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nl-BE" sz="12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c)</a:t>
              </a:r>
            </a:p>
          </p:txBody>
        </p:sp>
        <p:sp>
          <p:nvSpPr>
            <p:cNvPr id="12" name="Tekstvak 2">
              <a:extLst>
                <a:ext uri="{FF2B5EF4-FFF2-40B4-BE49-F238E27FC236}">
                  <a16:creationId xmlns:a16="http://schemas.microsoft.com/office/drawing/2014/main" id="{2AFFE95A-DFC7-29E7-46EC-7FE1B9097C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6420" y="1051560"/>
              <a:ext cx="335280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nl-BE" sz="12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7702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EB3CD-8EB3-7FEA-AACB-BB2099D46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fbeelding 13" descr="Afbeelding met tekst, Lettertype, schermopname, lijn&#10;&#10;Door AI gegenereerde inhoud is mogelijk onjuist.">
            <a:extLst>
              <a:ext uri="{FF2B5EF4-FFF2-40B4-BE49-F238E27FC236}">
                <a16:creationId xmlns:a16="http://schemas.microsoft.com/office/drawing/2014/main" id="{42A69DE5-59AD-F04D-E101-2EB21D20D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719" y="1484784"/>
            <a:ext cx="3943145" cy="3466918"/>
          </a:xfrm>
          <a:prstGeom prst="rect">
            <a:avLst/>
          </a:prstGeom>
          <a:noFill/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ED655EFF-61DF-9558-8E59-DE95CB1A831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98981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 err="1"/>
              <a:t>Danger</a:t>
            </a:r>
            <a:r>
              <a:rPr lang="nl-BE" dirty="0"/>
              <a:t> rating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907F2D0-6483-2E68-1922-214E361A8B3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663952" y="692696"/>
            <a:ext cx="6192688" cy="5616624"/>
          </a:xfrm>
        </p:spPr>
        <p:txBody>
          <a:bodyPr wrap="square" anchor="t">
            <a:normAutofit/>
          </a:bodyPr>
          <a:lstStyle/>
          <a:p>
            <a:pPr lvl="1"/>
            <a:r>
              <a:rPr lang="nl-BE" sz="2400" dirty="0"/>
              <a:t>Kwantitatieve risico inschatting</a:t>
            </a:r>
          </a:p>
          <a:p>
            <a:pPr lvl="2"/>
            <a:endParaRPr lang="nl-BE" sz="2400" dirty="0"/>
          </a:p>
          <a:p>
            <a:pPr lvl="1"/>
            <a:r>
              <a:rPr lang="nl-BE" sz="2400" dirty="0" err="1"/>
              <a:t>Adhv</a:t>
            </a:r>
            <a:r>
              <a:rPr lang="nl-BE" sz="2400" dirty="0"/>
              <a:t> impact en </a:t>
            </a:r>
            <a:r>
              <a:rPr lang="nl-BE" sz="2400" dirty="0" err="1"/>
              <a:t>likelihood</a:t>
            </a:r>
            <a:endParaRPr lang="nl-BE" sz="2400" dirty="0"/>
          </a:p>
          <a:p>
            <a:pPr lvl="2"/>
            <a:r>
              <a:rPr lang="nl-BE" sz="2200" dirty="0"/>
              <a:t>Waarde van 1-5</a:t>
            </a:r>
          </a:p>
          <a:p>
            <a:pPr lvl="2"/>
            <a:endParaRPr lang="nl-BE" sz="2200" dirty="0"/>
          </a:p>
          <a:p>
            <a:pPr lvl="1"/>
            <a:r>
              <a:rPr lang="nl-BE" sz="2400" dirty="0" err="1"/>
              <a:t>Waarschuwingdriehoek</a:t>
            </a:r>
            <a:r>
              <a:rPr lang="nl-BE" sz="2400" dirty="0"/>
              <a:t>-icoon</a:t>
            </a:r>
          </a:p>
          <a:p>
            <a:pPr lvl="2"/>
            <a:r>
              <a:rPr lang="nl-BE" sz="2200" dirty="0"/>
              <a:t>Gevaaraanduiding dagelijks leven</a:t>
            </a:r>
          </a:p>
          <a:p>
            <a:pPr lvl="2"/>
            <a:r>
              <a:rPr lang="nl-BE" sz="2200" dirty="0"/>
              <a:t>Intuïtieve interpretatie</a:t>
            </a:r>
          </a:p>
          <a:p>
            <a:pPr lvl="2"/>
            <a:endParaRPr lang="nl-BE" sz="2200" dirty="0"/>
          </a:p>
          <a:p>
            <a:pPr lvl="1"/>
            <a:r>
              <a:rPr lang="nl-BE" sz="2400" dirty="0"/>
              <a:t>Constant zichtbaar</a:t>
            </a:r>
            <a:endParaRPr lang="nl-BE" sz="2000" dirty="0"/>
          </a:p>
          <a:p>
            <a:pPr lvl="1"/>
            <a:endParaRPr lang="nl-BE" sz="2000" dirty="0"/>
          </a:p>
          <a:p>
            <a:pPr lvl="1"/>
            <a:r>
              <a:rPr lang="nl-BE" sz="2400" dirty="0"/>
              <a:t>Bij </a:t>
            </a:r>
            <a:r>
              <a:rPr lang="nl-BE" sz="2400" dirty="0" err="1"/>
              <a:t>weaknesses</a:t>
            </a:r>
            <a:r>
              <a:rPr lang="nl-BE" sz="2400" dirty="0"/>
              <a:t> (</a:t>
            </a:r>
            <a:r>
              <a:rPr lang="nl-BE" sz="2400" dirty="0" err="1"/>
              <a:t>under</a:t>
            </a:r>
            <a:r>
              <a:rPr lang="nl-BE" sz="2400" dirty="0"/>
              <a:t> review)</a:t>
            </a:r>
          </a:p>
        </p:txBody>
      </p:sp>
    </p:spTree>
    <p:extLst>
      <p:ext uri="{BB962C8B-B14F-4D97-AF65-F5344CB8AC3E}">
        <p14:creationId xmlns:p14="http://schemas.microsoft.com/office/powerpoint/2010/main" val="2758006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D81BF-8C3A-E033-BFE8-A3EC9A56B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9FA5DFE-B3E7-D108-8C9D-5BB6E62942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80731"/>
            <a:ext cx="5384800" cy="5145435"/>
          </a:xfrm>
        </p:spPr>
        <p:txBody>
          <a:bodyPr wrap="square" anchor="t">
            <a:normAutofit/>
          </a:bodyPr>
          <a:lstStyle/>
          <a:p>
            <a:pPr lvl="1"/>
            <a:r>
              <a:rPr lang="nl-BE" sz="2000" dirty="0"/>
              <a:t>Globale context</a:t>
            </a:r>
          </a:p>
          <a:p>
            <a:pPr lvl="2"/>
            <a:r>
              <a:rPr lang="nl-BE" sz="1800" dirty="0"/>
              <a:t>Verhoging overzicht</a:t>
            </a:r>
          </a:p>
          <a:p>
            <a:pPr lvl="1"/>
            <a:endParaRPr lang="nl-BE" sz="2000" dirty="0"/>
          </a:p>
          <a:p>
            <a:pPr lvl="1"/>
            <a:r>
              <a:rPr lang="nl-BE" sz="2000" dirty="0"/>
              <a:t>Zijpaneel</a:t>
            </a:r>
          </a:p>
          <a:p>
            <a:pPr lvl="1"/>
            <a:endParaRPr lang="nl-BE" sz="2000" dirty="0"/>
          </a:p>
          <a:p>
            <a:pPr lvl="1"/>
            <a:r>
              <a:rPr lang="nl-BE" sz="2000" dirty="0"/>
              <a:t>Reconstructie:</a:t>
            </a:r>
          </a:p>
          <a:p>
            <a:pPr lvl="2"/>
            <a:r>
              <a:rPr lang="nl-BE" sz="1800" dirty="0"/>
              <a:t>Root –&gt; geselecteerde node</a:t>
            </a:r>
          </a:p>
          <a:p>
            <a:pPr marL="914400" lvl="2" indent="0">
              <a:buNone/>
            </a:pPr>
            <a:endParaRPr lang="nl-BE" sz="1800" dirty="0"/>
          </a:p>
          <a:p>
            <a:pPr lvl="1"/>
            <a:r>
              <a:rPr lang="nl-BE" sz="2000" dirty="0"/>
              <a:t>Ondersteuning taken als:</a:t>
            </a:r>
          </a:p>
          <a:p>
            <a:pPr lvl="2"/>
            <a:r>
              <a:rPr lang="nl-BE" sz="1800" dirty="0"/>
              <a:t>Samenvatten</a:t>
            </a:r>
          </a:p>
          <a:p>
            <a:pPr lvl="2"/>
            <a:r>
              <a:rPr lang="nl-BE" sz="1800" dirty="0"/>
              <a:t>Controleren keten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334CF67-E7D4-8D27-3EF7-B58121C7C1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98981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 err="1"/>
              <a:t>Branch</a:t>
            </a:r>
            <a:r>
              <a:rPr lang="nl-BE" dirty="0"/>
              <a:t> summary</a:t>
            </a:r>
          </a:p>
        </p:txBody>
      </p:sp>
      <p:pic>
        <p:nvPicPr>
          <p:cNvPr id="2" name="Afbeelding 1" descr="Afbeelding met tekst, schermopname, nummer, Lettertype&#10;&#10;Door AI gegenereerde inhoud is mogelijk onjuist.">
            <a:extLst>
              <a:ext uri="{FF2B5EF4-FFF2-40B4-BE49-F238E27FC236}">
                <a16:creationId xmlns:a16="http://schemas.microsoft.com/office/drawing/2014/main" id="{AE4DD5E7-26D0-6753-C933-AF8F9410D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963" y="980731"/>
            <a:ext cx="3576078" cy="51454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98668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2D41C-0CB8-6FFF-1E89-D5084E7B9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68E5780-3C91-C80F-9139-C501DED4B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80731"/>
            <a:ext cx="5384800" cy="5145435"/>
          </a:xfrm>
        </p:spPr>
        <p:txBody>
          <a:bodyPr wrap="square" anchor="t">
            <a:normAutofit/>
          </a:bodyPr>
          <a:lstStyle/>
          <a:p>
            <a:pPr lvl="1"/>
            <a:endParaRPr lang="nl-BE" sz="2000" dirty="0"/>
          </a:p>
          <a:p>
            <a:pPr lvl="1"/>
            <a:r>
              <a:rPr lang="nl-BE" sz="2000" dirty="0"/>
              <a:t>Filter op status</a:t>
            </a:r>
          </a:p>
          <a:p>
            <a:pPr lvl="1"/>
            <a:endParaRPr lang="nl-BE" sz="2000" dirty="0"/>
          </a:p>
          <a:p>
            <a:pPr lvl="1"/>
            <a:r>
              <a:rPr lang="nl-BE" sz="2000" dirty="0"/>
              <a:t>Werklijst</a:t>
            </a:r>
          </a:p>
          <a:p>
            <a:pPr lvl="1"/>
            <a:endParaRPr lang="nl-BE" sz="2000" dirty="0"/>
          </a:p>
          <a:p>
            <a:pPr lvl="1"/>
            <a:r>
              <a:rPr lang="nl-BE" sz="2000" dirty="0"/>
              <a:t>Prioritering</a:t>
            </a:r>
          </a:p>
          <a:p>
            <a:pPr marL="457200" lvl="1" indent="0">
              <a:buNone/>
            </a:pPr>
            <a:endParaRPr lang="nl-BE" sz="2000" dirty="0"/>
          </a:p>
          <a:p>
            <a:pPr lvl="1"/>
            <a:r>
              <a:rPr lang="nl-BE" sz="2000" dirty="0"/>
              <a:t>Ingeklapt:</a:t>
            </a:r>
          </a:p>
          <a:p>
            <a:pPr lvl="2"/>
            <a:r>
              <a:rPr lang="nl-BE" sz="1800" dirty="0"/>
              <a:t>Aantal </a:t>
            </a:r>
            <a:r>
              <a:rPr lang="nl-BE" sz="1800" dirty="0" err="1"/>
              <a:t>nodes</a:t>
            </a:r>
            <a:r>
              <a:rPr lang="nl-BE" sz="1800" dirty="0"/>
              <a:t> per status</a:t>
            </a:r>
          </a:p>
          <a:p>
            <a:pPr lvl="2"/>
            <a:r>
              <a:rPr lang="nl-BE" sz="1800" dirty="0"/>
              <a:t>Compacte schild-knop</a:t>
            </a:r>
          </a:p>
          <a:p>
            <a:pPr lvl="2"/>
            <a:r>
              <a:rPr lang="nl-BE" sz="1800" dirty="0"/>
              <a:t>Overzicht globale voortgang</a:t>
            </a:r>
          </a:p>
          <a:p>
            <a:pPr lvl="1"/>
            <a:endParaRPr lang="nl-BE" sz="200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CCCBF1-3648-9203-1FD4-990EE7EC375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98981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Filter logica</a:t>
            </a:r>
          </a:p>
        </p:txBody>
      </p:sp>
      <p:pic>
        <p:nvPicPr>
          <p:cNvPr id="3" name="Afbeelding 2" descr="Afbeelding met Lettertype, schermopname, symbool, tekst&#10;&#10;Door AI gegenereerde inhoud is mogelijk onjuist.">
            <a:extLst>
              <a:ext uri="{FF2B5EF4-FFF2-40B4-BE49-F238E27FC236}">
                <a16:creationId xmlns:a16="http://schemas.microsoft.com/office/drawing/2014/main" id="{BFD78C23-F4A8-F76A-B42D-EDF1A6AEF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176" y="1196752"/>
            <a:ext cx="1813927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18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2108-88D6-6E7C-04D7-504034859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3BC1825-566B-0FD6-487B-8002BA47CC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80731"/>
            <a:ext cx="5384800" cy="5145435"/>
          </a:xfrm>
        </p:spPr>
        <p:txBody>
          <a:bodyPr wrap="square" anchor="t">
            <a:normAutofit/>
          </a:bodyPr>
          <a:lstStyle/>
          <a:p>
            <a:pPr lvl="1"/>
            <a:r>
              <a:rPr lang="nl-BE" sz="2000" dirty="0"/>
              <a:t>Uitgeklapt:</a:t>
            </a:r>
          </a:p>
          <a:p>
            <a:pPr lvl="2"/>
            <a:r>
              <a:rPr lang="nl-BE" sz="1800" dirty="0"/>
              <a:t>Gegroepeerd per status</a:t>
            </a:r>
          </a:p>
          <a:p>
            <a:pPr lvl="2"/>
            <a:r>
              <a:rPr lang="nl-BE" sz="1800" dirty="0"/>
              <a:t>Sortering op </a:t>
            </a:r>
            <a:r>
              <a:rPr lang="nl-BE" sz="1800" dirty="0" err="1"/>
              <a:t>danger</a:t>
            </a:r>
            <a:r>
              <a:rPr lang="nl-BE" sz="1800" dirty="0"/>
              <a:t> rating</a:t>
            </a:r>
          </a:p>
          <a:p>
            <a:pPr lvl="2"/>
            <a:r>
              <a:rPr lang="nl-BE" sz="1800" dirty="0"/>
              <a:t>Kritieke </a:t>
            </a:r>
            <a:r>
              <a:rPr lang="nl-BE" sz="1800" dirty="0" err="1"/>
              <a:t>weakeness</a:t>
            </a:r>
            <a:r>
              <a:rPr lang="nl-BE" sz="1800" dirty="0"/>
              <a:t> bovenaan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A806A09-6C8D-8DD1-510E-8C94B7B4FF9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98981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Filter logica</a:t>
            </a:r>
          </a:p>
        </p:txBody>
      </p:sp>
      <p:pic>
        <p:nvPicPr>
          <p:cNvPr id="2" name="Afbeelding 1" descr="Afbeelding met tekst, schermopname, nummer, Parallel&#10;&#10;Door AI gegenereerde inhoud is mogelijk onjuist.">
            <a:extLst>
              <a:ext uri="{FF2B5EF4-FFF2-40B4-BE49-F238E27FC236}">
                <a16:creationId xmlns:a16="http://schemas.microsoft.com/office/drawing/2014/main" id="{0E430A4E-9E91-60D3-710C-AFEB88E879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056" y="2524720"/>
            <a:ext cx="4040394" cy="3568576"/>
          </a:xfrm>
          <a:prstGeom prst="rect">
            <a:avLst/>
          </a:prstGeom>
        </p:spPr>
      </p:pic>
      <p:pic>
        <p:nvPicPr>
          <p:cNvPr id="5" name="Afbeelding 4" descr="Afbeelding met tekst, schermopname, nummer, Parallel&#10;&#10;Door AI gegenereerde inhoud is mogelijk onjuist.">
            <a:extLst>
              <a:ext uri="{FF2B5EF4-FFF2-40B4-BE49-F238E27FC236}">
                <a16:creationId xmlns:a16="http://schemas.microsoft.com/office/drawing/2014/main" id="{0B37FF13-DB85-7504-DA59-96D8F5D749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2596852"/>
            <a:ext cx="4006047" cy="3424436"/>
          </a:xfrm>
          <a:prstGeom prst="rect">
            <a:avLst/>
          </a:prstGeom>
        </p:spPr>
      </p:pic>
      <p:sp>
        <p:nvSpPr>
          <p:cNvPr id="7" name="Tijdelijke aanduiding voor inhoud 3">
            <a:extLst>
              <a:ext uri="{FF2B5EF4-FFF2-40B4-BE49-F238E27FC236}">
                <a16:creationId xmlns:a16="http://schemas.microsoft.com/office/drawing/2014/main" id="{3A024F8D-3143-52EF-56BA-94600AD16AE3}"/>
              </a:ext>
            </a:extLst>
          </p:cNvPr>
          <p:cNvSpPr txBox="1">
            <a:spLocks/>
          </p:cNvSpPr>
          <p:nvPr/>
        </p:nvSpPr>
        <p:spPr bwMode="auto">
          <a:xfrm>
            <a:off x="6137437" y="980728"/>
            <a:ext cx="5384800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nl-BE" sz="2000" dirty="0"/>
              <a:t>Bij klik:</a:t>
            </a:r>
          </a:p>
          <a:p>
            <a:pPr lvl="2"/>
            <a:r>
              <a:rPr lang="nl-BE" sz="1800" dirty="0"/>
              <a:t>Naar node in tree</a:t>
            </a:r>
          </a:p>
          <a:p>
            <a:pPr lvl="2"/>
            <a:r>
              <a:rPr lang="nl-BE" sz="1800" dirty="0" err="1"/>
              <a:t>Highlighting</a:t>
            </a:r>
            <a:endParaRPr lang="nl-BE" sz="1800" dirty="0"/>
          </a:p>
          <a:p>
            <a:pPr lvl="2"/>
            <a:endParaRPr lang="nl-BE" sz="1800" dirty="0"/>
          </a:p>
        </p:txBody>
      </p:sp>
    </p:spTree>
    <p:extLst>
      <p:ext uri="{BB962C8B-B14F-4D97-AF65-F5344CB8AC3E}">
        <p14:creationId xmlns:p14="http://schemas.microsoft.com/office/powerpoint/2010/main" val="2274791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C2362-F284-B324-E516-E99D452FA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82B4DC1-FC0C-9F29-7CEC-087CBE960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80731"/>
            <a:ext cx="5918448" cy="5145435"/>
          </a:xfrm>
        </p:spPr>
        <p:txBody>
          <a:bodyPr wrap="square" anchor="t">
            <a:normAutofit/>
          </a:bodyPr>
          <a:lstStyle/>
          <a:p>
            <a:pPr lvl="1"/>
            <a:endParaRPr lang="nl-BE" sz="2400" dirty="0"/>
          </a:p>
          <a:p>
            <a:pPr lvl="1"/>
            <a:endParaRPr lang="nl-BE" sz="2400" dirty="0"/>
          </a:p>
          <a:p>
            <a:pPr lvl="1"/>
            <a:r>
              <a:rPr lang="nl-BE" sz="2400" dirty="0"/>
              <a:t>Lokale opslag</a:t>
            </a:r>
          </a:p>
          <a:p>
            <a:pPr lvl="1"/>
            <a:endParaRPr lang="nl-BE" sz="2400" dirty="0"/>
          </a:p>
          <a:p>
            <a:pPr lvl="1"/>
            <a:r>
              <a:rPr lang="nl-BE" sz="2400" dirty="0"/>
              <a:t>Geen </a:t>
            </a:r>
            <a:r>
              <a:rPr lang="nl-BE" sz="2400" dirty="0" err="1"/>
              <a:t>multi</a:t>
            </a:r>
            <a:r>
              <a:rPr lang="nl-BE" sz="2400" dirty="0"/>
              <a:t>-user synchronisatie</a:t>
            </a:r>
          </a:p>
          <a:p>
            <a:pPr lvl="1"/>
            <a:endParaRPr lang="nl-BE" sz="2400" dirty="0"/>
          </a:p>
          <a:p>
            <a:pPr lvl="1"/>
            <a:r>
              <a:rPr lang="nl-BE" sz="2400" dirty="0"/>
              <a:t>Geen performance optimalisatie</a:t>
            </a:r>
          </a:p>
          <a:p>
            <a:pPr lvl="1"/>
            <a:endParaRPr lang="nl-BE" sz="2400" dirty="0"/>
          </a:p>
          <a:p>
            <a:pPr lvl="1"/>
            <a:endParaRPr lang="nl-BE" sz="240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35AB8D0-B862-189C-86FF-43E415FE6D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98981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Prototype </a:t>
            </a:r>
            <a:r>
              <a:rPr lang="nl-BE" dirty="0" err="1"/>
              <a:t>berpekingen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31049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659E3-C05A-5F26-598E-0E9716F47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2683AF4-C639-B319-2F18-4554228B73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417" y="2851597"/>
            <a:ext cx="10972800" cy="433387"/>
          </a:xfrm>
        </p:spPr>
        <p:txBody>
          <a:bodyPr/>
          <a:lstStyle/>
          <a:p>
            <a:r>
              <a:rPr lang="nl-BE" sz="6000" dirty="0"/>
              <a:t>Gebruikersstudie</a:t>
            </a:r>
          </a:p>
        </p:txBody>
      </p:sp>
    </p:spTree>
    <p:extLst>
      <p:ext uri="{BB962C8B-B14F-4D97-AF65-F5344CB8AC3E}">
        <p14:creationId xmlns:p14="http://schemas.microsoft.com/office/powerpoint/2010/main" val="38282766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2B81-ED65-F16A-D567-031A38B8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6E70C68-5E9C-A7B7-FEA7-CCB90DC37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764704"/>
            <a:ext cx="10959008" cy="5472608"/>
          </a:xfrm>
        </p:spPr>
        <p:txBody>
          <a:bodyPr wrap="square" anchor="t">
            <a:normAutofit fontScale="92500" lnSpcReduction="10000"/>
          </a:bodyPr>
          <a:lstStyle/>
          <a:p>
            <a:pPr lvl="1"/>
            <a:r>
              <a:rPr lang="nl-BE" sz="2400" dirty="0"/>
              <a:t>Negen deelnemers</a:t>
            </a:r>
          </a:p>
          <a:p>
            <a:pPr lvl="2"/>
            <a:r>
              <a:rPr lang="nl-BE" sz="2200" dirty="0"/>
              <a:t>20-28 jaar</a:t>
            </a:r>
          </a:p>
          <a:p>
            <a:pPr lvl="2"/>
            <a:r>
              <a:rPr lang="nl-BE" sz="2200" dirty="0"/>
              <a:t>Achtergrond in informatica</a:t>
            </a:r>
          </a:p>
          <a:p>
            <a:pPr lvl="2"/>
            <a:r>
              <a:rPr lang="nl-BE" sz="2200" dirty="0"/>
              <a:t>Zeven geen security-modellering-ervaring</a:t>
            </a:r>
          </a:p>
          <a:p>
            <a:pPr lvl="2"/>
            <a:r>
              <a:rPr lang="nl-BE" sz="2200" dirty="0"/>
              <a:t>Studenten, junior </a:t>
            </a:r>
            <a:r>
              <a:rPr lang="nl-BE" sz="2200" dirty="0" err="1"/>
              <a:t>developers</a:t>
            </a:r>
            <a:r>
              <a:rPr lang="nl-BE" sz="2200" dirty="0"/>
              <a:t>, data engineer, scrum master</a:t>
            </a:r>
          </a:p>
          <a:p>
            <a:pPr lvl="2"/>
            <a:endParaRPr lang="nl-BE" sz="2200" dirty="0"/>
          </a:p>
          <a:p>
            <a:pPr lvl="1"/>
            <a:r>
              <a:rPr lang="nl-BE" sz="2400" dirty="0"/>
              <a:t>Twee scenario’s</a:t>
            </a:r>
          </a:p>
          <a:p>
            <a:pPr lvl="2"/>
            <a:r>
              <a:rPr lang="nl-BE" sz="2200" dirty="0"/>
              <a:t>Inlog- en authenticatiesysteem</a:t>
            </a:r>
          </a:p>
          <a:p>
            <a:pPr lvl="2"/>
            <a:r>
              <a:rPr lang="nl-BE" sz="2200" dirty="0"/>
              <a:t>AI‑fraudedetectiesysteem</a:t>
            </a:r>
          </a:p>
          <a:p>
            <a:pPr lvl="2"/>
            <a:endParaRPr lang="nl-BE" sz="2400" dirty="0"/>
          </a:p>
          <a:p>
            <a:pPr lvl="1"/>
            <a:r>
              <a:rPr lang="nl-BE" sz="2400" dirty="0"/>
              <a:t>Taken:</a:t>
            </a:r>
          </a:p>
          <a:p>
            <a:pPr lvl="2"/>
            <a:r>
              <a:rPr lang="nl-BE" sz="2200" dirty="0"/>
              <a:t>Nodes toevoegen</a:t>
            </a:r>
          </a:p>
          <a:p>
            <a:pPr lvl="2"/>
            <a:r>
              <a:rPr lang="nl-BE" sz="2200" dirty="0"/>
              <a:t>Statussen toekennen</a:t>
            </a:r>
          </a:p>
          <a:p>
            <a:pPr lvl="2"/>
            <a:r>
              <a:rPr lang="nl-BE" sz="2200" dirty="0"/>
              <a:t>Opsommingstaken</a:t>
            </a:r>
            <a:endParaRPr lang="nl-BE" sz="2000" dirty="0"/>
          </a:p>
          <a:p>
            <a:pPr lvl="2"/>
            <a:r>
              <a:rPr lang="nl-BE" sz="2200" dirty="0"/>
              <a:t>Reconstructie van keten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04C8F4B-3D91-9130-3079-657116F033C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98981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Gebruikersstudie</a:t>
            </a:r>
          </a:p>
        </p:txBody>
      </p:sp>
    </p:spTree>
    <p:extLst>
      <p:ext uri="{BB962C8B-B14F-4D97-AF65-F5344CB8AC3E}">
        <p14:creationId xmlns:p14="http://schemas.microsoft.com/office/powerpoint/2010/main" val="3026849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87CEC-8927-365D-00E7-852B087F7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FE2FBC4-8D09-76F6-6431-B4ED4BA9F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80728"/>
            <a:ext cx="5918448" cy="5472608"/>
          </a:xfrm>
        </p:spPr>
        <p:txBody>
          <a:bodyPr wrap="square" anchor="t">
            <a:normAutofit/>
          </a:bodyPr>
          <a:lstStyle/>
          <a:p>
            <a:pPr lvl="1"/>
            <a:r>
              <a:rPr lang="nl-BE" sz="2200" dirty="0"/>
              <a:t>Twee versies van software:</a:t>
            </a:r>
          </a:p>
          <a:p>
            <a:pPr lvl="2"/>
            <a:r>
              <a:rPr lang="nl-BE" sz="2000" dirty="0"/>
              <a:t>Basisversie</a:t>
            </a:r>
          </a:p>
          <a:p>
            <a:pPr lvl="2"/>
            <a:r>
              <a:rPr lang="nl-BE" sz="2000" dirty="0"/>
              <a:t>Uitgebreide versie</a:t>
            </a:r>
          </a:p>
          <a:p>
            <a:pPr lvl="2"/>
            <a:endParaRPr lang="nl-BE" sz="2000" dirty="0"/>
          </a:p>
          <a:p>
            <a:pPr lvl="1"/>
            <a:r>
              <a:rPr lang="nl-BE" sz="2200" dirty="0"/>
              <a:t>Basisversie -&gt; scenario 1</a:t>
            </a:r>
          </a:p>
          <a:p>
            <a:pPr lvl="1"/>
            <a:endParaRPr lang="nl-BE" sz="2200" dirty="0"/>
          </a:p>
          <a:p>
            <a:pPr lvl="1"/>
            <a:r>
              <a:rPr lang="nl-BE" sz="2200" dirty="0"/>
              <a:t>Uitgebreide versie -&gt; scenario 2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428A145-2926-9AF7-3E71-2BD7672429F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98981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Gebruikersstudie</a:t>
            </a:r>
          </a:p>
        </p:txBody>
      </p:sp>
      <p:pic>
        <p:nvPicPr>
          <p:cNvPr id="2" name="Afbeelding 1" descr="Afbeelding met tekst, schermopname, Lettertype, nummer&#10;&#10;Door AI gegenereerde inhoud is mogelijk onjuist.">
            <a:extLst>
              <a:ext uri="{FF2B5EF4-FFF2-40B4-BE49-F238E27FC236}">
                <a16:creationId xmlns:a16="http://schemas.microsoft.com/office/drawing/2014/main" id="{DD0A9091-D483-712D-6D59-B9B59CC7B4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562" y="748825"/>
            <a:ext cx="6029904" cy="3040215"/>
          </a:xfrm>
          <a:prstGeom prst="rect">
            <a:avLst/>
          </a:prstGeom>
        </p:spPr>
      </p:pic>
      <p:pic>
        <p:nvPicPr>
          <p:cNvPr id="3" name="Afbeelding 2" descr="Afbeelding met tekst, schermopname, Lettertype, lijn&#10;&#10;Door AI gegenereerde inhoud is mogelijk onjuist.">
            <a:extLst>
              <a:ext uri="{FF2B5EF4-FFF2-40B4-BE49-F238E27FC236}">
                <a16:creationId xmlns:a16="http://schemas.microsoft.com/office/drawing/2014/main" id="{647EBD43-2BE2-D9DE-7BD7-1603E9AC44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224" y="4365104"/>
            <a:ext cx="5229432" cy="1022727"/>
          </a:xfrm>
          <a:prstGeom prst="rect">
            <a:avLst/>
          </a:prstGeom>
        </p:spPr>
      </p:pic>
      <p:pic>
        <p:nvPicPr>
          <p:cNvPr id="5" name="Afbeelding 4" descr="Afbeelding met tekst, schermopname, Lettertype, lijn&#10;&#10;Door AI gegenereerde inhoud is mogelijk onjuist.">
            <a:extLst>
              <a:ext uri="{FF2B5EF4-FFF2-40B4-BE49-F238E27FC236}">
                <a16:creationId xmlns:a16="http://schemas.microsoft.com/office/drawing/2014/main" id="{8D68EC0F-D719-4D52-E34E-AD1CBF9BA9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00" y="4365104"/>
            <a:ext cx="5043830" cy="102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059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0D4BB-D4A2-A3B3-2078-2EE90BF1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6E1DF3D-E360-D07F-A340-21225F553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80728"/>
            <a:ext cx="6854552" cy="5472608"/>
          </a:xfrm>
        </p:spPr>
        <p:txBody>
          <a:bodyPr wrap="square" anchor="t">
            <a:normAutofit/>
          </a:bodyPr>
          <a:lstStyle/>
          <a:p>
            <a:pPr lvl="1"/>
            <a:endParaRPr lang="nl-BE" sz="2200" dirty="0"/>
          </a:p>
          <a:p>
            <a:pPr lvl="1"/>
            <a:r>
              <a:rPr lang="nl-BE" sz="2200" dirty="0"/>
              <a:t>Opname scherm</a:t>
            </a:r>
          </a:p>
          <a:p>
            <a:pPr lvl="1"/>
            <a:endParaRPr lang="nl-BE" sz="2200" dirty="0"/>
          </a:p>
          <a:p>
            <a:pPr lvl="1"/>
            <a:r>
              <a:rPr lang="nl-BE" sz="2200" dirty="0"/>
              <a:t>Live opgevolgd</a:t>
            </a:r>
          </a:p>
          <a:p>
            <a:pPr lvl="1"/>
            <a:endParaRPr lang="nl-BE" sz="2200" dirty="0"/>
          </a:p>
          <a:p>
            <a:pPr lvl="1"/>
            <a:r>
              <a:rPr lang="nl-BE" sz="2200" dirty="0"/>
              <a:t>User </a:t>
            </a:r>
            <a:r>
              <a:rPr lang="nl-BE" sz="2200" dirty="0" err="1"/>
              <a:t>Experience</a:t>
            </a:r>
            <a:r>
              <a:rPr lang="nl-BE" sz="2200" dirty="0"/>
              <a:t> </a:t>
            </a:r>
            <a:r>
              <a:rPr lang="nl-BE" sz="2200" dirty="0" err="1"/>
              <a:t>Quiestionnaire</a:t>
            </a:r>
            <a:r>
              <a:rPr lang="nl-BE" sz="2200" dirty="0"/>
              <a:t> (UEQ)</a:t>
            </a:r>
          </a:p>
          <a:p>
            <a:pPr lvl="1"/>
            <a:endParaRPr lang="nl-BE" sz="2200" dirty="0"/>
          </a:p>
          <a:p>
            <a:pPr lvl="1"/>
            <a:r>
              <a:rPr lang="nl-BE" sz="2200" dirty="0"/>
              <a:t>Vragen/rangschikking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E6529C-4F7F-5E84-2701-55DF6B4E7D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98981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Dataverzameling</a:t>
            </a:r>
          </a:p>
        </p:txBody>
      </p:sp>
    </p:spTree>
    <p:extLst>
      <p:ext uri="{BB962C8B-B14F-4D97-AF65-F5344CB8AC3E}">
        <p14:creationId xmlns:p14="http://schemas.microsoft.com/office/powerpoint/2010/main" val="13653289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E02BE-83C5-1141-E372-F4483B3E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1C9B3CB-7DBE-1119-87EE-42E255EDC7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417" y="2851597"/>
            <a:ext cx="10972800" cy="433387"/>
          </a:xfrm>
        </p:spPr>
        <p:txBody>
          <a:bodyPr/>
          <a:lstStyle/>
          <a:p>
            <a:r>
              <a:rPr lang="nl-BE" sz="6000" dirty="0"/>
              <a:t>Beperkingen gebruikersstudie</a:t>
            </a:r>
          </a:p>
        </p:txBody>
      </p:sp>
    </p:spTree>
    <p:extLst>
      <p:ext uri="{BB962C8B-B14F-4D97-AF65-F5344CB8AC3E}">
        <p14:creationId xmlns:p14="http://schemas.microsoft.com/office/powerpoint/2010/main" val="3348779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C52EB-44AD-7E27-0B2C-D9ECAED61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3A99BEF-D376-F252-E640-6E882E275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80728"/>
            <a:ext cx="7934672" cy="5472608"/>
          </a:xfrm>
        </p:spPr>
        <p:txBody>
          <a:bodyPr wrap="square" anchor="t">
            <a:normAutofit/>
          </a:bodyPr>
          <a:lstStyle/>
          <a:p>
            <a:pPr lvl="1"/>
            <a:r>
              <a:rPr lang="nl-BE" sz="2200" dirty="0"/>
              <a:t>Kleine steekproef/populatie</a:t>
            </a:r>
          </a:p>
          <a:p>
            <a:pPr lvl="2"/>
            <a:r>
              <a:rPr lang="nl-BE" sz="2000" dirty="0"/>
              <a:t>Bewust deelnemers informatica achtergrond</a:t>
            </a:r>
          </a:p>
          <a:p>
            <a:pPr lvl="2"/>
            <a:r>
              <a:rPr lang="nl-BE" sz="2000" dirty="0"/>
              <a:t>Realistische simulatie</a:t>
            </a:r>
          </a:p>
          <a:p>
            <a:pPr lvl="2"/>
            <a:r>
              <a:rPr lang="nl-BE" sz="2000" dirty="0"/>
              <a:t>Ontbreken van security-experts</a:t>
            </a:r>
            <a:endParaRPr lang="nl-BE" sz="2200" dirty="0"/>
          </a:p>
          <a:p>
            <a:pPr lvl="1"/>
            <a:r>
              <a:rPr lang="nl-BE" sz="2200" dirty="0"/>
              <a:t>Zelfrapportage/bias</a:t>
            </a:r>
          </a:p>
          <a:p>
            <a:pPr lvl="2"/>
            <a:r>
              <a:rPr lang="nl-BE" sz="2000" dirty="0"/>
              <a:t>Subjectiviteit</a:t>
            </a:r>
          </a:p>
          <a:p>
            <a:pPr lvl="2"/>
            <a:r>
              <a:rPr lang="nl-BE" sz="2000" dirty="0" err="1"/>
              <a:t>Confirmation</a:t>
            </a:r>
            <a:r>
              <a:rPr lang="nl-BE" sz="2000" dirty="0"/>
              <a:t> bias</a:t>
            </a:r>
          </a:p>
          <a:p>
            <a:pPr lvl="2"/>
            <a:r>
              <a:rPr lang="nl-BE" sz="2000" dirty="0"/>
              <a:t>Variatie in geteste versie volgorde</a:t>
            </a:r>
            <a:endParaRPr lang="nl-BE" sz="2200" dirty="0"/>
          </a:p>
          <a:p>
            <a:pPr lvl="1"/>
            <a:r>
              <a:rPr lang="nl-BE" sz="2200" dirty="0"/>
              <a:t>Beperkte vergelijkingsbasis en duur</a:t>
            </a:r>
          </a:p>
          <a:p>
            <a:pPr lvl="2"/>
            <a:r>
              <a:rPr lang="nl-BE" sz="2000" dirty="0"/>
              <a:t>Vergelijking met basisversie</a:t>
            </a:r>
          </a:p>
          <a:p>
            <a:pPr lvl="2"/>
            <a:r>
              <a:rPr lang="nl-BE" sz="2000" dirty="0"/>
              <a:t>Gecontroleerd referentiepunt</a:t>
            </a:r>
          </a:p>
          <a:p>
            <a:pPr lvl="2"/>
            <a:r>
              <a:rPr lang="nl-BE" sz="2000" dirty="0"/>
              <a:t>Korte eenmalige taken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89A907D-E0F4-64AB-18A2-26FB1B8659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98981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Beperkingen gebruikersstudie</a:t>
            </a:r>
          </a:p>
        </p:txBody>
      </p:sp>
    </p:spTree>
    <p:extLst>
      <p:ext uri="{BB962C8B-B14F-4D97-AF65-F5344CB8AC3E}">
        <p14:creationId xmlns:p14="http://schemas.microsoft.com/office/powerpoint/2010/main" val="34376366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8F2E3-64DC-0766-D725-13D770318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52D2791-80C6-429D-6DC0-24A9CCC08E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417" y="2851597"/>
            <a:ext cx="10972800" cy="433387"/>
          </a:xfrm>
        </p:spPr>
        <p:txBody>
          <a:bodyPr/>
          <a:lstStyle/>
          <a:p>
            <a:r>
              <a:rPr lang="nl-BE" sz="6000" dirty="0"/>
              <a:t>Resultaten</a:t>
            </a:r>
          </a:p>
        </p:txBody>
      </p:sp>
    </p:spTree>
    <p:extLst>
      <p:ext uri="{BB962C8B-B14F-4D97-AF65-F5344CB8AC3E}">
        <p14:creationId xmlns:p14="http://schemas.microsoft.com/office/powerpoint/2010/main" val="28094167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03247-29C1-8FF2-930B-9B78486CB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55AC93B-83B7-8588-6D25-BCDC2DB33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620688"/>
            <a:ext cx="6854552" cy="5472608"/>
          </a:xfrm>
        </p:spPr>
        <p:txBody>
          <a:bodyPr wrap="square" anchor="t">
            <a:normAutofit/>
          </a:bodyPr>
          <a:lstStyle/>
          <a:p>
            <a:pPr lvl="1"/>
            <a:r>
              <a:rPr lang="nl-BE" sz="2200" dirty="0"/>
              <a:t>UEQ (laagste -3, hoogste +3):</a:t>
            </a:r>
          </a:p>
          <a:p>
            <a:pPr lvl="2"/>
            <a:r>
              <a:rPr lang="nl-BE" sz="2000" dirty="0"/>
              <a:t>Aantrekkelijkheid: 	-0,83		1,04</a:t>
            </a:r>
          </a:p>
          <a:p>
            <a:pPr lvl="2"/>
            <a:r>
              <a:rPr lang="nl-BE" sz="2000" dirty="0"/>
              <a:t>Efficiëntie: 		-0,72		1,72</a:t>
            </a:r>
          </a:p>
          <a:p>
            <a:pPr lvl="2"/>
            <a:r>
              <a:rPr lang="nl-BE" sz="2000" dirty="0"/>
              <a:t>Stimulatie: 		-0,97		1,33</a:t>
            </a:r>
          </a:p>
          <a:p>
            <a:pPr lvl="2"/>
            <a:r>
              <a:rPr lang="nl-BE" sz="2000" dirty="0"/>
              <a:t>Originaliteit: 	-0,78		1,25</a:t>
            </a:r>
          </a:p>
          <a:p>
            <a:pPr lvl="2"/>
            <a:r>
              <a:rPr lang="nl-BE" sz="2000" dirty="0"/>
              <a:t>Transparantie: 	-0,39		0,69</a:t>
            </a:r>
          </a:p>
          <a:p>
            <a:pPr lvl="2"/>
            <a:r>
              <a:rPr lang="nl-BE" sz="2000" dirty="0"/>
              <a:t>Bestuurbaarheid: 	 0,53		1,25</a:t>
            </a:r>
          </a:p>
          <a:p>
            <a:pPr lvl="2"/>
            <a:endParaRPr lang="nl-BE" sz="200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92F75B6-950B-027B-6092-3874414639B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16632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Resultaten</a:t>
            </a:r>
          </a:p>
        </p:txBody>
      </p:sp>
      <p:pic>
        <p:nvPicPr>
          <p:cNvPr id="2" name="Afbeelding 1" descr="Afbeelding met tekst, diagram, schermopname, Parallel&#10;&#10;Door AI gegenereerde inhoud is mogelijk onjuist.">
            <a:extLst>
              <a:ext uri="{FF2B5EF4-FFF2-40B4-BE49-F238E27FC236}">
                <a16:creationId xmlns:a16="http://schemas.microsoft.com/office/drawing/2014/main" id="{0E178FA8-5666-07F1-9E98-B5643F2068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3284984"/>
            <a:ext cx="7056784" cy="2867062"/>
          </a:xfrm>
          <a:prstGeom prst="rect">
            <a:avLst/>
          </a:prstGeom>
        </p:spPr>
      </p:pic>
      <p:sp>
        <p:nvSpPr>
          <p:cNvPr id="3" name="Pijl: rechts 2">
            <a:extLst>
              <a:ext uri="{FF2B5EF4-FFF2-40B4-BE49-F238E27FC236}">
                <a16:creationId xmlns:a16="http://schemas.microsoft.com/office/drawing/2014/main" id="{F466496D-7986-9C7C-694A-9EAD25A99DE3}"/>
              </a:ext>
            </a:extLst>
          </p:cNvPr>
          <p:cNvSpPr/>
          <p:nvPr/>
        </p:nvSpPr>
        <p:spPr>
          <a:xfrm>
            <a:off x="5231904" y="1124744"/>
            <a:ext cx="792088" cy="21602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" name="Pijl: rechts 4">
            <a:extLst>
              <a:ext uri="{FF2B5EF4-FFF2-40B4-BE49-F238E27FC236}">
                <a16:creationId xmlns:a16="http://schemas.microsoft.com/office/drawing/2014/main" id="{1524079F-2C7A-D3F2-8B10-28CACC27D41A}"/>
              </a:ext>
            </a:extLst>
          </p:cNvPr>
          <p:cNvSpPr/>
          <p:nvPr/>
        </p:nvSpPr>
        <p:spPr>
          <a:xfrm>
            <a:off x="5231904" y="1490959"/>
            <a:ext cx="792088" cy="2098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Pijl: rechts 6">
            <a:extLst>
              <a:ext uri="{FF2B5EF4-FFF2-40B4-BE49-F238E27FC236}">
                <a16:creationId xmlns:a16="http://schemas.microsoft.com/office/drawing/2014/main" id="{65A3108E-194B-D5EE-16B7-26CD3F27309C}"/>
              </a:ext>
            </a:extLst>
          </p:cNvPr>
          <p:cNvSpPr/>
          <p:nvPr/>
        </p:nvSpPr>
        <p:spPr>
          <a:xfrm>
            <a:off x="5229057" y="1850999"/>
            <a:ext cx="792088" cy="2098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Pijl: rechts 7">
            <a:extLst>
              <a:ext uri="{FF2B5EF4-FFF2-40B4-BE49-F238E27FC236}">
                <a16:creationId xmlns:a16="http://schemas.microsoft.com/office/drawing/2014/main" id="{B07A7FAC-A598-E324-4A6F-907D64FABE9E}"/>
              </a:ext>
            </a:extLst>
          </p:cNvPr>
          <p:cNvSpPr/>
          <p:nvPr/>
        </p:nvSpPr>
        <p:spPr>
          <a:xfrm>
            <a:off x="5229057" y="2211039"/>
            <a:ext cx="792088" cy="2098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Pijl: rechts 8">
            <a:extLst>
              <a:ext uri="{FF2B5EF4-FFF2-40B4-BE49-F238E27FC236}">
                <a16:creationId xmlns:a16="http://schemas.microsoft.com/office/drawing/2014/main" id="{3003805C-689B-DD74-8D52-142868E10D72}"/>
              </a:ext>
            </a:extLst>
          </p:cNvPr>
          <p:cNvSpPr/>
          <p:nvPr/>
        </p:nvSpPr>
        <p:spPr>
          <a:xfrm>
            <a:off x="5229057" y="2593133"/>
            <a:ext cx="792088" cy="2098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Pijl: rechts 9">
            <a:extLst>
              <a:ext uri="{FF2B5EF4-FFF2-40B4-BE49-F238E27FC236}">
                <a16:creationId xmlns:a16="http://schemas.microsoft.com/office/drawing/2014/main" id="{7103296B-4A64-8366-29CE-32D639C2A924}"/>
              </a:ext>
            </a:extLst>
          </p:cNvPr>
          <p:cNvSpPr/>
          <p:nvPr/>
        </p:nvSpPr>
        <p:spPr>
          <a:xfrm>
            <a:off x="5229057" y="2989411"/>
            <a:ext cx="792088" cy="20984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542211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D847-0AA8-1FAA-5A70-BE1E6FAF0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A709082-5EF2-D9CC-A542-059866A03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06948"/>
            <a:ext cx="5198368" cy="5472608"/>
          </a:xfrm>
        </p:spPr>
        <p:txBody>
          <a:bodyPr wrap="square" anchor="t">
            <a:normAutofit/>
          </a:bodyPr>
          <a:lstStyle/>
          <a:p>
            <a:pPr marL="857250" lvl="1" indent="-342900"/>
            <a:r>
              <a:rPr lang="nl-BE" sz="2200" dirty="0"/>
              <a:t>Basisversie:</a:t>
            </a:r>
          </a:p>
          <a:p>
            <a:pPr lvl="2"/>
            <a:r>
              <a:rPr lang="nl-BE" sz="2000" dirty="0"/>
              <a:t>Veel scrollen en zoeken</a:t>
            </a:r>
          </a:p>
          <a:p>
            <a:pPr lvl="2"/>
            <a:r>
              <a:rPr lang="nl-BE" sz="2000" dirty="0"/>
              <a:t>Zoekbalk-afhankelijkheid</a:t>
            </a:r>
          </a:p>
          <a:p>
            <a:pPr lvl="2"/>
            <a:r>
              <a:rPr lang="nl-BE" sz="2000" dirty="0"/>
              <a:t>Handmatig tellen</a:t>
            </a:r>
          </a:p>
          <a:p>
            <a:pPr lvl="2"/>
            <a:r>
              <a:rPr lang="nl-BE" sz="2000" dirty="0" err="1"/>
              <a:t>Danger</a:t>
            </a:r>
            <a:r>
              <a:rPr lang="nl-BE" sz="2000" dirty="0"/>
              <a:t> rating/status vergeten</a:t>
            </a:r>
          </a:p>
          <a:p>
            <a:pPr lvl="2"/>
            <a:r>
              <a:rPr lang="nl-BE" sz="2000" dirty="0"/>
              <a:t>Manuele kettingreconstructie</a:t>
            </a:r>
          </a:p>
          <a:p>
            <a:pPr lvl="2"/>
            <a:endParaRPr lang="nl-BE" sz="2000" dirty="0"/>
          </a:p>
          <a:p>
            <a:pPr lvl="1"/>
            <a:r>
              <a:rPr lang="nl-BE" sz="2200" dirty="0"/>
              <a:t>Problemen:</a:t>
            </a:r>
          </a:p>
          <a:p>
            <a:pPr lvl="2"/>
            <a:r>
              <a:rPr lang="nl-BE" sz="2000" dirty="0"/>
              <a:t>Te veel tijd</a:t>
            </a:r>
          </a:p>
          <a:p>
            <a:pPr lvl="2"/>
            <a:r>
              <a:rPr lang="nl-BE" sz="2000" dirty="0"/>
              <a:t>Foutgevoelig</a:t>
            </a:r>
          </a:p>
          <a:p>
            <a:pPr lvl="3"/>
            <a:r>
              <a:rPr lang="nl-BE" sz="1800" dirty="0"/>
              <a:t>typefouten</a:t>
            </a:r>
          </a:p>
          <a:p>
            <a:pPr lvl="2"/>
            <a:endParaRPr lang="nl-BE" sz="200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915FA947-F77F-87CE-E590-911EDCB5A18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16632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Observaties</a:t>
            </a:r>
          </a:p>
        </p:txBody>
      </p:sp>
      <p:sp>
        <p:nvSpPr>
          <p:cNvPr id="11" name="Tijdelijke aanduiding voor inhoud 3">
            <a:extLst>
              <a:ext uri="{FF2B5EF4-FFF2-40B4-BE49-F238E27FC236}">
                <a16:creationId xmlns:a16="http://schemas.microsoft.com/office/drawing/2014/main" id="{2DBEEEA5-E18A-C39C-C63E-B7A42516F333}"/>
              </a:ext>
            </a:extLst>
          </p:cNvPr>
          <p:cNvSpPr txBox="1">
            <a:spLocks/>
          </p:cNvSpPr>
          <p:nvPr/>
        </p:nvSpPr>
        <p:spPr bwMode="auto">
          <a:xfrm>
            <a:off x="5951984" y="1006948"/>
            <a:ext cx="5630416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0" lvl="1" indent="-342900"/>
            <a:r>
              <a:rPr lang="nl-BE" sz="2200" dirty="0"/>
              <a:t>Uitgebreide versie oplossingen:</a:t>
            </a:r>
          </a:p>
          <a:p>
            <a:pPr lvl="2"/>
            <a:r>
              <a:rPr lang="nl-BE" sz="2000" dirty="0"/>
              <a:t>Standaard status</a:t>
            </a:r>
          </a:p>
          <a:p>
            <a:pPr lvl="2"/>
            <a:r>
              <a:rPr lang="nl-BE" sz="2000" dirty="0"/>
              <a:t>Visueel prominente </a:t>
            </a:r>
            <a:r>
              <a:rPr lang="nl-BE" sz="2000" dirty="0" err="1"/>
              <a:t>danger</a:t>
            </a:r>
            <a:r>
              <a:rPr lang="nl-BE" sz="2000" dirty="0"/>
              <a:t> rating</a:t>
            </a:r>
          </a:p>
          <a:p>
            <a:pPr lvl="2"/>
            <a:r>
              <a:rPr lang="nl-BE" sz="2000" dirty="0"/>
              <a:t>Directe filtering</a:t>
            </a:r>
          </a:p>
          <a:p>
            <a:pPr lvl="2"/>
            <a:r>
              <a:rPr lang="nl-BE" sz="2000" dirty="0" err="1"/>
              <a:t>Branch</a:t>
            </a:r>
            <a:r>
              <a:rPr lang="nl-BE" sz="2000" dirty="0"/>
              <a:t> Summary </a:t>
            </a:r>
            <a:r>
              <a:rPr lang="nl-BE" sz="2000" dirty="0" err="1"/>
              <a:t>ipv</a:t>
            </a:r>
            <a:r>
              <a:rPr lang="nl-BE" sz="2000"/>
              <a:t> manueel</a:t>
            </a:r>
            <a:endParaRPr lang="nl-BE" sz="2000" dirty="0"/>
          </a:p>
          <a:p>
            <a:pPr lvl="2"/>
            <a:r>
              <a:rPr lang="nl-BE" sz="2000" dirty="0"/>
              <a:t>Sneller en minder foutgevoelig</a:t>
            </a:r>
          </a:p>
        </p:txBody>
      </p:sp>
    </p:spTree>
    <p:extLst>
      <p:ext uri="{BB962C8B-B14F-4D97-AF65-F5344CB8AC3E}">
        <p14:creationId xmlns:p14="http://schemas.microsoft.com/office/powerpoint/2010/main" val="35706298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4FDA7-98DA-51F8-CF9D-2896F9CD8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63819F4-A815-D4A8-C6FD-E21E2FC509B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16632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Ranking van features</a:t>
            </a:r>
          </a:p>
        </p:txBody>
      </p:sp>
      <p:pic>
        <p:nvPicPr>
          <p:cNvPr id="2" name="Afbeelding 1" descr="Afbeelding met tekst, schermopname, Lettertype, lijn&#10;&#10;Door AI gegenereerde inhoud is mogelijk onjuist.">
            <a:extLst>
              <a:ext uri="{FF2B5EF4-FFF2-40B4-BE49-F238E27FC236}">
                <a16:creationId xmlns:a16="http://schemas.microsoft.com/office/drawing/2014/main" id="{54DAB6C5-E299-7420-0B7B-F27972CF4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79" y="1196752"/>
            <a:ext cx="9863157" cy="3312368"/>
          </a:xfrm>
          <a:prstGeom prst="rect">
            <a:avLst/>
          </a:prstGeom>
        </p:spPr>
      </p:pic>
      <p:sp>
        <p:nvSpPr>
          <p:cNvPr id="3" name="Pijl: rechts 2">
            <a:extLst>
              <a:ext uri="{FF2B5EF4-FFF2-40B4-BE49-F238E27FC236}">
                <a16:creationId xmlns:a16="http://schemas.microsoft.com/office/drawing/2014/main" id="{E4023358-66B7-919A-E52C-FF8E01627341}"/>
              </a:ext>
            </a:extLst>
          </p:cNvPr>
          <p:cNvSpPr/>
          <p:nvPr/>
        </p:nvSpPr>
        <p:spPr>
          <a:xfrm>
            <a:off x="1668876" y="5085184"/>
            <a:ext cx="1008112" cy="43204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05F242A1-D267-A063-1AF0-77645D8BC32B}"/>
              </a:ext>
            </a:extLst>
          </p:cNvPr>
          <p:cNvSpPr txBox="1"/>
          <p:nvPr/>
        </p:nvSpPr>
        <p:spPr>
          <a:xfrm>
            <a:off x="2893012" y="5085184"/>
            <a:ext cx="766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dirty="0" err="1"/>
              <a:t>Branch</a:t>
            </a:r>
            <a:r>
              <a:rPr lang="nl-BE" sz="2400" dirty="0"/>
              <a:t> summary door twee deelnemers niet gevonden</a:t>
            </a:r>
          </a:p>
        </p:txBody>
      </p:sp>
    </p:spTree>
    <p:extLst>
      <p:ext uri="{BB962C8B-B14F-4D97-AF65-F5344CB8AC3E}">
        <p14:creationId xmlns:p14="http://schemas.microsoft.com/office/powerpoint/2010/main" val="15526093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54169-6AD7-1D80-910B-13391C21F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9F76711-70A3-AEAB-64F0-E02DF573B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06948"/>
            <a:ext cx="10670976" cy="5472608"/>
          </a:xfrm>
        </p:spPr>
        <p:txBody>
          <a:bodyPr wrap="square" anchor="t">
            <a:normAutofit/>
          </a:bodyPr>
          <a:lstStyle/>
          <a:p>
            <a:r>
              <a:rPr lang="nl-BE" sz="2400" dirty="0"/>
              <a:t>Compactere weergave tree</a:t>
            </a:r>
          </a:p>
          <a:p>
            <a:r>
              <a:rPr lang="nl-BE" sz="2400" dirty="0"/>
              <a:t>Intuïtiever manier van in en uit klappen</a:t>
            </a:r>
          </a:p>
          <a:p>
            <a:r>
              <a:rPr lang="nl-BE" sz="2400" dirty="0"/>
              <a:t>Duidelijkere indicatie geactiveerde </a:t>
            </a:r>
            <a:r>
              <a:rPr lang="nl-BE" sz="2400" dirty="0" err="1"/>
              <a:t>collapse</a:t>
            </a:r>
            <a:r>
              <a:rPr lang="nl-BE" sz="2400" dirty="0"/>
              <a:t>/</a:t>
            </a:r>
            <a:r>
              <a:rPr lang="nl-BE" sz="2400" dirty="0" err="1"/>
              <a:t>expand</a:t>
            </a:r>
            <a:r>
              <a:rPr lang="nl-BE" sz="2400" dirty="0"/>
              <a:t>-knop</a:t>
            </a:r>
          </a:p>
          <a:p>
            <a:r>
              <a:rPr lang="nl-BE" sz="2400" dirty="0"/>
              <a:t>Eenvoudigere manier annuleren van aangemaakte node</a:t>
            </a:r>
          </a:p>
          <a:p>
            <a:r>
              <a:rPr lang="nl-BE" sz="2400" dirty="0"/>
              <a:t>Meer context bij searchbar</a:t>
            </a:r>
          </a:p>
          <a:p>
            <a:r>
              <a:rPr lang="nl-BE" sz="2400" dirty="0"/>
              <a:t>Aanpassing van sortering </a:t>
            </a:r>
            <a:r>
              <a:rPr lang="nl-BE" sz="2400" dirty="0" err="1"/>
              <a:t>danger</a:t>
            </a:r>
            <a:r>
              <a:rPr lang="nl-BE" sz="2400" dirty="0"/>
              <a:t> rating</a:t>
            </a:r>
          </a:p>
          <a:p>
            <a:r>
              <a:rPr lang="nl-BE" sz="2400" dirty="0"/>
              <a:t>Aantal per status ook in uitgeklapte weergave</a:t>
            </a:r>
          </a:p>
          <a:p>
            <a:pPr marL="0" indent="0">
              <a:buNone/>
            </a:pPr>
            <a:endParaRPr lang="nl-BE" sz="240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A9BD496-92F1-AF6C-FFD3-3D8FE038A53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16632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Verbeterpunten</a:t>
            </a:r>
          </a:p>
        </p:txBody>
      </p:sp>
    </p:spTree>
    <p:extLst>
      <p:ext uri="{BB962C8B-B14F-4D97-AF65-F5344CB8AC3E}">
        <p14:creationId xmlns:p14="http://schemas.microsoft.com/office/powerpoint/2010/main" val="9606715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048C7-435B-5E4A-377C-10B73580D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04328F1-1D4B-256F-9E0E-6CE52CE40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06948"/>
            <a:ext cx="10670976" cy="5472608"/>
          </a:xfrm>
        </p:spPr>
        <p:txBody>
          <a:bodyPr wrap="square" anchor="t">
            <a:normAutofit/>
          </a:bodyPr>
          <a:lstStyle/>
          <a:p>
            <a:r>
              <a:rPr lang="nl-BE" sz="2400" dirty="0" err="1"/>
              <a:t>Custom</a:t>
            </a:r>
            <a:r>
              <a:rPr lang="nl-BE" sz="2400" dirty="0"/>
              <a:t> statussen</a:t>
            </a:r>
          </a:p>
          <a:p>
            <a:r>
              <a:rPr lang="nl-BE" sz="2400" dirty="0"/>
              <a:t>Inzoomen op een </a:t>
            </a:r>
            <a:r>
              <a:rPr lang="nl-BE" sz="2400" dirty="0" err="1"/>
              <a:t>subtree</a:t>
            </a:r>
            <a:endParaRPr lang="nl-BE" sz="2400" dirty="0"/>
          </a:p>
          <a:p>
            <a:r>
              <a:rPr lang="nl-BE" sz="2400" dirty="0"/>
              <a:t>Groeperen per </a:t>
            </a:r>
            <a:r>
              <a:rPr lang="nl-BE" sz="2400" dirty="0" err="1"/>
              <a:t>subtree</a:t>
            </a:r>
            <a:endParaRPr lang="nl-BE" sz="2400" dirty="0"/>
          </a:p>
          <a:p>
            <a:pPr lvl="1"/>
            <a:r>
              <a:rPr lang="nl-BE" sz="2200" dirty="0"/>
              <a:t>Kleuren</a:t>
            </a:r>
          </a:p>
          <a:p>
            <a:pPr lvl="1"/>
            <a:r>
              <a:rPr lang="nl-BE" sz="2200" dirty="0"/>
              <a:t>Namen</a:t>
            </a:r>
          </a:p>
          <a:p>
            <a:r>
              <a:rPr lang="nl-BE" sz="2400" dirty="0" err="1"/>
              <a:t>Collapse</a:t>
            </a:r>
            <a:r>
              <a:rPr lang="nl-BE" sz="2400" dirty="0"/>
              <a:t> behalve geselecteerde pad</a:t>
            </a:r>
          </a:p>
          <a:p>
            <a:r>
              <a:rPr lang="nl-BE" sz="2400" dirty="0"/>
              <a:t>Zoekbalk in </a:t>
            </a:r>
            <a:r>
              <a:rPr lang="nl-BE" sz="2400" dirty="0" err="1"/>
              <a:t>filtertab</a:t>
            </a:r>
            <a:endParaRPr lang="nl-BE" sz="2400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1DD3E6-ABF1-7FEC-45A6-4F6A88731F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16632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Mogelijke toevoegingen</a:t>
            </a:r>
          </a:p>
        </p:txBody>
      </p:sp>
    </p:spTree>
    <p:extLst>
      <p:ext uri="{BB962C8B-B14F-4D97-AF65-F5344CB8AC3E}">
        <p14:creationId xmlns:p14="http://schemas.microsoft.com/office/powerpoint/2010/main" val="22269938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2448A-A7C8-2CDA-EB9C-540BDBFA9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F3C199B-27AE-7C6F-FBB4-418D871E85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417" y="2851597"/>
            <a:ext cx="10972800" cy="433387"/>
          </a:xfrm>
        </p:spPr>
        <p:txBody>
          <a:bodyPr/>
          <a:lstStyle/>
          <a:p>
            <a:r>
              <a:rPr lang="nl-BE" sz="6000" dirty="0"/>
              <a:t>Antwoorden onderzoeksvragen</a:t>
            </a:r>
          </a:p>
        </p:txBody>
      </p:sp>
    </p:spTree>
    <p:extLst>
      <p:ext uri="{BB962C8B-B14F-4D97-AF65-F5344CB8AC3E}">
        <p14:creationId xmlns:p14="http://schemas.microsoft.com/office/powerpoint/2010/main" val="16094279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99A43-750D-2F79-4926-3AAA19586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F4F298B-5FCB-20D6-C7BF-842D837AA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06948"/>
            <a:ext cx="10670976" cy="5472608"/>
          </a:xfrm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nl-BE" sz="2400" dirty="0"/>
              <a:t>1.	Welke basisfunctionaliteit is minimaal noodzakelijk om </a:t>
            </a:r>
            <a:r>
              <a:rPr lang="nl-BE" sz="2400" dirty="0" err="1"/>
              <a:t>threat</a:t>
            </a:r>
            <a:r>
              <a:rPr lang="nl-BE" sz="2400" dirty="0"/>
              <a:t> 	</a:t>
            </a:r>
            <a:r>
              <a:rPr lang="nl-BE" sz="2400" dirty="0" err="1"/>
              <a:t>modeling</a:t>
            </a:r>
            <a:r>
              <a:rPr lang="nl-BE" sz="2400" dirty="0"/>
              <a:t> met </a:t>
            </a:r>
            <a:r>
              <a:rPr lang="nl-BE" sz="2400" dirty="0" err="1"/>
              <a:t>fortunately‑unfortunately</a:t>
            </a:r>
            <a:r>
              <a:rPr lang="nl-BE" sz="2400" dirty="0"/>
              <a:t> trees te 	ondersteunen?</a:t>
            </a:r>
          </a:p>
          <a:p>
            <a:pPr lvl="1"/>
            <a:endParaRPr lang="nl-BE" sz="2200" dirty="0"/>
          </a:p>
          <a:p>
            <a:pPr lvl="1"/>
            <a:r>
              <a:rPr lang="nl-BE" sz="2200" dirty="0"/>
              <a:t>Node-creatie</a:t>
            </a:r>
          </a:p>
          <a:p>
            <a:pPr lvl="1"/>
            <a:r>
              <a:rPr lang="nl-BE" sz="2200" dirty="0"/>
              <a:t>Uitklappen/inklappen</a:t>
            </a:r>
          </a:p>
          <a:p>
            <a:pPr lvl="1"/>
            <a:r>
              <a:rPr lang="nl-BE" sz="2200" dirty="0"/>
              <a:t>Zoeken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E4DDC54-B7C2-7DF8-579E-A2789622B7B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16632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Onderzoeksvraag 1</a:t>
            </a:r>
          </a:p>
        </p:txBody>
      </p:sp>
    </p:spTree>
    <p:extLst>
      <p:ext uri="{BB962C8B-B14F-4D97-AF65-F5344CB8AC3E}">
        <p14:creationId xmlns:p14="http://schemas.microsoft.com/office/powerpoint/2010/main" val="10851356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06447-B7D6-BB6D-BA62-011EF228F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1450F87-7148-B5C9-3501-85162B6A4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06948"/>
            <a:ext cx="10670976" cy="5472608"/>
          </a:xfrm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nl-BE" sz="2400" dirty="0"/>
              <a:t>2. 	Welke extra functies (bv. filters, zoekfuncties, statusiconen en 	visuele structuren) worden door gebruikers als het meest 	nuttig ervaren?</a:t>
            </a:r>
          </a:p>
          <a:p>
            <a:pPr marL="457200" lvl="1" indent="0">
              <a:buNone/>
            </a:pPr>
            <a:endParaRPr lang="nl-BE" sz="2200" dirty="0"/>
          </a:p>
          <a:p>
            <a:pPr marL="914400" lvl="1" indent="-457200">
              <a:buFont typeface="+mj-lt"/>
              <a:buAutoNum type="arabicPeriod"/>
            </a:pPr>
            <a:r>
              <a:rPr lang="nl-BE" sz="2200" dirty="0"/>
              <a:t>Filtering op node-status</a:t>
            </a:r>
          </a:p>
          <a:p>
            <a:pPr marL="914400" lvl="1" indent="-457200">
              <a:buFont typeface="+mj-lt"/>
              <a:buAutoNum type="arabicPeriod"/>
            </a:pPr>
            <a:r>
              <a:rPr lang="nl-BE" sz="2200" dirty="0"/>
              <a:t>Aantal </a:t>
            </a:r>
            <a:r>
              <a:rPr lang="nl-BE" sz="2200" dirty="0" err="1"/>
              <a:t>nodes</a:t>
            </a:r>
            <a:r>
              <a:rPr lang="nl-BE" sz="2200" dirty="0"/>
              <a:t> per status</a:t>
            </a:r>
          </a:p>
          <a:p>
            <a:pPr marL="914400" lvl="1" indent="-457200">
              <a:buFont typeface="+mj-lt"/>
              <a:buAutoNum type="arabicPeriod"/>
            </a:pPr>
            <a:r>
              <a:rPr lang="nl-BE" sz="2200" dirty="0"/>
              <a:t>Classificering via het schild-icoon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0F92AF7-4B22-DBA2-A3CB-31C11FC993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16632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Onderzoeksvraag 2</a:t>
            </a:r>
          </a:p>
        </p:txBody>
      </p:sp>
    </p:spTree>
    <p:extLst>
      <p:ext uri="{BB962C8B-B14F-4D97-AF65-F5344CB8AC3E}">
        <p14:creationId xmlns:p14="http://schemas.microsoft.com/office/powerpoint/2010/main" val="41237453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8FC7A-A639-5748-27FA-63A699A93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A950588-7987-DA24-E9AD-86099D246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06948"/>
            <a:ext cx="10670976" cy="5472608"/>
          </a:xfrm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nl-BE" sz="2400" dirty="0"/>
              <a:t>3.	Hoe verhoudt de voorgestelde tool zich qua 	gebruiksvriendelijkheid en effectiviteit ten opzichte van een 	basisversie van </a:t>
            </a:r>
            <a:r>
              <a:rPr lang="nl-BE" sz="2400" dirty="0" err="1"/>
              <a:t>mindmapsoftware</a:t>
            </a:r>
            <a:r>
              <a:rPr lang="nl-BE" sz="2400" dirty="0"/>
              <a:t>?</a:t>
            </a:r>
          </a:p>
          <a:p>
            <a:pPr marL="457200" lvl="1" indent="0">
              <a:buNone/>
            </a:pPr>
            <a:endParaRPr lang="nl-BE" sz="2200" dirty="0"/>
          </a:p>
          <a:p>
            <a:pPr lvl="1"/>
            <a:r>
              <a:rPr lang="nl-BE" sz="2200" dirty="0"/>
              <a:t>Betere </a:t>
            </a:r>
            <a:r>
              <a:rPr lang="nl-BE" sz="2200" dirty="0" err="1"/>
              <a:t>gebruiksvriendelijheid</a:t>
            </a:r>
            <a:endParaRPr lang="nl-BE" sz="2200" dirty="0"/>
          </a:p>
          <a:p>
            <a:pPr lvl="2"/>
            <a:r>
              <a:rPr lang="nl-BE" sz="2000" dirty="0"/>
              <a:t>Positieve UEQ-scores</a:t>
            </a:r>
          </a:p>
          <a:p>
            <a:pPr lvl="1"/>
            <a:r>
              <a:rPr lang="nl-BE" sz="2200" dirty="0"/>
              <a:t>Betere effectiviteit</a:t>
            </a:r>
          </a:p>
          <a:p>
            <a:pPr lvl="2"/>
            <a:r>
              <a:rPr lang="nl-BE" sz="2000" dirty="0"/>
              <a:t>Positieve UEQ-score</a:t>
            </a:r>
          </a:p>
          <a:p>
            <a:pPr lvl="2"/>
            <a:r>
              <a:rPr lang="nl-BE" sz="2000" dirty="0"/>
              <a:t>Vragen</a:t>
            </a:r>
          </a:p>
          <a:p>
            <a:pPr lvl="2"/>
            <a:r>
              <a:rPr lang="nl-BE" sz="2000" dirty="0" err="1"/>
              <a:t>Danger</a:t>
            </a:r>
            <a:r>
              <a:rPr lang="nl-BE" sz="2000" dirty="0"/>
              <a:t> ratings</a:t>
            </a:r>
          </a:p>
          <a:p>
            <a:pPr lvl="2"/>
            <a:r>
              <a:rPr lang="nl-BE" sz="2000" dirty="0"/>
              <a:t>Status filter</a:t>
            </a:r>
          </a:p>
          <a:p>
            <a:pPr lvl="1"/>
            <a:r>
              <a:rPr lang="nl-BE" sz="2200" dirty="0"/>
              <a:t>Toegankelijker voor niet security-experts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AF719A9-34AB-118E-3302-27E9E70C0A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16632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Onderzoeksvraag 3</a:t>
            </a:r>
          </a:p>
        </p:txBody>
      </p:sp>
    </p:spTree>
    <p:extLst>
      <p:ext uri="{BB962C8B-B14F-4D97-AF65-F5344CB8AC3E}">
        <p14:creationId xmlns:p14="http://schemas.microsoft.com/office/powerpoint/2010/main" val="7460541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FB14B-1606-E69F-9481-92D701372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FC25486-6240-05F4-8303-A2F935B4B0E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417" y="2851597"/>
            <a:ext cx="10972800" cy="433387"/>
          </a:xfrm>
        </p:spPr>
        <p:txBody>
          <a:bodyPr/>
          <a:lstStyle/>
          <a:p>
            <a:r>
              <a:rPr lang="nl-BE" sz="6000" dirty="0"/>
              <a:t>Conclusie</a:t>
            </a:r>
          </a:p>
        </p:txBody>
      </p:sp>
    </p:spTree>
    <p:extLst>
      <p:ext uri="{BB962C8B-B14F-4D97-AF65-F5344CB8AC3E}">
        <p14:creationId xmlns:p14="http://schemas.microsoft.com/office/powerpoint/2010/main" val="36307867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97F69-31FF-000C-402A-109738C98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96CE614-BD5F-98A3-D0BA-46B63FA93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06948"/>
            <a:ext cx="10670976" cy="5472608"/>
          </a:xfrm>
        </p:spPr>
        <p:txBody>
          <a:bodyPr wrap="square" anchor="t">
            <a:normAutofit/>
          </a:bodyPr>
          <a:lstStyle/>
          <a:p>
            <a:r>
              <a:rPr lang="nl-BE" sz="2400" dirty="0" err="1"/>
              <a:t>Threat</a:t>
            </a:r>
            <a:r>
              <a:rPr lang="nl-BE" sz="2400" dirty="0"/>
              <a:t> </a:t>
            </a:r>
            <a:r>
              <a:rPr lang="nl-BE" sz="2400" dirty="0" err="1"/>
              <a:t>modeling</a:t>
            </a:r>
            <a:endParaRPr lang="nl-BE" sz="2400" dirty="0"/>
          </a:p>
          <a:p>
            <a:pPr lvl="1"/>
            <a:r>
              <a:rPr lang="nl-BE" sz="2200" dirty="0"/>
              <a:t>Tijdsintensief</a:t>
            </a:r>
          </a:p>
          <a:p>
            <a:pPr lvl="1"/>
            <a:r>
              <a:rPr lang="nl-BE" sz="2200" dirty="0"/>
              <a:t>Security-experts</a:t>
            </a:r>
          </a:p>
          <a:p>
            <a:r>
              <a:rPr lang="nl-BE" sz="2400" dirty="0"/>
              <a:t>Toegankelijkere aanpak</a:t>
            </a:r>
          </a:p>
          <a:p>
            <a:r>
              <a:rPr lang="nl-BE" sz="2400" dirty="0"/>
              <a:t>Basisfunctionaliteiten</a:t>
            </a:r>
          </a:p>
          <a:p>
            <a:pPr lvl="1"/>
            <a:r>
              <a:rPr lang="nl-BE" sz="2000" dirty="0"/>
              <a:t>Werkt</a:t>
            </a:r>
          </a:p>
          <a:p>
            <a:pPr lvl="1"/>
            <a:r>
              <a:rPr lang="nl-BE" sz="2000" dirty="0"/>
              <a:t>Slechte efficiëntie</a:t>
            </a:r>
          </a:p>
          <a:p>
            <a:r>
              <a:rPr lang="nl-BE" sz="2200" dirty="0"/>
              <a:t>Pragmatische UX-features –&gt; verbeterde efficiëntie</a:t>
            </a:r>
          </a:p>
          <a:p>
            <a:r>
              <a:rPr lang="nl-BE" sz="2200" dirty="0"/>
              <a:t>Duidelijke verbetering uitgebreide versie</a:t>
            </a:r>
          </a:p>
          <a:p>
            <a:r>
              <a:rPr lang="nl-BE" sz="2200" dirty="0"/>
              <a:t>Features toepassen in bestaande tools</a:t>
            </a:r>
          </a:p>
          <a:p>
            <a:r>
              <a:rPr lang="nl-BE" sz="2200" dirty="0"/>
              <a:t>Verbeterde </a:t>
            </a:r>
            <a:r>
              <a:rPr lang="nl-BE" sz="2200" dirty="0" err="1"/>
              <a:t>usability</a:t>
            </a:r>
            <a:r>
              <a:rPr lang="nl-BE" sz="2200" dirty="0"/>
              <a:t> kan helpen bij security te verbeteren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EDD6986-ECB8-A5D1-07A7-ADCA4403C34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16632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Conclusie</a:t>
            </a:r>
          </a:p>
        </p:txBody>
      </p:sp>
    </p:spTree>
    <p:extLst>
      <p:ext uri="{BB962C8B-B14F-4D97-AF65-F5344CB8AC3E}">
        <p14:creationId xmlns:p14="http://schemas.microsoft.com/office/powerpoint/2010/main" val="17246740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58418-B994-66FD-5388-ED386522D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8CECDC9-B6D8-7219-8E58-74CB03B61E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006948"/>
            <a:ext cx="10670976" cy="5472608"/>
          </a:xfrm>
        </p:spPr>
        <p:txBody>
          <a:bodyPr wrap="square" anchor="t">
            <a:normAutofit/>
          </a:bodyPr>
          <a:lstStyle/>
          <a:p>
            <a:r>
              <a:rPr lang="nl-BE" sz="2200" dirty="0"/>
              <a:t>Extra features testen</a:t>
            </a:r>
          </a:p>
          <a:p>
            <a:pPr lvl="1"/>
            <a:r>
              <a:rPr lang="nl-BE" sz="2000" dirty="0" err="1"/>
              <a:t>Branch</a:t>
            </a:r>
            <a:r>
              <a:rPr lang="nl-BE" sz="2000" dirty="0"/>
              <a:t> zoom</a:t>
            </a:r>
          </a:p>
          <a:p>
            <a:pPr lvl="1"/>
            <a:r>
              <a:rPr lang="nl-BE" sz="2000" dirty="0"/>
              <a:t>Real-time samenwerken</a:t>
            </a:r>
          </a:p>
          <a:p>
            <a:pPr lvl="1"/>
            <a:r>
              <a:rPr lang="nl-BE" sz="2000" dirty="0"/>
              <a:t>AI-ondersteuning voor bv. </a:t>
            </a:r>
            <a:r>
              <a:rPr lang="nl-BE" sz="2000" dirty="0" err="1"/>
              <a:t>threat</a:t>
            </a:r>
            <a:r>
              <a:rPr lang="nl-BE" sz="2000" dirty="0"/>
              <a:t>-suggesties</a:t>
            </a:r>
          </a:p>
          <a:p>
            <a:endParaRPr lang="nl-BE" sz="2200" dirty="0"/>
          </a:p>
          <a:p>
            <a:r>
              <a:rPr lang="nl-BE" sz="2200" dirty="0"/>
              <a:t>Verdere gebruikersstudie</a:t>
            </a:r>
          </a:p>
          <a:p>
            <a:pPr lvl="1"/>
            <a:r>
              <a:rPr lang="nl-BE" sz="2000" dirty="0"/>
              <a:t>Op grotere schaal</a:t>
            </a:r>
          </a:p>
          <a:p>
            <a:pPr lvl="1"/>
            <a:r>
              <a:rPr lang="nl-BE" sz="2000" dirty="0"/>
              <a:t>Langere periode</a:t>
            </a:r>
          </a:p>
          <a:p>
            <a:pPr lvl="1"/>
            <a:r>
              <a:rPr lang="nl-BE" sz="2000" dirty="0"/>
              <a:t>In “echte” werkomgeving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EDC281B-40F6-91DC-11B2-15708FADFD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16632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Toekomstig werk</a:t>
            </a:r>
          </a:p>
        </p:txBody>
      </p:sp>
    </p:spTree>
    <p:extLst>
      <p:ext uri="{BB962C8B-B14F-4D97-AF65-F5344CB8AC3E}">
        <p14:creationId xmlns:p14="http://schemas.microsoft.com/office/powerpoint/2010/main" val="18857307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A19C9-367D-E3A8-182B-EC57205D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AFB0AA0-CC04-0E2B-D7F9-D106483F39D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417" y="2851597"/>
            <a:ext cx="10972800" cy="433387"/>
          </a:xfrm>
        </p:spPr>
        <p:txBody>
          <a:bodyPr/>
          <a:lstStyle/>
          <a:p>
            <a:r>
              <a:rPr lang="nl-BE" sz="6000" dirty="0"/>
              <a:t>Vragen?</a:t>
            </a:r>
          </a:p>
        </p:txBody>
      </p:sp>
    </p:spTree>
    <p:extLst>
      <p:ext uri="{BB962C8B-B14F-4D97-AF65-F5344CB8AC3E}">
        <p14:creationId xmlns:p14="http://schemas.microsoft.com/office/powerpoint/2010/main" val="10872722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166B-C515-47F6-0C70-E76140552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72EBBAEF-E143-554C-1C1F-54399F37FE4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16632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Vragen?</a:t>
            </a:r>
          </a:p>
        </p:txBody>
      </p:sp>
      <p:pic>
        <p:nvPicPr>
          <p:cNvPr id="3" name="Afbeelding 2" descr="Afbeelding met tekst, elektronica, computer, schermopname&#10;&#10;Door AI gegenereerde inhoud is mogelijk onjuist.">
            <a:extLst>
              <a:ext uri="{FF2B5EF4-FFF2-40B4-BE49-F238E27FC236}">
                <a16:creationId xmlns:a16="http://schemas.microsoft.com/office/drawing/2014/main" id="{C637C3D5-907D-D041-00C2-7F9F44D64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355" y="670675"/>
            <a:ext cx="3903290" cy="551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5373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036FD-DE73-CDEB-9E10-E44964860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7FA232E-BE82-E879-B04C-24F52934AC1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3935" y="116632"/>
            <a:ext cx="11987005" cy="549844"/>
          </a:xfrm>
        </p:spPr>
        <p:txBody>
          <a:bodyPr wrap="square" anchor="ctr">
            <a:normAutofit fontScale="90000"/>
          </a:bodyPr>
          <a:lstStyle/>
          <a:p>
            <a:r>
              <a:rPr lang="nl-BE" dirty="0"/>
              <a:t>Referenties</a:t>
            </a:r>
          </a:p>
        </p:txBody>
      </p:sp>
    </p:spTree>
    <p:extLst>
      <p:ext uri="{BB962C8B-B14F-4D97-AF65-F5344CB8AC3E}">
        <p14:creationId xmlns:p14="http://schemas.microsoft.com/office/powerpoint/2010/main" val="18741791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a839c4af37e9fb775237f959e1658ef4eeea9cb"/>
</p:tagLst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L_20171031_2018-2019_MP_sjabloon-ppt.potx" id="{E2ED51ED-2E39-43DA-B23C-7F40FC3EE651}" vid="{DE80C5EB-249E-4864-90A8-642525B275DD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NL_20181122_2018-2019_MP_sjabloon-ppt</Template>
  <TotalTime>209</TotalTime>
  <Words>969</Words>
  <Application>Microsoft Office PowerPoint</Application>
  <PresentationFormat>Breedbeeld</PresentationFormat>
  <Paragraphs>374</Paragraphs>
  <Slides>49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49</vt:i4>
      </vt:variant>
    </vt:vector>
  </HeadingPairs>
  <TitlesOfParts>
    <vt:vector size="55" baseType="lpstr">
      <vt:lpstr>Aptos</vt:lpstr>
      <vt:lpstr>Arial</vt:lpstr>
      <vt:lpstr>Calibri</vt:lpstr>
      <vt:lpstr>Verdana</vt:lpstr>
      <vt:lpstr>Wingdings</vt:lpstr>
      <vt:lpstr>Kantoorthema</vt:lpstr>
      <vt:lpstr>Gebruiksvriendelijke beveiligingsmodelleringtool voor de fortunately-unfortunately methode</vt:lpstr>
      <vt:lpstr>Inhoudsopgave</vt:lpstr>
      <vt:lpstr>Situering en doel</vt:lpstr>
      <vt:lpstr>Situering</vt:lpstr>
      <vt:lpstr>Doel van de thesis</vt:lpstr>
      <vt:lpstr>Onderzoeksvragen</vt:lpstr>
      <vt:lpstr>Fortunately-unfortunately methode</vt:lpstr>
      <vt:lpstr>Fortunately-unfortunately methode</vt:lpstr>
      <vt:lpstr>Werking van de methode</vt:lpstr>
      <vt:lpstr>Gerelateerd werk</vt:lpstr>
      <vt:lpstr>Gerelateerd werk</vt:lpstr>
      <vt:lpstr>Visualisatie technieken</vt:lpstr>
      <vt:lpstr>Ontwerp van de tool</vt:lpstr>
      <vt:lpstr>De basis van de tool</vt:lpstr>
      <vt:lpstr>Visualisatie</vt:lpstr>
      <vt:lpstr>Visualisatie</vt:lpstr>
      <vt:lpstr>Gekozen visualisatie</vt:lpstr>
      <vt:lpstr>Basisfuncties van de tool</vt:lpstr>
      <vt:lpstr>Toegevoegde features</vt:lpstr>
      <vt:lpstr>Node visualisatie</vt:lpstr>
      <vt:lpstr>Statusiconen</vt:lpstr>
      <vt:lpstr>Statusiconen</vt:lpstr>
      <vt:lpstr>Danger rating</vt:lpstr>
      <vt:lpstr>Branch summary</vt:lpstr>
      <vt:lpstr>Filter logica</vt:lpstr>
      <vt:lpstr>Filter logica</vt:lpstr>
      <vt:lpstr>Prototype berpekingen</vt:lpstr>
      <vt:lpstr>Gebruikersstudie</vt:lpstr>
      <vt:lpstr>Gebruikersstudie</vt:lpstr>
      <vt:lpstr>Gebruikersstudie</vt:lpstr>
      <vt:lpstr>Dataverzameling</vt:lpstr>
      <vt:lpstr>Beperkingen gebruikersstudie</vt:lpstr>
      <vt:lpstr>Beperkingen gebruikersstudie</vt:lpstr>
      <vt:lpstr>Resultaten</vt:lpstr>
      <vt:lpstr>Resultaten</vt:lpstr>
      <vt:lpstr>Observaties</vt:lpstr>
      <vt:lpstr>Ranking van features</vt:lpstr>
      <vt:lpstr>Verbeterpunten</vt:lpstr>
      <vt:lpstr>Mogelijke toevoegingen</vt:lpstr>
      <vt:lpstr>Antwoorden onderzoeksvragen</vt:lpstr>
      <vt:lpstr>Onderzoeksvraag 1</vt:lpstr>
      <vt:lpstr>Onderzoeksvraag 2</vt:lpstr>
      <vt:lpstr>Onderzoeksvraag 3</vt:lpstr>
      <vt:lpstr>Conclusie</vt:lpstr>
      <vt:lpstr>Conclusie</vt:lpstr>
      <vt:lpstr>Toekomstig werk</vt:lpstr>
      <vt:lpstr>Vragen?</vt:lpstr>
      <vt:lpstr>Vragen?</vt:lpstr>
      <vt:lpstr>Referenties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Voeg hier de titel in van je MP</dc:title>
  <dc:creator>Ronald Thoelen</dc:creator>
  <cp:lastModifiedBy>Mika Gielkens</cp:lastModifiedBy>
  <cp:revision>60</cp:revision>
  <dcterms:created xsi:type="dcterms:W3CDTF">2020-06-01T13:17:24Z</dcterms:created>
  <dcterms:modified xsi:type="dcterms:W3CDTF">2026-01-25T12:06:31Z</dcterms:modified>
</cp:coreProperties>
</file>