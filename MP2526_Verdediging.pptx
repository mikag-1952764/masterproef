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60" d="100"/>
          <a:sy n="60" d="100"/>
        </p:scale>
        <p:origin x="148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 err="1"/>
            <a:t>Threat</a:t>
          </a:r>
          <a:r>
            <a:rPr lang="nl-BE" sz="2800" dirty="0"/>
            <a:t> </a:t>
          </a:r>
          <a:r>
            <a:rPr lang="nl-BE" sz="2800" dirty="0" err="1"/>
            <a:t>modeling</a:t>
          </a:r>
          <a:endParaRPr lang="en-US" sz="2800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Systematische techniek</a:t>
          </a:r>
          <a:endParaRPr lang="en-US" sz="2000" dirty="0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Dreigingen:</a:t>
          </a:r>
          <a:endParaRPr lang="en-US" sz="2000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 custT="1"/>
      <dgm:spPr/>
      <dgm:t>
        <a:bodyPr/>
        <a:lstStyle/>
        <a:p>
          <a:r>
            <a:rPr lang="nl-BE" sz="2000" dirty="0"/>
            <a:t>Identificeren</a:t>
          </a:r>
          <a:endParaRPr lang="en-US" sz="2000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 custT="1"/>
      <dgm:spPr/>
      <dgm:t>
        <a:bodyPr/>
        <a:lstStyle/>
        <a:p>
          <a:r>
            <a:rPr lang="nl-BE" sz="2000" dirty="0"/>
            <a:t>Analyseren</a:t>
          </a:r>
          <a:endParaRPr lang="en-US" sz="2000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 custT="1"/>
      <dgm:spPr/>
      <dgm:t>
        <a:bodyPr/>
        <a:lstStyle/>
        <a:p>
          <a:r>
            <a:rPr lang="nl-BE" sz="2000" dirty="0"/>
            <a:t>Prioriteren</a:t>
          </a:r>
          <a:endParaRPr lang="en-US" sz="2000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nl-BE" sz="2000" dirty="0"/>
            <a:t>Bestaande methoden:</a:t>
          </a:r>
          <a:endParaRPr lang="en-US" sz="2000" dirty="0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 custT="1"/>
      <dgm:spPr/>
      <dgm:t>
        <a:bodyPr/>
        <a:lstStyle/>
        <a:p>
          <a:r>
            <a:rPr lang="nl-BE" sz="2000"/>
            <a:t>STRIDE</a:t>
          </a:r>
          <a:endParaRPr lang="en-US" sz="2000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 custT="1"/>
      <dgm:spPr/>
      <dgm:t>
        <a:bodyPr/>
        <a:lstStyle/>
        <a:p>
          <a:r>
            <a:rPr lang="nl-BE" sz="2000" dirty="0"/>
            <a:t>Attack trees</a:t>
          </a:r>
          <a:endParaRPr lang="en-US" sz="2000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sz="2800" dirty="0"/>
            <a:t>Doel thesis</a:t>
          </a:r>
          <a:endParaRPr lang="en-US" sz="2800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 custT="1"/>
      <dgm:spPr/>
      <dgm:t>
        <a:bodyPr/>
        <a:lstStyle/>
        <a:p>
          <a:pPr algn="ctr">
            <a:lnSpc>
              <a:spcPct val="100000"/>
            </a:lnSpc>
          </a:pPr>
          <a:r>
            <a:rPr lang="nl-BE" sz="2000" dirty="0"/>
            <a:t>Het doel is het ontwikkelen van een gebruiksvriendelijke en efficiënte </a:t>
          </a:r>
          <a:r>
            <a:rPr lang="nl-BE" sz="2000" dirty="0" err="1"/>
            <a:t>webtool</a:t>
          </a:r>
          <a:r>
            <a:rPr lang="nl-BE" sz="2000" dirty="0"/>
            <a:t> die, op basis van de </a:t>
          </a:r>
          <a:r>
            <a:rPr lang="nl-BE" sz="2000" dirty="0" err="1"/>
            <a:t>fortunately</a:t>
          </a:r>
          <a:r>
            <a:rPr lang="nl-BE" sz="2000" dirty="0"/>
            <a:t>–</a:t>
          </a:r>
          <a:r>
            <a:rPr lang="nl-BE" sz="2000" dirty="0" err="1"/>
            <a:t>unfortunately</a:t>
          </a:r>
          <a:r>
            <a:rPr lang="nl-BE" sz="2000" dirty="0"/>
            <a:t> methode, toegankelijk is voor niet‑security‑experts.</a:t>
          </a:r>
          <a:endParaRPr lang="en-US" sz="2000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594C34-1631-48EC-B197-1273D3CD48F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24EE2E6-BC7E-4CBD-9AFC-2CDAD94C646C}">
      <dgm:prSet custT="1"/>
      <dgm:spPr/>
      <dgm:t>
        <a:bodyPr/>
        <a:lstStyle/>
        <a:p>
          <a:r>
            <a:rPr lang="nl-BE" sz="2800" b="1" dirty="0"/>
            <a:t>Methode</a:t>
          </a:r>
          <a:endParaRPr lang="en-US" sz="1900" dirty="0"/>
        </a:p>
      </dgm:t>
    </dgm:pt>
    <dgm:pt modelId="{355B2394-AC9D-4FFF-88A5-9ED3548ED61D}" type="parTrans" cxnId="{D9728622-2CC7-49F4-A88E-29EF3B34BE80}">
      <dgm:prSet/>
      <dgm:spPr/>
      <dgm:t>
        <a:bodyPr/>
        <a:lstStyle/>
        <a:p>
          <a:endParaRPr lang="en-US"/>
        </a:p>
      </dgm:t>
    </dgm:pt>
    <dgm:pt modelId="{FB4F3651-BBEA-46CE-BA73-4A4190B471A0}" type="sibTrans" cxnId="{D9728622-2CC7-49F4-A88E-29EF3B34BE80}">
      <dgm:prSet/>
      <dgm:spPr/>
      <dgm:t>
        <a:bodyPr/>
        <a:lstStyle/>
        <a:p>
          <a:endParaRPr lang="en-US"/>
        </a:p>
      </dgm:t>
    </dgm:pt>
    <dgm:pt modelId="{2A716703-8C45-4679-9B0F-40ABCD3532AA}">
      <dgm:prSet custT="1"/>
      <dgm:spPr/>
      <dgm:t>
        <a:bodyPr/>
        <a:lstStyle/>
        <a:p>
          <a:r>
            <a:rPr lang="nl-BE" sz="1800" dirty="0" err="1"/>
            <a:t>Fortunately-unfotunately</a:t>
          </a:r>
          <a:r>
            <a:rPr lang="nl-BE" sz="1800" dirty="0"/>
            <a:t> methode</a:t>
          </a:r>
          <a:endParaRPr lang="en-US" sz="1800" dirty="0"/>
        </a:p>
      </dgm:t>
    </dgm:pt>
    <dgm:pt modelId="{A3976D67-A6BD-4B0C-8F37-1CD33FE4C68C}" type="parTrans" cxnId="{5D762A08-9567-4373-857D-24EFBCBDB0B7}">
      <dgm:prSet/>
      <dgm:spPr/>
      <dgm:t>
        <a:bodyPr/>
        <a:lstStyle/>
        <a:p>
          <a:endParaRPr lang="en-US"/>
        </a:p>
      </dgm:t>
    </dgm:pt>
    <dgm:pt modelId="{4CCA94B2-DA6A-40D0-AC72-06C3F9602B5F}" type="sibTrans" cxnId="{5D762A08-9567-4373-857D-24EFBCBDB0B7}">
      <dgm:prSet/>
      <dgm:spPr/>
      <dgm:t>
        <a:bodyPr/>
        <a:lstStyle/>
        <a:p>
          <a:endParaRPr lang="en-US"/>
        </a:p>
      </dgm:t>
    </dgm:pt>
    <dgm:pt modelId="{01CD4D02-8F47-4266-946A-EB5E536653BE}">
      <dgm:prSet custT="1"/>
      <dgm:spPr/>
      <dgm:t>
        <a:bodyPr/>
        <a:lstStyle/>
        <a:p>
          <a:r>
            <a:rPr lang="nl-BE" sz="1800" dirty="0"/>
            <a:t>Gerelateerd werk</a:t>
          </a:r>
          <a:endParaRPr lang="en-US" sz="1800" dirty="0"/>
        </a:p>
      </dgm:t>
    </dgm:pt>
    <dgm:pt modelId="{1A761D6C-6CB5-4D49-ABAE-F9F0958C6D1A}" type="parTrans" cxnId="{1B9601E0-F95A-4407-9DFC-D8B8E6F9C0D2}">
      <dgm:prSet/>
      <dgm:spPr/>
      <dgm:t>
        <a:bodyPr/>
        <a:lstStyle/>
        <a:p>
          <a:endParaRPr lang="en-US"/>
        </a:p>
      </dgm:t>
    </dgm:pt>
    <dgm:pt modelId="{51057474-F2EC-4050-9936-50357A27EF1F}" type="sibTrans" cxnId="{1B9601E0-F95A-4407-9DFC-D8B8E6F9C0D2}">
      <dgm:prSet/>
      <dgm:spPr/>
      <dgm:t>
        <a:bodyPr/>
        <a:lstStyle/>
        <a:p>
          <a:endParaRPr lang="en-US"/>
        </a:p>
      </dgm:t>
    </dgm:pt>
    <dgm:pt modelId="{B5387572-D7BC-4105-92B5-F7E4E41A2EA2}">
      <dgm:prSet custT="1"/>
      <dgm:spPr/>
      <dgm:t>
        <a:bodyPr/>
        <a:lstStyle/>
        <a:p>
          <a:r>
            <a:rPr lang="nl-BE" sz="1800" dirty="0"/>
            <a:t>Ontwerp van de tool</a:t>
          </a:r>
          <a:endParaRPr lang="en-US" sz="1800" dirty="0"/>
        </a:p>
      </dgm:t>
    </dgm:pt>
    <dgm:pt modelId="{637F3311-6C29-4C6F-888C-CE3494A72C5C}" type="parTrans" cxnId="{CCC0AF60-FA20-4437-AF33-8D3590875164}">
      <dgm:prSet/>
      <dgm:spPr/>
      <dgm:t>
        <a:bodyPr/>
        <a:lstStyle/>
        <a:p>
          <a:endParaRPr lang="en-US"/>
        </a:p>
      </dgm:t>
    </dgm:pt>
    <dgm:pt modelId="{36C07B2F-4C51-4069-A9D5-35FFAFAF1F70}" type="sibTrans" cxnId="{CCC0AF60-FA20-4437-AF33-8D3590875164}">
      <dgm:prSet/>
      <dgm:spPr/>
      <dgm:t>
        <a:bodyPr/>
        <a:lstStyle/>
        <a:p>
          <a:endParaRPr lang="en-US"/>
        </a:p>
      </dgm:t>
    </dgm:pt>
    <dgm:pt modelId="{AB6CA680-6312-48CE-BFDB-50329126EE07}">
      <dgm:prSet custT="1"/>
      <dgm:spPr/>
      <dgm:t>
        <a:bodyPr/>
        <a:lstStyle/>
        <a:p>
          <a:r>
            <a:rPr lang="nl-BE" sz="2800" b="1" dirty="0"/>
            <a:t>Gebruikersstudie</a:t>
          </a:r>
          <a:endParaRPr lang="en-US" sz="2800" dirty="0"/>
        </a:p>
      </dgm:t>
    </dgm:pt>
    <dgm:pt modelId="{40F6758E-D3E9-49CF-9CE6-BDC47D07F717}" type="parTrans" cxnId="{6E6C9C26-7F35-46DD-BBA3-BBE3BB171A76}">
      <dgm:prSet/>
      <dgm:spPr/>
      <dgm:t>
        <a:bodyPr/>
        <a:lstStyle/>
        <a:p>
          <a:endParaRPr lang="en-US"/>
        </a:p>
      </dgm:t>
    </dgm:pt>
    <dgm:pt modelId="{520732B0-9B37-40EE-B8B3-1DB24EFBE721}" type="sibTrans" cxnId="{6E6C9C26-7F35-46DD-BBA3-BBE3BB171A76}">
      <dgm:prSet/>
      <dgm:spPr/>
      <dgm:t>
        <a:bodyPr/>
        <a:lstStyle/>
        <a:p>
          <a:endParaRPr lang="en-US"/>
        </a:p>
      </dgm:t>
    </dgm:pt>
    <dgm:pt modelId="{2A40895D-DF2C-46D4-B3A2-519646649EBE}">
      <dgm:prSet/>
      <dgm:spPr/>
      <dgm:t>
        <a:bodyPr/>
        <a:lstStyle/>
        <a:p>
          <a:r>
            <a:rPr lang="nl-BE" dirty="0"/>
            <a:t>Gebruikersstudie</a:t>
          </a:r>
          <a:endParaRPr lang="en-US" dirty="0"/>
        </a:p>
      </dgm:t>
    </dgm:pt>
    <dgm:pt modelId="{9299124F-45DC-42F4-BCC5-3BA4438733BA}" type="parTrans" cxnId="{2CF2EDC9-2225-4351-B4F8-7B5E1FB4FAD0}">
      <dgm:prSet/>
      <dgm:spPr/>
      <dgm:t>
        <a:bodyPr/>
        <a:lstStyle/>
        <a:p>
          <a:endParaRPr lang="en-US"/>
        </a:p>
      </dgm:t>
    </dgm:pt>
    <dgm:pt modelId="{BF263C6F-8FD3-480F-AFC5-DC09EA39B578}" type="sibTrans" cxnId="{2CF2EDC9-2225-4351-B4F8-7B5E1FB4FAD0}">
      <dgm:prSet/>
      <dgm:spPr/>
      <dgm:t>
        <a:bodyPr/>
        <a:lstStyle/>
        <a:p>
          <a:endParaRPr lang="en-US"/>
        </a:p>
      </dgm:t>
    </dgm:pt>
    <dgm:pt modelId="{FD27C9F4-9EB2-4B8A-87BE-8BB67E7918B3}">
      <dgm:prSet/>
      <dgm:spPr/>
      <dgm:t>
        <a:bodyPr/>
        <a:lstStyle/>
        <a:p>
          <a:r>
            <a:rPr lang="nl-BE"/>
            <a:t>Resultaten</a:t>
          </a:r>
          <a:endParaRPr lang="en-US"/>
        </a:p>
      </dgm:t>
    </dgm:pt>
    <dgm:pt modelId="{79A36683-D5EF-4AEF-8562-5A6FB2F26109}" type="parTrans" cxnId="{BD1AE807-2B19-4755-B34E-E5850FBEB03E}">
      <dgm:prSet/>
      <dgm:spPr/>
      <dgm:t>
        <a:bodyPr/>
        <a:lstStyle/>
        <a:p>
          <a:endParaRPr lang="en-US"/>
        </a:p>
      </dgm:t>
    </dgm:pt>
    <dgm:pt modelId="{AE86864E-E901-4B5D-B41C-509CBFFACC30}" type="sibTrans" cxnId="{BD1AE807-2B19-4755-B34E-E5850FBEB03E}">
      <dgm:prSet/>
      <dgm:spPr/>
      <dgm:t>
        <a:bodyPr/>
        <a:lstStyle/>
        <a:p>
          <a:endParaRPr lang="en-US"/>
        </a:p>
      </dgm:t>
    </dgm:pt>
    <dgm:pt modelId="{A57E9CEC-2998-44F0-80AC-A05B6A5BE0D1}">
      <dgm:prSet custT="1"/>
      <dgm:spPr/>
      <dgm:t>
        <a:bodyPr/>
        <a:lstStyle/>
        <a:p>
          <a:r>
            <a:rPr lang="nl-BE" sz="2800" b="1" dirty="0"/>
            <a:t>Conclusie</a:t>
          </a:r>
          <a:endParaRPr lang="en-US" sz="1900" dirty="0"/>
        </a:p>
      </dgm:t>
    </dgm:pt>
    <dgm:pt modelId="{00160B2A-E0C8-44E8-9CBD-8087B50DFE80}" type="parTrans" cxnId="{541FFF2B-34FE-449F-8E32-166CC0D429D9}">
      <dgm:prSet/>
      <dgm:spPr/>
      <dgm:t>
        <a:bodyPr/>
        <a:lstStyle/>
        <a:p>
          <a:endParaRPr lang="en-US"/>
        </a:p>
      </dgm:t>
    </dgm:pt>
    <dgm:pt modelId="{20AC0DD9-5ADE-4C78-AA94-9D94B310863F}" type="sibTrans" cxnId="{541FFF2B-34FE-449F-8E32-166CC0D429D9}">
      <dgm:prSet/>
      <dgm:spPr/>
      <dgm:t>
        <a:bodyPr/>
        <a:lstStyle/>
        <a:p>
          <a:endParaRPr lang="en-US"/>
        </a:p>
      </dgm:t>
    </dgm:pt>
    <dgm:pt modelId="{BE4A73E9-A8D2-451E-9FF5-D2E77F2372ED}">
      <dgm:prSet custT="1"/>
      <dgm:spPr/>
      <dgm:t>
        <a:bodyPr/>
        <a:lstStyle/>
        <a:p>
          <a:r>
            <a:rPr lang="nl-BE" sz="2800" b="1" dirty="0"/>
            <a:t>Q&amp;A</a:t>
          </a:r>
          <a:endParaRPr lang="en-US" sz="2800" dirty="0"/>
        </a:p>
      </dgm:t>
    </dgm:pt>
    <dgm:pt modelId="{0B2A1424-D1B6-4A22-A0F1-8FDA8C73273B}" type="parTrans" cxnId="{A51DE549-2370-478C-BAA5-F6D560A61DD8}">
      <dgm:prSet/>
      <dgm:spPr/>
      <dgm:t>
        <a:bodyPr/>
        <a:lstStyle/>
        <a:p>
          <a:endParaRPr lang="en-US"/>
        </a:p>
      </dgm:t>
    </dgm:pt>
    <dgm:pt modelId="{C94FA540-6868-4FF0-B4D7-1BF0C558606D}" type="sibTrans" cxnId="{A51DE549-2370-478C-BAA5-F6D560A61DD8}">
      <dgm:prSet/>
      <dgm:spPr/>
      <dgm:t>
        <a:bodyPr/>
        <a:lstStyle/>
        <a:p>
          <a:endParaRPr lang="en-US"/>
        </a:p>
      </dgm:t>
    </dgm:pt>
    <dgm:pt modelId="{B4B5EE2C-5D35-43F7-A742-E13D24DF4318}">
      <dgm:prSet custT="1"/>
      <dgm:spPr/>
      <dgm:t>
        <a:bodyPr/>
        <a:lstStyle/>
        <a:p>
          <a:r>
            <a:rPr lang="nl-BE" sz="2800" b="1" dirty="0"/>
            <a:t>Referenties</a:t>
          </a:r>
          <a:endParaRPr lang="en-US" sz="2800" dirty="0"/>
        </a:p>
      </dgm:t>
    </dgm:pt>
    <dgm:pt modelId="{37BBEFEB-6EE1-4F41-AD5D-33BE91520146}" type="parTrans" cxnId="{59D02471-391F-4B99-9B8E-56EB9F4BE0C7}">
      <dgm:prSet/>
      <dgm:spPr/>
      <dgm:t>
        <a:bodyPr/>
        <a:lstStyle/>
        <a:p>
          <a:endParaRPr lang="en-US"/>
        </a:p>
      </dgm:t>
    </dgm:pt>
    <dgm:pt modelId="{1D6CF6BC-0293-4F34-BD42-758ABEC660DB}" type="sibTrans" cxnId="{59D02471-391F-4B99-9B8E-56EB9F4BE0C7}">
      <dgm:prSet/>
      <dgm:spPr/>
      <dgm:t>
        <a:bodyPr/>
        <a:lstStyle/>
        <a:p>
          <a:endParaRPr lang="en-US"/>
        </a:p>
      </dgm:t>
    </dgm:pt>
    <dgm:pt modelId="{613E7258-2967-4CE6-81DC-443082FB1CE2}" type="pres">
      <dgm:prSet presAssocID="{E7594C34-1631-48EC-B197-1273D3CD48F8}" presName="root" presStyleCnt="0">
        <dgm:presLayoutVars>
          <dgm:dir/>
          <dgm:resizeHandles val="exact"/>
        </dgm:presLayoutVars>
      </dgm:prSet>
      <dgm:spPr/>
    </dgm:pt>
    <dgm:pt modelId="{6DE89D8F-51FF-42DC-92B0-C72E5F491C23}" type="pres">
      <dgm:prSet presAssocID="{E24EE2E6-BC7E-4CBD-9AFC-2CDAD94C646C}" presName="compNode" presStyleCnt="0"/>
      <dgm:spPr/>
    </dgm:pt>
    <dgm:pt modelId="{19301D81-C71C-4194-8B05-F9DAC9211C28}" type="pres">
      <dgm:prSet presAssocID="{E24EE2E6-BC7E-4CBD-9AFC-2CDAD94C646C}" presName="bgRect" presStyleLbl="bgShp" presStyleIdx="0" presStyleCnt="5"/>
      <dgm:spPr/>
    </dgm:pt>
    <dgm:pt modelId="{A4324A8F-0EA5-4612-8010-25F1AE67899E}" type="pres">
      <dgm:prSet presAssocID="{E24EE2E6-BC7E-4CBD-9AFC-2CDAD94C646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ndwielen"/>
        </a:ext>
      </dgm:extLst>
    </dgm:pt>
    <dgm:pt modelId="{64EAB561-DB67-4312-B939-1CECB4E1062E}" type="pres">
      <dgm:prSet presAssocID="{E24EE2E6-BC7E-4CBD-9AFC-2CDAD94C646C}" presName="spaceRect" presStyleCnt="0"/>
      <dgm:spPr/>
    </dgm:pt>
    <dgm:pt modelId="{617A5354-519D-4494-8900-DEF49E1B7C74}" type="pres">
      <dgm:prSet presAssocID="{E24EE2E6-BC7E-4CBD-9AFC-2CDAD94C646C}" presName="parTx" presStyleLbl="revTx" presStyleIdx="0" presStyleCnt="7">
        <dgm:presLayoutVars>
          <dgm:chMax val="0"/>
          <dgm:chPref val="0"/>
        </dgm:presLayoutVars>
      </dgm:prSet>
      <dgm:spPr/>
    </dgm:pt>
    <dgm:pt modelId="{97BF3A8F-C418-45E7-93F4-7E93DC76B53E}" type="pres">
      <dgm:prSet presAssocID="{E24EE2E6-BC7E-4CBD-9AFC-2CDAD94C646C}" presName="desTx" presStyleLbl="revTx" presStyleIdx="1" presStyleCnt="7">
        <dgm:presLayoutVars/>
      </dgm:prSet>
      <dgm:spPr/>
    </dgm:pt>
    <dgm:pt modelId="{DBEDDFC6-2293-4722-BC89-F9D1AEF2D05F}" type="pres">
      <dgm:prSet presAssocID="{FB4F3651-BBEA-46CE-BA73-4A4190B471A0}" presName="sibTrans" presStyleCnt="0"/>
      <dgm:spPr/>
    </dgm:pt>
    <dgm:pt modelId="{5DE7AC1E-B5BB-4D6C-82B7-A3B2041A0715}" type="pres">
      <dgm:prSet presAssocID="{AB6CA680-6312-48CE-BFDB-50329126EE07}" presName="compNode" presStyleCnt="0"/>
      <dgm:spPr/>
    </dgm:pt>
    <dgm:pt modelId="{2810A142-E05E-4054-A5CE-75FFE18CC316}" type="pres">
      <dgm:prSet presAssocID="{AB6CA680-6312-48CE-BFDB-50329126EE07}" presName="bgRect" presStyleLbl="bgShp" presStyleIdx="1" presStyleCnt="5"/>
      <dgm:spPr/>
    </dgm:pt>
    <dgm:pt modelId="{A30EC4A2-7E3A-428B-9809-A33A68773070}" type="pres">
      <dgm:prSet presAssocID="{AB6CA680-6312-48CE-BFDB-50329126EE07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1B0D65B-16B5-46CD-B764-4D7F90A43C3F}" type="pres">
      <dgm:prSet presAssocID="{AB6CA680-6312-48CE-BFDB-50329126EE07}" presName="spaceRect" presStyleCnt="0"/>
      <dgm:spPr/>
    </dgm:pt>
    <dgm:pt modelId="{59285118-1BC3-42D0-AC9A-6B7C6065289E}" type="pres">
      <dgm:prSet presAssocID="{AB6CA680-6312-48CE-BFDB-50329126EE07}" presName="parTx" presStyleLbl="revTx" presStyleIdx="2" presStyleCnt="7">
        <dgm:presLayoutVars>
          <dgm:chMax val="0"/>
          <dgm:chPref val="0"/>
        </dgm:presLayoutVars>
      </dgm:prSet>
      <dgm:spPr/>
    </dgm:pt>
    <dgm:pt modelId="{43958A09-101B-455D-8E9A-E60C1E6E29A5}" type="pres">
      <dgm:prSet presAssocID="{AB6CA680-6312-48CE-BFDB-50329126EE07}" presName="desTx" presStyleLbl="revTx" presStyleIdx="3" presStyleCnt="7">
        <dgm:presLayoutVars/>
      </dgm:prSet>
      <dgm:spPr/>
    </dgm:pt>
    <dgm:pt modelId="{00319E15-13FA-4896-9B03-3F59DC726525}" type="pres">
      <dgm:prSet presAssocID="{520732B0-9B37-40EE-B8B3-1DB24EFBE721}" presName="sibTrans" presStyleCnt="0"/>
      <dgm:spPr/>
    </dgm:pt>
    <dgm:pt modelId="{686F8C01-E14E-4702-BC8B-8B98E6D6DBA6}" type="pres">
      <dgm:prSet presAssocID="{A57E9CEC-2998-44F0-80AC-A05B6A5BE0D1}" presName="compNode" presStyleCnt="0"/>
      <dgm:spPr/>
    </dgm:pt>
    <dgm:pt modelId="{580FF30F-B281-40A7-9F18-1E297C7A42CD}" type="pres">
      <dgm:prSet presAssocID="{A57E9CEC-2998-44F0-80AC-A05B6A5BE0D1}" presName="bgRect" presStyleLbl="bgShp" presStyleIdx="2" presStyleCnt="5" custLinFactNeighborY="999"/>
      <dgm:spPr/>
    </dgm:pt>
    <dgm:pt modelId="{81ACBAB9-92CA-44A8-8A0D-26A568A9862F}" type="pres">
      <dgm:prSet presAssocID="{A57E9CEC-2998-44F0-80AC-A05B6A5BE0D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mer"/>
        </a:ext>
      </dgm:extLst>
    </dgm:pt>
    <dgm:pt modelId="{BB00D712-D825-438D-BF47-D15989F9455D}" type="pres">
      <dgm:prSet presAssocID="{A57E9CEC-2998-44F0-80AC-A05B6A5BE0D1}" presName="spaceRect" presStyleCnt="0"/>
      <dgm:spPr/>
    </dgm:pt>
    <dgm:pt modelId="{D648F06C-8332-4EB0-BC0E-2972C674F0E1}" type="pres">
      <dgm:prSet presAssocID="{A57E9CEC-2998-44F0-80AC-A05B6A5BE0D1}" presName="parTx" presStyleLbl="revTx" presStyleIdx="4" presStyleCnt="7">
        <dgm:presLayoutVars>
          <dgm:chMax val="0"/>
          <dgm:chPref val="0"/>
        </dgm:presLayoutVars>
      </dgm:prSet>
      <dgm:spPr/>
    </dgm:pt>
    <dgm:pt modelId="{C2ACFB26-5A57-4186-B677-E3C60119BA03}" type="pres">
      <dgm:prSet presAssocID="{20AC0DD9-5ADE-4C78-AA94-9D94B310863F}" presName="sibTrans" presStyleCnt="0"/>
      <dgm:spPr/>
    </dgm:pt>
    <dgm:pt modelId="{3399C29A-3D3F-445A-A4C9-67A50F6093A0}" type="pres">
      <dgm:prSet presAssocID="{BE4A73E9-A8D2-451E-9FF5-D2E77F2372ED}" presName="compNode" presStyleCnt="0"/>
      <dgm:spPr/>
    </dgm:pt>
    <dgm:pt modelId="{D4EE17D5-6E7C-4E3D-BBBB-9576685F41F7}" type="pres">
      <dgm:prSet presAssocID="{BE4A73E9-A8D2-451E-9FF5-D2E77F2372ED}" presName="bgRect" presStyleLbl="bgShp" presStyleIdx="3" presStyleCnt="5"/>
      <dgm:spPr/>
    </dgm:pt>
    <dgm:pt modelId="{C04C3C59-83E2-436E-8B25-EE2EE3FA0AC9}" type="pres">
      <dgm:prSet presAssocID="{BE4A73E9-A8D2-451E-9FF5-D2E77F2372ED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ragen"/>
        </a:ext>
      </dgm:extLst>
    </dgm:pt>
    <dgm:pt modelId="{4FDA85DF-56EA-452E-9C31-B6BA219287DC}" type="pres">
      <dgm:prSet presAssocID="{BE4A73E9-A8D2-451E-9FF5-D2E77F2372ED}" presName="spaceRect" presStyleCnt="0"/>
      <dgm:spPr/>
    </dgm:pt>
    <dgm:pt modelId="{30F239E9-1324-454E-845A-D9B50BBEEF36}" type="pres">
      <dgm:prSet presAssocID="{BE4A73E9-A8D2-451E-9FF5-D2E77F2372ED}" presName="parTx" presStyleLbl="revTx" presStyleIdx="5" presStyleCnt="7">
        <dgm:presLayoutVars>
          <dgm:chMax val="0"/>
          <dgm:chPref val="0"/>
        </dgm:presLayoutVars>
      </dgm:prSet>
      <dgm:spPr/>
    </dgm:pt>
    <dgm:pt modelId="{B27FF3BB-53B7-40B8-8FF7-DDE1C28BF84C}" type="pres">
      <dgm:prSet presAssocID="{C94FA540-6868-4FF0-B4D7-1BF0C558606D}" presName="sibTrans" presStyleCnt="0"/>
      <dgm:spPr/>
    </dgm:pt>
    <dgm:pt modelId="{2A6CAA98-384D-417E-B603-EB34EEC7C0B0}" type="pres">
      <dgm:prSet presAssocID="{B4B5EE2C-5D35-43F7-A742-E13D24DF4318}" presName="compNode" presStyleCnt="0"/>
      <dgm:spPr/>
    </dgm:pt>
    <dgm:pt modelId="{92761737-C1B8-4397-B0BB-54916833F156}" type="pres">
      <dgm:prSet presAssocID="{B4B5EE2C-5D35-43F7-A742-E13D24DF4318}" presName="bgRect" presStyleLbl="bgShp" presStyleIdx="4" presStyleCnt="5"/>
      <dgm:spPr/>
    </dgm:pt>
    <dgm:pt modelId="{9CF51C04-171C-4403-90AF-D0C0A2CDCF6A}" type="pres">
      <dgm:prSet presAssocID="{B4B5EE2C-5D35-43F7-A742-E13D24DF431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eken"/>
        </a:ext>
      </dgm:extLst>
    </dgm:pt>
    <dgm:pt modelId="{5840ED8B-9363-448C-AFAE-C6E88197587C}" type="pres">
      <dgm:prSet presAssocID="{B4B5EE2C-5D35-43F7-A742-E13D24DF4318}" presName="spaceRect" presStyleCnt="0"/>
      <dgm:spPr/>
    </dgm:pt>
    <dgm:pt modelId="{BBA113B2-5FE4-4625-AC90-256F546CFBC0}" type="pres">
      <dgm:prSet presAssocID="{B4B5EE2C-5D35-43F7-A742-E13D24DF431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BD1AE807-2B19-4755-B34E-E5850FBEB03E}" srcId="{AB6CA680-6312-48CE-BFDB-50329126EE07}" destId="{FD27C9F4-9EB2-4B8A-87BE-8BB67E7918B3}" srcOrd="1" destOrd="0" parTransId="{79A36683-D5EF-4AEF-8562-5A6FB2F26109}" sibTransId="{AE86864E-E901-4B5D-B41C-509CBFFACC30}"/>
    <dgm:cxn modelId="{5D762A08-9567-4373-857D-24EFBCBDB0B7}" srcId="{E24EE2E6-BC7E-4CBD-9AFC-2CDAD94C646C}" destId="{2A716703-8C45-4679-9B0F-40ABCD3532AA}" srcOrd="0" destOrd="0" parTransId="{A3976D67-A6BD-4B0C-8F37-1CD33FE4C68C}" sibTransId="{4CCA94B2-DA6A-40D0-AC72-06C3F9602B5F}"/>
    <dgm:cxn modelId="{D845581C-692F-4530-B465-67AF63CA958B}" type="presOf" srcId="{2A716703-8C45-4679-9B0F-40ABCD3532AA}" destId="{97BF3A8F-C418-45E7-93F4-7E93DC76B53E}" srcOrd="0" destOrd="0" presId="urn:microsoft.com/office/officeart/2018/2/layout/IconVerticalSolidList"/>
    <dgm:cxn modelId="{D9728622-2CC7-49F4-A88E-29EF3B34BE80}" srcId="{E7594C34-1631-48EC-B197-1273D3CD48F8}" destId="{E24EE2E6-BC7E-4CBD-9AFC-2CDAD94C646C}" srcOrd="0" destOrd="0" parTransId="{355B2394-AC9D-4FFF-88A5-9ED3548ED61D}" sibTransId="{FB4F3651-BBEA-46CE-BA73-4A4190B471A0}"/>
    <dgm:cxn modelId="{6E6C9C26-7F35-46DD-BBA3-BBE3BB171A76}" srcId="{E7594C34-1631-48EC-B197-1273D3CD48F8}" destId="{AB6CA680-6312-48CE-BFDB-50329126EE07}" srcOrd="1" destOrd="0" parTransId="{40F6758E-D3E9-49CF-9CE6-BDC47D07F717}" sibTransId="{520732B0-9B37-40EE-B8B3-1DB24EFBE721}"/>
    <dgm:cxn modelId="{541FFF2B-34FE-449F-8E32-166CC0D429D9}" srcId="{E7594C34-1631-48EC-B197-1273D3CD48F8}" destId="{A57E9CEC-2998-44F0-80AC-A05B6A5BE0D1}" srcOrd="2" destOrd="0" parTransId="{00160B2A-E0C8-44E8-9CBD-8087B50DFE80}" sibTransId="{20AC0DD9-5ADE-4C78-AA94-9D94B310863F}"/>
    <dgm:cxn modelId="{F4333F37-F210-479A-B03B-D0D520B6BF34}" type="presOf" srcId="{AB6CA680-6312-48CE-BFDB-50329126EE07}" destId="{59285118-1BC3-42D0-AC9A-6B7C6065289E}" srcOrd="0" destOrd="0" presId="urn:microsoft.com/office/officeart/2018/2/layout/IconVerticalSolidList"/>
    <dgm:cxn modelId="{CCC0AF60-FA20-4437-AF33-8D3590875164}" srcId="{E24EE2E6-BC7E-4CBD-9AFC-2CDAD94C646C}" destId="{B5387572-D7BC-4105-92B5-F7E4E41A2EA2}" srcOrd="2" destOrd="0" parTransId="{637F3311-6C29-4C6F-888C-CE3494A72C5C}" sibTransId="{36C07B2F-4C51-4069-A9D5-35FFAFAF1F70}"/>
    <dgm:cxn modelId="{A51DE549-2370-478C-BAA5-F6D560A61DD8}" srcId="{E7594C34-1631-48EC-B197-1273D3CD48F8}" destId="{BE4A73E9-A8D2-451E-9FF5-D2E77F2372ED}" srcOrd="3" destOrd="0" parTransId="{0B2A1424-D1B6-4A22-A0F1-8FDA8C73273B}" sibTransId="{C94FA540-6868-4FF0-B4D7-1BF0C558606D}"/>
    <dgm:cxn modelId="{D8E7774C-D7FE-4817-8858-12D9714A6B70}" type="presOf" srcId="{A57E9CEC-2998-44F0-80AC-A05B6A5BE0D1}" destId="{D648F06C-8332-4EB0-BC0E-2972C674F0E1}" srcOrd="0" destOrd="0" presId="urn:microsoft.com/office/officeart/2018/2/layout/IconVerticalSolidList"/>
    <dgm:cxn modelId="{92CF564F-330F-4A46-9E62-FC116647BE97}" type="presOf" srcId="{FD27C9F4-9EB2-4B8A-87BE-8BB67E7918B3}" destId="{43958A09-101B-455D-8E9A-E60C1E6E29A5}" srcOrd="0" destOrd="1" presId="urn:microsoft.com/office/officeart/2018/2/layout/IconVerticalSolidList"/>
    <dgm:cxn modelId="{59D02471-391F-4B99-9B8E-56EB9F4BE0C7}" srcId="{E7594C34-1631-48EC-B197-1273D3CD48F8}" destId="{B4B5EE2C-5D35-43F7-A742-E13D24DF4318}" srcOrd="4" destOrd="0" parTransId="{37BBEFEB-6EE1-4F41-AD5D-33BE91520146}" sibTransId="{1D6CF6BC-0293-4F34-BD42-758ABEC660DB}"/>
    <dgm:cxn modelId="{25CC5E54-DF98-4153-9F55-EB865B8916A0}" type="presOf" srcId="{BE4A73E9-A8D2-451E-9FF5-D2E77F2372ED}" destId="{30F239E9-1324-454E-845A-D9B50BBEEF36}" srcOrd="0" destOrd="0" presId="urn:microsoft.com/office/officeart/2018/2/layout/IconVerticalSolidList"/>
    <dgm:cxn modelId="{E860DD98-193F-4027-B6C3-46E2C930BEEC}" type="presOf" srcId="{E24EE2E6-BC7E-4CBD-9AFC-2CDAD94C646C}" destId="{617A5354-519D-4494-8900-DEF49E1B7C74}" srcOrd="0" destOrd="0" presId="urn:microsoft.com/office/officeart/2018/2/layout/IconVerticalSolidList"/>
    <dgm:cxn modelId="{89BA5AB9-C33D-4195-97C3-FBCCD648BCC8}" type="presOf" srcId="{E7594C34-1631-48EC-B197-1273D3CD48F8}" destId="{613E7258-2967-4CE6-81DC-443082FB1CE2}" srcOrd="0" destOrd="0" presId="urn:microsoft.com/office/officeart/2018/2/layout/IconVerticalSolidList"/>
    <dgm:cxn modelId="{2CF2EDC9-2225-4351-B4F8-7B5E1FB4FAD0}" srcId="{AB6CA680-6312-48CE-BFDB-50329126EE07}" destId="{2A40895D-DF2C-46D4-B3A2-519646649EBE}" srcOrd="0" destOrd="0" parTransId="{9299124F-45DC-42F4-BCC5-3BA4438733BA}" sibTransId="{BF263C6F-8FD3-480F-AFC5-DC09EA39B578}"/>
    <dgm:cxn modelId="{DC6B5ED8-71BB-40A5-9ACF-42E455F78A8D}" type="presOf" srcId="{2A40895D-DF2C-46D4-B3A2-519646649EBE}" destId="{43958A09-101B-455D-8E9A-E60C1E6E29A5}" srcOrd="0" destOrd="0" presId="urn:microsoft.com/office/officeart/2018/2/layout/IconVerticalSolidList"/>
    <dgm:cxn modelId="{1B9601E0-F95A-4407-9DFC-D8B8E6F9C0D2}" srcId="{E24EE2E6-BC7E-4CBD-9AFC-2CDAD94C646C}" destId="{01CD4D02-8F47-4266-946A-EB5E536653BE}" srcOrd="1" destOrd="0" parTransId="{1A761D6C-6CB5-4D49-ABAE-F9F0958C6D1A}" sibTransId="{51057474-F2EC-4050-9936-50357A27EF1F}"/>
    <dgm:cxn modelId="{7F983BE8-97BD-4D46-AAF2-A75A3CA44400}" type="presOf" srcId="{01CD4D02-8F47-4266-946A-EB5E536653BE}" destId="{97BF3A8F-C418-45E7-93F4-7E93DC76B53E}" srcOrd="0" destOrd="1" presId="urn:microsoft.com/office/officeart/2018/2/layout/IconVerticalSolidList"/>
    <dgm:cxn modelId="{D6F846EA-34E4-4724-BC96-0BF3984C22D1}" type="presOf" srcId="{B4B5EE2C-5D35-43F7-A742-E13D24DF4318}" destId="{BBA113B2-5FE4-4625-AC90-256F546CFBC0}" srcOrd="0" destOrd="0" presId="urn:microsoft.com/office/officeart/2018/2/layout/IconVerticalSolidList"/>
    <dgm:cxn modelId="{5CCBEEEF-F4B8-471F-8EEE-974F5C009A95}" type="presOf" srcId="{B5387572-D7BC-4105-92B5-F7E4E41A2EA2}" destId="{97BF3A8F-C418-45E7-93F4-7E93DC76B53E}" srcOrd="0" destOrd="2" presId="urn:microsoft.com/office/officeart/2018/2/layout/IconVerticalSolidList"/>
    <dgm:cxn modelId="{2FE3CC1D-1947-4690-A04F-3E40CDC78463}" type="presParOf" srcId="{613E7258-2967-4CE6-81DC-443082FB1CE2}" destId="{6DE89D8F-51FF-42DC-92B0-C72E5F491C23}" srcOrd="0" destOrd="0" presId="urn:microsoft.com/office/officeart/2018/2/layout/IconVerticalSolidList"/>
    <dgm:cxn modelId="{5D0AD58C-A2DB-4A94-93D7-A992FD3EBB18}" type="presParOf" srcId="{6DE89D8F-51FF-42DC-92B0-C72E5F491C23}" destId="{19301D81-C71C-4194-8B05-F9DAC9211C28}" srcOrd="0" destOrd="0" presId="urn:microsoft.com/office/officeart/2018/2/layout/IconVerticalSolidList"/>
    <dgm:cxn modelId="{87F705C1-DDFA-4910-B902-5AC54507B362}" type="presParOf" srcId="{6DE89D8F-51FF-42DC-92B0-C72E5F491C23}" destId="{A4324A8F-0EA5-4612-8010-25F1AE67899E}" srcOrd="1" destOrd="0" presId="urn:microsoft.com/office/officeart/2018/2/layout/IconVerticalSolidList"/>
    <dgm:cxn modelId="{BA274C8A-D6A9-4273-9AFA-D7B304A72CBD}" type="presParOf" srcId="{6DE89D8F-51FF-42DC-92B0-C72E5F491C23}" destId="{64EAB561-DB67-4312-B939-1CECB4E1062E}" srcOrd="2" destOrd="0" presId="urn:microsoft.com/office/officeart/2018/2/layout/IconVerticalSolidList"/>
    <dgm:cxn modelId="{227D6F3C-44EA-4BD7-9548-DFC4C481C090}" type="presParOf" srcId="{6DE89D8F-51FF-42DC-92B0-C72E5F491C23}" destId="{617A5354-519D-4494-8900-DEF49E1B7C74}" srcOrd="3" destOrd="0" presId="urn:microsoft.com/office/officeart/2018/2/layout/IconVerticalSolidList"/>
    <dgm:cxn modelId="{8D89DDF6-6FE4-468C-A537-5A8E68A6DB86}" type="presParOf" srcId="{6DE89D8F-51FF-42DC-92B0-C72E5F491C23}" destId="{97BF3A8F-C418-45E7-93F4-7E93DC76B53E}" srcOrd="4" destOrd="0" presId="urn:microsoft.com/office/officeart/2018/2/layout/IconVerticalSolidList"/>
    <dgm:cxn modelId="{7308625E-8C83-4987-8F08-1613621EDA3A}" type="presParOf" srcId="{613E7258-2967-4CE6-81DC-443082FB1CE2}" destId="{DBEDDFC6-2293-4722-BC89-F9D1AEF2D05F}" srcOrd="1" destOrd="0" presId="urn:microsoft.com/office/officeart/2018/2/layout/IconVerticalSolidList"/>
    <dgm:cxn modelId="{EC43F932-5494-44CE-BA53-6DC469AD51B4}" type="presParOf" srcId="{613E7258-2967-4CE6-81DC-443082FB1CE2}" destId="{5DE7AC1E-B5BB-4D6C-82B7-A3B2041A0715}" srcOrd="2" destOrd="0" presId="urn:microsoft.com/office/officeart/2018/2/layout/IconVerticalSolidList"/>
    <dgm:cxn modelId="{28F5D6B3-7A4C-48DE-AA59-1638C8EBFD09}" type="presParOf" srcId="{5DE7AC1E-B5BB-4D6C-82B7-A3B2041A0715}" destId="{2810A142-E05E-4054-A5CE-75FFE18CC316}" srcOrd="0" destOrd="0" presId="urn:microsoft.com/office/officeart/2018/2/layout/IconVerticalSolidList"/>
    <dgm:cxn modelId="{A4698BB0-8B08-43DD-A17B-115484411B41}" type="presParOf" srcId="{5DE7AC1E-B5BB-4D6C-82B7-A3B2041A0715}" destId="{A30EC4A2-7E3A-428B-9809-A33A68773070}" srcOrd="1" destOrd="0" presId="urn:microsoft.com/office/officeart/2018/2/layout/IconVerticalSolidList"/>
    <dgm:cxn modelId="{8FDF66A7-C607-4E1E-B6F8-E04EECFB9BB8}" type="presParOf" srcId="{5DE7AC1E-B5BB-4D6C-82B7-A3B2041A0715}" destId="{21B0D65B-16B5-46CD-B764-4D7F90A43C3F}" srcOrd="2" destOrd="0" presId="urn:microsoft.com/office/officeart/2018/2/layout/IconVerticalSolidList"/>
    <dgm:cxn modelId="{8D97E595-A831-418A-AE1D-F7B8B0D8834B}" type="presParOf" srcId="{5DE7AC1E-B5BB-4D6C-82B7-A3B2041A0715}" destId="{59285118-1BC3-42D0-AC9A-6B7C6065289E}" srcOrd="3" destOrd="0" presId="urn:microsoft.com/office/officeart/2018/2/layout/IconVerticalSolidList"/>
    <dgm:cxn modelId="{777CFDF6-24EC-4AEE-9825-33F595727E7E}" type="presParOf" srcId="{5DE7AC1E-B5BB-4D6C-82B7-A3B2041A0715}" destId="{43958A09-101B-455D-8E9A-E60C1E6E29A5}" srcOrd="4" destOrd="0" presId="urn:microsoft.com/office/officeart/2018/2/layout/IconVerticalSolidList"/>
    <dgm:cxn modelId="{297D912D-3967-4DEA-9BE5-20A1C038614C}" type="presParOf" srcId="{613E7258-2967-4CE6-81DC-443082FB1CE2}" destId="{00319E15-13FA-4896-9B03-3F59DC726525}" srcOrd="3" destOrd="0" presId="urn:microsoft.com/office/officeart/2018/2/layout/IconVerticalSolidList"/>
    <dgm:cxn modelId="{C8FF8520-234E-4496-B21C-8884434FFAA0}" type="presParOf" srcId="{613E7258-2967-4CE6-81DC-443082FB1CE2}" destId="{686F8C01-E14E-4702-BC8B-8B98E6D6DBA6}" srcOrd="4" destOrd="0" presId="urn:microsoft.com/office/officeart/2018/2/layout/IconVerticalSolidList"/>
    <dgm:cxn modelId="{0D70249B-8D99-4479-B9ED-351DEA77646B}" type="presParOf" srcId="{686F8C01-E14E-4702-BC8B-8B98E6D6DBA6}" destId="{580FF30F-B281-40A7-9F18-1E297C7A42CD}" srcOrd="0" destOrd="0" presId="urn:microsoft.com/office/officeart/2018/2/layout/IconVerticalSolidList"/>
    <dgm:cxn modelId="{22C93AB8-91BD-4454-BCC2-AB2A056C416A}" type="presParOf" srcId="{686F8C01-E14E-4702-BC8B-8B98E6D6DBA6}" destId="{81ACBAB9-92CA-44A8-8A0D-26A568A9862F}" srcOrd="1" destOrd="0" presId="urn:microsoft.com/office/officeart/2018/2/layout/IconVerticalSolidList"/>
    <dgm:cxn modelId="{47667E3F-D906-4463-9F97-37E70BC80FFB}" type="presParOf" srcId="{686F8C01-E14E-4702-BC8B-8B98E6D6DBA6}" destId="{BB00D712-D825-438D-BF47-D15989F9455D}" srcOrd="2" destOrd="0" presId="urn:microsoft.com/office/officeart/2018/2/layout/IconVerticalSolidList"/>
    <dgm:cxn modelId="{058A1060-B8D8-4CBD-B81D-1FE79FE1C974}" type="presParOf" srcId="{686F8C01-E14E-4702-BC8B-8B98E6D6DBA6}" destId="{D648F06C-8332-4EB0-BC0E-2972C674F0E1}" srcOrd="3" destOrd="0" presId="urn:microsoft.com/office/officeart/2018/2/layout/IconVerticalSolidList"/>
    <dgm:cxn modelId="{4BD572DC-93B5-4B03-B54E-BB1E3EE2C093}" type="presParOf" srcId="{613E7258-2967-4CE6-81DC-443082FB1CE2}" destId="{C2ACFB26-5A57-4186-B677-E3C60119BA03}" srcOrd="5" destOrd="0" presId="urn:microsoft.com/office/officeart/2018/2/layout/IconVerticalSolidList"/>
    <dgm:cxn modelId="{27AAD091-2581-4AA9-AD53-AB444854CA65}" type="presParOf" srcId="{613E7258-2967-4CE6-81DC-443082FB1CE2}" destId="{3399C29A-3D3F-445A-A4C9-67A50F6093A0}" srcOrd="6" destOrd="0" presId="urn:microsoft.com/office/officeart/2018/2/layout/IconVerticalSolidList"/>
    <dgm:cxn modelId="{93C06616-349E-41ED-AC8F-9294D1656989}" type="presParOf" srcId="{3399C29A-3D3F-445A-A4C9-67A50F6093A0}" destId="{D4EE17D5-6E7C-4E3D-BBBB-9576685F41F7}" srcOrd="0" destOrd="0" presId="urn:microsoft.com/office/officeart/2018/2/layout/IconVerticalSolidList"/>
    <dgm:cxn modelId="{FB6474E5-AEB0-41DD-83DB-A0DBDDCE18CD}" type="presParOf" srcId="{3399C29A-3D3F-445A-A4C9-67A50F6093A0}" destId="{C04C3C59-83E2-436E-8B25-EE2EE3FA0AC9}" srcOrd="1" destOrd="0" presId="urn:microsoft.com/office/officeart/2018/2/layout/IconVerticalSolidList"/>
    <dgm:cxn modelId="{12F448FE-72CD-4CF6-8E91-BBCA586226B1}" type="presParOf" srcId="{3399C29A-3D3F-445A-A4C9-67A50F6093A0}" destId="{4FDA85DF-56EA-452E-9C31-B6BA219287DC}" srcOrd="2" destOrd="0" presId="urn:microsoft.com/office/officeart/2018/2/layout/IconVerticalSolidList"/>
    <dgm:cxn modelId="{D6049113-7DFB-47FD-BFF1-2B3E2FF6B63C}" type="presParOf" srcId="{3399C29A-3D3F-445A-A4C9-67A50F6093A0}" destId="{30F239E9-1324-454E-845A-D9B50BBEEF36}" srcOrd="3" destOrd="0" presId="urn:microsoft.com/office/officeart/2018/2/layout/IconVerticalSolidList"/>
    <dgm:cxn modelId="{C050B6B5-5A5C-4272-B61D-CBEC7FB16D34}" type="presParOf" srcId="{613E7258-2967-4CE6-81DC-443082FB1CE2}" destId="{B27FF3BB-53B7-40B8-8FF7-DDE1C28BF84C}" srcOrd="7" destOrd="0" presId="urn:microsoft.com/office/officeart/2018/2/layout/IconVerticalSolidList"/>
    <dgm:cxn modelId="{1C6F5B61-02E6-49AC-9B3C-71A880808EA3}" type="presParOf" srcId="{613E7258-2967-4CE6-81DC-443082FB1CE2}" destId="{2A6CAA98-384D-417E-B603-EB34EEC7C0B0}" srcOrd="8" destOrd="0" presId="urn:microsoft.com/office/officeart/2018/2/layout/IconVerticalSolidList"/>
    <dgm:cxn modelId="{7AC48B69-F673-41A6-8B59-37D86BB596FE}" type="presParOf" srcId="{2A6CAA98-384D-417E-B603-EB34EEC7C0B0}" destId="{92761737-C1B8-4397-B0BB-54916833F156}" srcOrd="0" destOrd="0" presId="urn:microsoft.com/office/officeart/2018/2/layout/IconVerticalSolidList"/>
    <dgm:cxn modelId="{66FF06FE-235D-4DE3-89E7-DC271939DE79}" type="presParOf" srcId="{2A6CAA98-384D-417E-B603-EB34EEC7C0B0}" destId="{9CF51C04-171C-4403-90AF-D0C0A2CDCF6A}" srcOrd="1" destOrd="0" presId="urn:microsoft.com/office/officeart/2018/2/layout/IconVerticalSolidList"/>
    <dgm:cxn modelId="{FDC37FFF-6B8D-46EC-9E16-CBF8F20141F5}" type="presParOf" srcId="{2A6CAA98-384D-417E-B603-EB34EEC7C0B0}" destId="{5840ED8B-9363-448C-AFAE-C6E88197587C}" srcOrd="2" destOrd="0" presId="urn:microsoft.com/office/officeart/2018/2/layout/IconVerticalSolidList"/>
    <dgm:cxn modelId="{42791FF5-5EB8-4EC6-A021-50EAD1D010D2}" type="presParOf" srcId="{2A6CAA98-384D-417E-B603-EB34EEC7C0B0}" destId="{BBA113B2-5FE4-4625-AC90-256F546CFBC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Questionnaire (UEQ) [14]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B97F9CFA-E7E9-42CA-99E6-652473873653}">
      <dgm:prSet/>
      <dgm:spPr/>
      <dgm:t>
        <a:bodyPr/>
        <a:lstStyle/>
        <a:p>
          <a:r>
            <a:rPr lang="en-US" dirty="0"/>
            <a:t>Informed </a:t>
          </a:r>
          <a:r>
            <a:rPr lang="en-US" dirty="0" err="1"/>
            <a:t>consentformulier</a:t>
          </a:r>
          <a:endParaRPr lang="en-US" dirty="0"/>
        </a:p>
      </dgm:t>
    </dgm:pt>
    <dgm:pt modelId="{85D65540-9B28-4A6D-8010-554795E5329E}" type="parTrans" cxnId="{62FC073B-71A3-4018-8D92-4394CA41FD5B}">
      <dgm:prSet/>
      <dgm:spPr/>
      <dgm:t>
        <a:bodyPr/>
        <a:lstStyle/>
        <a:p>
          <a:endParaRPr lang="nl-BE"/>
        </a:p>
      </dgm:t>
    </dgm:pt>
    <dgm:pt modelId="{54D8F428-CC23-4C76-8E63-364DA7DDC037}" type="sibTrans" cxnId="{62FC073B-71A3-4018-8D92-4394CA41FD5B}">
      <dgm:prSet/>
      <dgm:spPr/>
      <dgm:t>
        <a:bodyPr/>
        <a:lstStyle/>
        <a:p>
          <a:endParaRPr lang="nl-BE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304E5B0D-1000-4E9E-87FB-669E5E87D394}" type="presOf" srcId="{B97F9CFA-E7E9-42CA-99E6-652473873653}" destId="{17F367F8-5605-432D-8227-20598046014F}" srcOrd="0" destOrd="4" presId="urn:microsoft.com/office/officeart/2005/8/layout/list1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62FC073B-71A3-4018-8D92-4394CA41FD5B}" srcId="{E5C66DAA-0127-493D-9295-19ED12B9C0C5}" destId="{B97F9CFA-E7E9-42CA-99E6-652473873653}" srcOrd="4" destOrd="0" parTransId="{85D65540-9B28-4A6D-8010-554795E5329E}" sibTransId="{54D8F428-CC23-4C76-8E63-364DA7DDC037}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 custT="1"/>
      <dgm:spPr/>
      <dgm:t>
        <a:bodyPr/>
        <a:lstStyle/>
        <a:p>
          <a:r>
            <a:rPr lang="nl-BE" sz="2800" dirty="0"/>
            <a:t>Kleine steekproef/populatie</a:t>
          </a:r>
          <a:endParaRPr lang="en-US" sz="2800" dirty="0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 custT="1"/>
      <dgm:spPr/>
      <dgm:t>
        <a:bodyPr/>
        <a:lstStyle/>
        <a:p>
          <a:r>
            <a:rPr lang="nl-BE" sz="2800" dirty="0"/>
            <a:t>Zelfrapportage/bias</a:t>
          </a:r>
          <a:endParaRPr lang="en-US" sz="2800" dirty="0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 custT="1"/>
      <dgm:spPr/>
      <dgm:t>
        <a:bodyPr/>
        <a:lstStyle/>
        <a:p>
          <a:r>
            <a:rPr lang="nl-BE" sz="2800" dirty="0"/>
            <a:t>Beperkte vergelijkingsbasis en duur</a:t>
          </a:r>
          <a:endParaRPr lang="en-US" sz="2800" dirty="0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87713E3-0450-437A-8919-18C10E4BF486}">
      <dgm:prSet custT="1"/>
      <dgm:spPr/>
      <dgm:t>
        <a:bodyPr/>
        <a:lstStyle/>
        <a:p>
          <a:r>
            <a:rPr lang="nl-BE" sz="2000" dirty="0"/>
            <a:t>1. Welke basisfunctionaliteit is minimaal noodzakelijk om </a:t>
          </a:r>
          <a:r>
            <a:rPr lang="nl-BE" sz="2000" dirty="0" err="1"/>
            <a:t>threat</a:t>
          </a:r>
          <a:r>
            <a:rPr lang="nl-BE" sz="2000" dirty="0"/>
            <a:t> </a:t>
          </a:r>
          <a:r>
            <a:rPr lang="nl-BE" sz="2000" dirty="0" err="1"/>
            <a:t>modeling</a:t>
          </a:r>
          <a:r>
            <a:rPr lang="nl-BE" sz="2000" dirty="0"/>
            <a:t> met </a:t>
          </a:r>
          <a:r>
            <a:rPr lang="nl-BE" sz="2000" dirty="0" err="1"/>
            <a:t>fortunately‑unfortunately</a:t>
          </a:r>
          <a:r>
            <a:rPr lang="nl-BE" sz="2000" dirty="0"/>
            <a:t> trees te ondersteunen?</a:t>
          </a:r>
          <a:endParaRPr lang="en-US" sz="2000" dirty="0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 custT="1"/>
      <dgm:spPr/>
      <dgm:t>
        <a:bodyPr/>
        <a:lstStyle/>
        <a:p>
          <a:r>
            <a:rPr lang="nl-BE" sz="2000" dirty="0"/>
            <a:t>Node-creatie/-deletie</a:t>
          </a:r>
          <a:endParaRPr lang="en-US" sz="2000" dirty="0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 custT="1"/>
      <dgm:spPr/>
      <dgm:t>
        <a:bodyPr/>
        <a:lstStyle/>
        <a:p>
          <a:r>
            <a:rPr lang="nl-BE" sz="2000" dirty="0"/>
            <a:t>Uitklappen/inklappen</a:t>
          </a:r>
          <a:endParaRPr lang="en-US" sz="2000" dirty="0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 custT="1"/>
      <dgm:spPr/>
      <dgm:t>
        <a:bodyPr/>
        <a:lstStyle/>
        <a:p>
          <a:r>
            <a:rPr lang="nl-BE" sz="2000" dirty="0"/>
            <a:t>Zoeken</a:t>
          </a:r>
          <a:endParaRPr lang="en-US" sz="2000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 custT="1"/>
      <dgm:spPr/>
      <dgm:t>
        <a:bodyPr/>
        <a:lstStyle/>
        <a:p>
          <a:r>
            <a:rPr lang="nl-BE" sz="2000" dirty="0"/>
            <a:t>2. Welke extra functies (bv. filters, zoekfuncties, statusiconen en visuele structuren) worden door gebruikers als het meest nuttig ervaren?</a:t>
          </a:r>
          <a:endParaRPr lang="en-US" sz="2000" dirty="0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 custT="1"/>
      <dgm:spPr/>
      <dgm:t>
        <a:bodyPr/>
        <a:lstStyle/>
        <a:p>
          <a:r>
            <a:rPr lang="nl-BE" sz="2000" dirty="0"/>
            <a:t>Filtering op node-status</a:t>
          </a:r>
          <a:endParaRPr lang="en-US" sz="2000" dirty="0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 custT="1"/>
      <dgm:spPr/>
      <dgm:t>
        <a:bodyPr/>
        <a:lstStyle/>
        <a:p>
          <a:r>
            <a:rPr lang="nl-BE" sz="2000" dirty="0"/>
            <a:t>Aantal </a:t>
          </a:r>
          <a:r>
            <a:rPr lang="nl-BE" sz="2000" dirty="0" err="1"/>
            <a:t>nodes</a:t>
          </a:r>
          <a:r>
            <a:rPr lang="nl-BE" sz="2000" dirty="0"/>
            <a:t> per status</a:t>
          </a:r>
          <a:endParaRPr lang="en-US" sz="2000" dirty="0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 custT="1"/>
      <dgm:spPr/>
      <dgm:t>
        <a:bodyPr/>
        <a:lstStyle/>
        <a:p>
          <a:r>
            <a:rPr lang="nl-BE" sz="2000" dirty="0"/>
            <a:t>Classificering via het schild-icoon</a:t>
          </a:r>
          <a:endParaRPr lang="en-US" sz="2000" dirty="0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 custT="1"/>
      <dgm:spPr/>
      <dgm:t>
        <a:bodyPr/>
        <a:lstStyle/>
        <a:p>
          <a:r>
            <a:rPr lang="nl-BE" sz="2000" dirty="0"/>
            <a:t>3. Hoe verhoudt de voorgestelde tool zich qua gebruiksvriendelijkheid en effectiviteit ten opzichte van een basisversie van </a:t>
          </a:r>
          <a:r>
            <a:rPr lang="nl-BE" sz="2000" dirty="0" err="1"/>
            <a:t>mindmapsoftware</a:t>
          </a:r>
          <a:r>
            <a:rPr lang="nl-BE" sz="2000" dirty="0"/>
            <a:t>?</a:t>
          </a:r>
          <a:endParaRPr lang="en-US" sz="2400" dirty="0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 custT="1"/>
      <dgm:spPr/>
      <dgm:t>
        <a:bodyPr/>
        <a:lstStyle/>
        <a:p>
          <a:r>
            <a:rPr lang="nl-BE" sz="2000" dirty="0"/>
            <a:t>Betere gebruiksvriendelijkheid</a:t>
          </a:r>
          <a:endParaRPr lang="en-US" sz="2000" dirty="0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 custT="1"/>
      <dgm:spPr/>
      <dgm:t>
        <a:bodyPr/>
        <a:lstStyle/>
        <a:p>
          <a:r>
            <a:rPr lang="nl-BE" sz="2000" dirty="0"/>
            <a:t>Betere effectiviteit</a:t>
          </a:r>
          <a:endParaRPr lang="en-US" sz="2000" dirty="0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 custT="1"/>
      <dgm:spPr/>
      <dgm:t>
        <a:bodyPr/>
        <a:lstStyle/>
        <a:p>
          <a:r>
            <a:rPr lang="nl-BE" sz="2000" dirty="0"/>
            <a:t>Toegankelijker voor niet security-experts</a:t>
          </a:r>
          <a:endParaRPr lang="en-US" sz="2000" dirty="0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 custLinFactNeighborY="-755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 custT="1"/>
      <dgm:spPr/>
      <dgm:t>
        <a:bodyPr/>
        <a:lstStyle/>
        <a:p>
          <a:r>
            <a:rPr lang="nl-BE" sz="2400" dirty="0"/>
            <a:t>Extra features testen</a:t>
          </a:r>
          <a:endParaRPr lang="en-US" sz="2400" dirty="0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 custT="1"/>
      <dgm:spPr/>
      <dgm:t>
        <a:bodyPr/>
        <a:lstStyle/>
        <a:p>
          <a:r>
            <a:rPr lang="nl-BE" sz="2400" dirty="0" err="1"/>
            <a:t>Custom</a:t>
          </a:r>
          <a:r>
            <a:rPr lang="nl-BE" sz="2400" dirty="0"/>
            <a:t> status</a:t>
          </a:r>
          <a:endParaRPr lang="en-US" sz="2400" dirty="0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 custT="1"/>
      <dgm:spPr/>
      <dgm:t>
        <a:bodyPr/>
        <a:lstStyle/>
        <a:p>
          <a:r>
            <a:rPr lang="nl-BE" sz="2400" dirty="0" err="1"/>
            <a:t>Branch</a:t>
          </a:r>
          <a:r>
            <a:rPr lang="nl-BE" sz="2400" dirty="0"/>
            <a:t> zoom</a:t>
          </a:r>
          <a:endParaRPr lang="en-US" sz="2400" dirty="0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 custT="1"/>
      <dgm:spPr/>
      <dgm:t>
        <a:bodyPr/>
        <a:lstStyle/>
        <a:p>
          <a:r>
            <a:rPr lang="nl-BE" sz="2400"/>
            <a:t>Real-time samenwerken</a:t>
          </a:r>
          <a:endParaRPr lang="en-US" sz="2400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 custT="1"/>
      <dgm:spPr/>
      <dgm:t>
        <a:bodyPr/>
        <a:lstStyle/>
        <a:p>
          <a:r>
            <a:rPr lang="nl-BE" sz="2400" dirty="0"/>
            <a:t>AI-ondersteuning voor bv. </a:t>
          </a:r>
          <a:r>
            <a:rPr lang="nl-BE" sz="2400" dirty="0" err="1"/>
            <a:t>threat</a:t>
          </a:r>
          <a:r>
            <a:rPr lang="nl-BE" sz="2400" dirty="0"/>
            <a:t>-suggesties</a:t>
          </a:r>
          <a:endParaRPr lang="en-US" sz="2400" dirty="0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 custT="1"/>
      <dgm:spPr/>
      <dgm:t>
        <a:bodyPr/>
        <a:lstStyle/>
        <a:p>
          <a:r>
            <a:rPr lang="nl-BE" sz="2400" dirty="0"/>
            <a:t>Verdere gebruikersstudie</a:t>
          </a:r>
          <a:endParaRPr lang="en-US" sz="2400" dirty="0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 custT="1"/>
      <dgm:spPr/>
      <dgm:t>
        <a:bodyPr/>
        <a:lstStyle/>
        <a:p>
          <a:r>
            <a:rPr lang="nl-BE" sz="2400" dirty="0"/>
            <a:t>Op grotere schaal</a:t>
          </a:r>
          <a:endParaRPr lang="en-US" sz="2400" dirty="0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 custT="1"/>
      <dgm:spPr/>
      <dgm:t>
        <a:bodyPr/>
        <a:lstStyle/>
        <a:p>
          <a:r>
            <a:rPr lang="nl-BE" sz="2400" dirty="0"/>
            <a:t>Langere periode</a:t>
          </a:r>
          <a:endParaRPr lang="en-US" sz="2400" dirty="0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 custT="1"/>
      <dgm:spPr/>
      <dgm:t>
        <a:bodyPr/>
        <a:lstStyle/>
        <a:p>
          <a:r>
            <a:rPr lang="nl-BE" sz="2400" dirty="0"/>
            <a:t>In “echte” werkomgeving</a:t>
          </a:r>
          <a:endParaRPr lang="en-US" sz="2400" dirty="0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5616" y="0"/>
          <a:ext cx="1510523" cy="14626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92987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 err="1"/>
            <a:t>Threat</a:t>
          </a:r>
          <a:r>
            <a:rPr lang="nl-BE" sz="2800" kern="1200" dirty="0"/>
            <a:t> </a:t>
          </a:r>
          <a:r>
            <a:rPr lang="nl-BE" sz="2800" kern="1200" dirty="0" err="1"/>
            <a:t>modeling</a:t>
          </a:r>
          <a:endParaRPr lang="en-US" sz="2800" kern="1200" dirty="0"/>
        </a:p>
      </dsp:txBody>
      <dsp:txXfrm>
        <a:off x="792987" y="1679918"/>
        <a:ext cx="4315781" cy="626860"/>
      </dsp:txXfrm>
    </dsp:sp>
    <dsp:sp modelId="{0E08AE28-0D68-44C6-B6EF-477CDEB88556}">
      <dsp:nvSpPr>
        <dsp:cNvPr id="0" name=""/>
        <dsp:cNvSpPr/>
      </dsp:nvSpPr>
      <dsp:spPr>
        <a:xfrm>
          <a:off x="792987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Systematische techniek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Dreigingen: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Identificeren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Analyseren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Prioriteren</a:t>
          </a:r>
          <a:endParaRPr lang="en-US" sz="2000" kern="1200" dirty="0"/>
        </a:p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Bestaande methoden: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/>
            <a:t>STRIDE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000" kern="1200" dirty="0"/>
            <a:t>Attack trees</a:t>
          </a:r>
          <a:endParaRPr lang="en-US" sz="2000" kern="1200" dirty="0"/>
        </a:p>
      </dsp:txBody>
      <dsp:txXfrm>
        <a:off x="792987" y="2407822"/>
        <a:ext cx="4315781" cy="2809620"/>
      </dsp:txXfrm>
    </dsp:sp>
    <dsp:sp modelId="{15EF2AEE-4E23-462F-BFF9-A566B886B36A}">
      <dsp:nvSpPr>
        <dsp:cNvPr id="0" name=""/>
        <dsp:cNvSpPr/>
      </dsp:nvSpPr>
      <dsp:spPr>
        <a:xfrm>
          <a:off x="7266659" y="0"/>
          <a:ext cx="1510523" cy="14626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030" y="1679918"/>
          <a:ext cx="4315781" cy="626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800" kern="1200" dirty="0"/>
            <a:t>Doel thesis</a:t>
          </a:r>
          <a:endParaRPr lang="en-US" sz="2800" kern="1200" dirty="0"/>
        </a:p>
      </dsp:txBody>
      <dsp:txXfrm>
        <a:off x="5864030" y="1679918"/>
        <a:ext cx="4315781" cy="626860"/>
      </dsp:txXfrm>
    </dsp:sp>
    <dsp:sp modelId="{7A14753F-13CD-41E3-A4EB-68F61FC36167}">
      <dsp:nvSpPr>
        <dsp:cNvPr id="0" name=""/>
        <dsp:cNvSpPr/>
      </dsp:nvSpPr>
      <dsp:spPr>
        <a:xfrm>
          <a:off x="5864030" y="2407822"/>
          <a:ext cx="4315781" cy="2809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Het doel is het ontwikkelen van een gebruiksvriendelijke en efficiënte </a:t>
          </a:r>
          <a:r>
            <a:rPr lang="nl-BE" sz="2000" kern="1200" dirty="0" err="1"/>
            <a:t>webtool</a:t>
          </a:r>
          <a:r>
            <a:rPr lang="nl-BE" sz="2000" kern="1200" dirty="0"/>
            <a:t> die, op basis van de </a:t>
          </a:r>
          <a:r>
            <a:rPr lang="nl-BE" sz="2000" kern="1200" dirty="0" err="1"/>
            <a:t>fortunately</a:t>
          </a:r>
          <a:r>
            <a:rPr lang="nl-BE" sz="2000" kern="1200" dirty="0"/>
            <a:t>–</a:t>
          </a:r>
          <a:r>
            <a:rPr lang="nl-BE" sz="2000" kern="1200" dirty="0" err="1"/>
            <a:t>unfortunately</a:t>
          </a:r>
          <a:r>
            <a:rPr lang="nl-BE" sz="2000" kern="1200" dirty="0"/>
            <a:t> methode, toegankelijk is voor niet‑security‑experts.</a:t>
          </a:r>
          <a:endParaRPr lang="en-US" sz="2000" kern="1200" dirty="0"/>
        </a:p>
      </dsp:txBody>
      <dsp:txXfrm>
        <a:off x="5864030" y="2407822"/>
        <a:ext cx="4315781" cy="2809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301D81-C71C-4194-8B05-F9DAC9211C28}">
      <dsp:nvSpPr>
        <dsp:cNvPr id="0" name=""/>
        <dsp:cNvSpPr/>
      </dsp:nvSpPr>
      <dsp:spPr>
        <a:xfrm>
          <a:off x="0" y="6985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324A8F-0EA5-4612-8010-25F1AE67899E}">
      <dsp:nvSpPr>
        <dsp:cNvPr id="0" name=""/>
        <dsp:cNvSpPr/>
      </dsp:nvSpPr>
      <dsp:spPr>
        <a:xfrm>
          <a:off x="276863" y="212916"/>
          <a:ext cx="503388" cy="5033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7A5354-519D-4494-8900-DEF49E1B7C74}">
      <dsp:nvSpPr>
        <dsp:cNvPr id="0" name=""/>
        <dsp:cNvSpPr/>
      </dsp:nvSpPr>
      <dsp:spPr>
        <a:xfrm>
          <a:off x="1057115" y="6985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Methode</a:t>
          </a:r>
          <a:endParaRPr lang="en-US" sz="1900" kern="1200" dirty="0"/>
        </a:p>
      </dsp:txBody>
      <dsp:txXfrm>
        <a:off x="1057115" y="6985"/>
        <a:ext cx="4937760" cy="915251"/>
      </dsp:txXfrm>
    </dsp:sp>
    <dsp:sp modelId="{97BF3A8F-C418-45E7-93F4-7E93DC76B53E}">
      <dsp:nvSpPr>
        <dsp:cNvPr id="0" name=""/>
        <dsp:cNvSpPr/>
      </dsp:nvSpPr>
      <dsp:spPr>
        <a:xfrm>
          <a:off x="5994875" y="6985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 err="1"/>
            <a:t>Fortunately-unfotunately</a:t>
          </a:r>
          <a:r>
            <a:rPr lang="nl-BE" sz="1800" kern="1200" dirty="0"/>
            <a:t> methode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Gerelateerd werk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Ontwerp van de tool</a:t>
          </a:r>
          <a:endParaRPr lang="en-US" sz="1800" kern="1200" dirty="0"/>
        </a:p>
      </dsp:txBody>
      <dsp:txXfrm>
        <a:off x="5994875" y="6985"/>
        <a:ext cx="4976891" cy="915251"/>
      </dsp:txXfrm>
    </dsp:sp>
    <dsp:sp modelId="{2810A142-E05E-4054-A5CE-75FFE18CC316}">
      <dsp:nvSpPr>
        <dsp:cNvPr id="0" name=""/>
        <dsp:cNvSpPr/>
      </dsp:nvSpPr>
      <dsp:spPr>
        <a:xfrm>
          <a:off x="0" y="1151049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0EC4A2-7E3A-428B-9809-A33A68773070}">
      <dsp:nvSpPr>
        <dsp:cNvPr id="0" name=""/>
        <dsp:cNvSpPr/>
      </dsp:nvSpPr>
      <dsp:spPr>
        <a:xfrm>
          <a:off x="276863" y="1356980"/>
          <a:ext cx="503388" cy="5033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285118-1BC3-42D0-AC9A-6B7C6065289E}">
      <dsp:nvSpPr>
        <dsp:cNvPr id="0" name=""/>
        <dsp:cNvSpPr/>
      </dsp:nvSpPr>
      <dsp:spPr>
        <a:xfrm>
          <a:off x="1057115" y="1151049"/>
          <a:ext cx="4937760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Gebruikersstudie</a:t>
          </a:r>
          <a:endParaRPr lang="en-US" sz="2800" kern="1200" dirty="0"/>
        </a:p>
      </dsp:txBody>
      <dsp:txXfrm>
        <a:off x="1057115" y="1151049"/>
        <a:ext cx="4937760" cy="915251"/>
      </dsp:txXfrm>
    </dsp:sp>
    <dsp:sp modelId="{43958A09-101B-455D-8E9A-E60C1E6E29A5}">
      <dsp:nvSpPr>
        <dsp:cNvPr id="0" name=""/>
        <dsp:cNvSpPr/>
      </dsp:nvSpPr>
      <dsp:spPr>
        <a:xfrm>
          <a:off x="5994875" y="1151049"/>
          <a:ext cx="497689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Gebruikersstudie</a:t>
          </a:r>
          <a:endParaRPr lang="en-US" sz="1800" kern="1200" dirty="0"/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Resultaten</a:t>
          </a:r>
          <a:endParaRPr lang="en-US" sz="1800" kern="1200"/>
        </a:p>
      </dsp:txBody>
      <dsp:txXfrm>
        <a:off x="5994875" y="1151049"/>
        <a:ext cx="4976891" cy="915251"/>
      </dsp:txXfrm>
    </dsp:sp>
    <dsp:sp modelId="{580FF30F-B281-40A7-9F18-1E297C7A42CD}">
      <dsp:nvSpPr>
        <dsp:cNvPr id="0" name=""/>
        <dsp:cNvSpPr/>
      </dsp:nvSpPr>
      <dsp:spPr>
        <a:xfrm>
          <a:off x="0" y="2304256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ACBAB9-92CA-44A8-8A0D-26A568A9862F}">
      <dsp:nvSpPr>
        <dsp:cNvPr id="0" name=""/>
        <dsp:cNvSpPr/>
      </dsp:nvSpPr>
      <dsp:spPr>
        <a:xfrm>
          <a:off x="276863" y="2501044"/>
          <a:ext cx="503388" cy="5033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48F06C-8332-4EB0-BC0E-2972C674F0E1}">
      <dsp:nvSpPr>
        <dsp:cNvPr id="0" name=""/>
        <dsp:cNvSpPr/>
      </dsp:nvSpPr>
      <dsp:spPr>
        <a:xfrm>
          <a:off x="1057115" y="2295113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Conclusie</a:t>
          </a:r>
          <a:endParaRPr lang="en-US" sz="1900" kern="1200" dirty="0"/>
        </a:p>
      </dsp:txBody>
      <dsp:txXfrm>
        <a:off x="1057115" y="2295113"/>
        <a:ext cx="9914651" cy="915251"/>
      </dsp:txXfrm>
    </dsp:sp>
    <dsp:sp modelId="{D4EE17D5-6E7C-4E3D-BBBB-9576685F41F7}">
      <dsp:nvSpPr>
        <dsp:cNvPr id="0" name=""/>
        <dsp:cNvSpPr/>
      </dsp:nvSpPr>
      <dsp:spPr>
        <a:xfrm>
          <a:off x="0" y="3439177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4C3C59-83E2-436E-8B25-EE2EE3FA0AC9}">
      <dsp:nvSpPr>
        <dsp:cNvPr id="0" name=""/>
        <dsp:cNvSpPr/>
      </dsp:nvSpPr>
      <dsp:spPr>
        <a:xfrm>
          <a:off x="276863" y="3645108"/>
          <a:ext cx="503388" cy="5033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F239E9-1324-454E-845A-D9B50BBEEF36}">
      <dsp:nvSpPr>
        <dsp:cNvPr id="0" name=""/>
        <dsp:cNvSpPr/>
      </dsp:nvSpPr>
      <dsp:spPr>
        <a:xfrm>
          <a:off x="1057115" y="3439177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Q&amp;A</a:t>
          </a:r>
          <a:endParaRPr lang="en-US" sz="2800" kern="1200" dirty="0"/>
        </a:p>
      </dsp:txBody>
      <dsp:txXfrm>
        <a:off x="1057115" y="3439177"/>
        <a:ext cx="9914651" cy="915251"/>
      </dsp:txXfrm>
    </dsp:sp>
    <dsp:sp modelId="{92761737-C1B8-4397-B0BB-54916833F156}">
      <dsp:nvSpPr>
        <dsp:cNvPr id="0" name=""/>
        <dsp:cNvSpPr/>
      </dsp:nvSpPr>
      <dsp:spPr>
        <a:xfrm>
          <a:off x="0" y="4583241"/>
          <a:ext cx="10972800" cy="91525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F51C04-171C-4403-90AF-D0C0A2CDCF6A}">
      <dsp:nvSpPr>
        <dsp:cNvPr id="0" name=""/>
        <dsp:cNvSpPr/>
      </dsp:nvSpPr>
      <dsp:spPr>
        <a:xfrm>
          <a:off x="276863" y="4789173"/>
          <a:ext cx="503388" cy="5033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13B2-5FE4-4625-AC90-256F546CFBC0}">
      <dsp:nvSpPr>
        <dsp:cNvPr id="0" name=""/>
        <dsp:cNvSpPr/>
      </dsp:nvSpPr>
      <dsp:spPr>
        <a:xfrm>
          <a:off x="1057115" y="4583241"/>
          <a:ext cx="9914651" cy="9152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64" tIns="96864" rIns="96864" bIns="96864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b="1" kern="1200" dirty="0"/>
            <a:t>Referenties</a:t>
          </a:r>
          <a:endParaRPr lang="en-US" sz="2800" kern="1200" dirty="0"/>
        </a:p>
      </dsp:txBody>
      <dsp:txXfrm>
        <a:off x="1057115" y="4583241"/>
        <a:ext cx="9914651" cy="91525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366371"/>
          <a:ext cx="10972800" cy="235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20-28 jaar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Achtergrond informatica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Zeven geen security-modellering-ervaring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Studenten, junior </a:t>
          </a:r>
          <a:r>
            <a:rPr lang="nl-BE" sz="2200" kern="1200" dirty="0" err="1"/>
            <a:t>developers</a:t>
          </a:r>
          <a:r>
            <a:rPr lang="nl-BE" sz="2200" kern="1200" dirty="0"/>
            <a:t>, data engineer, scrum master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Informed </a:t>
          </a:r>
          <a:r>
            <a:rPr lang="en-US" sz="2200" kern="1200" dirty="0" err="1"/>
            <a:t>consentformulier</a:t>
          </a:r>
          <a:endParaRPr lang="en-US" sz="2200" kern="1200" dirty="0"/>
        </a:p>
      </dsp:txBody>
      <dsp:txXfrm>
        <a:off x="0" y="366371"/>
        <a:ext cx="10972800" cy="2356200"/>
      </dsp:txXfrm>
    </dsp:sp>
    <dsp:sp modelId="{342C0F4F-DE1E-4DB4-B94A-071837DA535B}">
      <dsp:nvSpPr>
        <dsp:cNvPr id="0" name=""/>
        <dsp:cNvSpPr/>
      </dsp:nvSpPr>
      <dsp:spPr>
        <a:xfrm>
          <a:off x="548640" y="4165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Negen deelnemers</a:t>
          </a:r>
          <a:endParaRPr lang="en-US" sz="2200" kern="1200"/>
        </a:p>
      </dsp:txBody>
      <dsp:txXfrm>
        <a:off x="580343" y="73354"/>
        <a:ext cx="7617554" cy="586034"/>
      </dsp:txXfrm>
    </dsp:sp>
    <dsp:sp modelId="{242B54D8-BEBF-445C-A9D2-656DFE2B9D71}">
      <dsp:nvSpPr>
        <dsp:cNvPr id="0" name=""/>
        <dsp:cNvSpPr/>
      </dsp:nvSpPr>
      <dsp:spPr>
        <a:xfrm>
          <a:off x="0" y="3166091"/>
          <a:ext cx="10972800" cy="2009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58216" rIns="8516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Opname scherm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Live opgevolgd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 dirty="0"/>
            <a:t>User </a:t>
          </a:r>
          <a:r>
            <a:rPr lang="nl-BE" sz="2200" kern="1200" dirty="0" err="1"/>
            <a:t>Experience</a:t>
          </a:r>
          <a:r>
            <a:rPr lang="nl-BE" sz="2200" kern="1200" dirty="0"/>
            <a:t> Questionnaire (UEQ) [14]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200" kern="1200"/>
            <a:t>Vragen/rangschikking</a:t>
          </a:r>
          <a:endParaRPr lang="en-US" sz="2200" kern="1200"/>
        </a:p>
      </dsp:txBody>
      <dsp:txXfrm>
        <a:off x="0" y="3166091"/>
        <a:ext cx="10972800" cy="2009700"/>
      </dsp:txXfrm>
    </dsp:sp>
    <dsp:sp modelId="{E002DBCA-EAB5-410F-8F12-D8A049FBE64D}">
      <dsp:nvSpPr>
        <dsp:cNvPr id="0" name=""/>
        <dsp:cNvSpPr/>
      </dsp:nvSpPr>
      <dsp:spPr>
        <a:xfrm>
          <a:off x="548640" y="2841371"/>
          <a:ext cx="7680960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Dataverzameling</a:t>
          </a:r>
          <a:endParaRPr lang="en-US" sz="2200" kern="1200"/>
        </a:p>
      </dsp:txBody>
      <dsp:txXfrm>
        <a:off x="580343" y="2873074"/>
        <a:ext cx="7617554" cy="5860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Kleine steekproef/populatie</a:t>
          </a:r>
          <a:endParaRPr lang="en-US" sz="2800" kern="1200" dirty="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Zelfrapportage/bias</a:t>
          </a:r>
          <a:endParaRPr lang="en-US" sz="2800" kern="1200" dirty="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800" kern="1200" dirty="0"/>
            <a:t>Beperkte vergelijkingsbasis en duur</a:t>
          </a:r>
          <a:endParaRPr lang="en-US" sz="2800" kern="1200" dirty="0"/>
        </a:p>
      </dsp:txBody>
      <dsp:txXfrm>
        <a:off x="82079" y="3615571"/>
        <a:ext cx="3786050" cy="151724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0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1. Welke basisfunctionaliteit is minimaal noodzakelijk om </a:t>
          </a:r>
          <a:r>
            <a:rPr lang="nl-BE" sz="2000" kern="1200" dirty="0" err="1"/>
            <a:t>threat</a:t>
          </a:r>
          <a:r>
            <a:rPr lang="nl-BE" sz="2000" kern="1200" dirty="0"/>
            <a:t> </a:t>
          </a:r>
          <a:r>
            <a:rPr lang="nl-BE" sz="2000" kern="1200" dirty="0" err="1"/>
            <a:t>modeling</a:t>
          </a:r>
          <a:r>
            <a:rPr lang="nl-BE" sz="2000" kern="1200" dirty="0"/>
            <a:t> met </a:t>
          </a:r>
          <a:r>
            <a:rPr lang="nl-BE" sz="2000" kern="1200" dirty="0" err="1"/>
            <a:t>fortunately‑unfortunately</a:t>
          </a:r>
          <a:r>
            <a:rPr lang="nl-BE" sz="2000" kern="1200" dirty="0"/>
            <a:t> trees te ondersteunen?</a:t>
          </a:r>
          <a:endParaRPr lang="en-US" sz="2000" kern="1200" dirty="0"/>
        </a:p>
      </dsp:txBody>
      <dsp:txXfrm>
        <a:off x="41123" y="41123"/>
        <a:ext cx="11020779" cy="760154"/>
      </dsp:txXfrm>
    </dsp:sp>
    <dsp:sp modelId="{0F2DCBB4-38CF-415A-860A-3333899E0398}">
      <dsp:nvSpPr>
        <dsp:cNvPr id="0" name=""/>
        <dsp:cNvSpPr/>
      </dsp:nvSpPr>
      <dsp:spPr>
        <a:xfrm>
          <a:off x="0" y="8501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Node-creatie/-deletie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Uitklappen/inklappen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Zoeken</a:t>
          </a:r>
          <a:endParaRPr lang="en-US" sz="2000" kern="1200" dirty="0"/>
        </a:p>
      </dsp:txBody>
      <dsp:txXfrm>
        <a:off x="0" y="850137"/>
        <a:ext cx="11103025" cy="1024649"/>
      </dsp:txXfrm>
    </dsp:sp>
    <dsp:sp modelId="{1BDCE52C-4793-4E03-B653-EF0517C6B487}">
      <dsp:nvSpPr>
        <dsp:cNvPr id="0" name=""/>
        <dsp:cNvSpPr/>
      </dsp:nvSpPr>
      <dsp:spPr>
        <a:xfrm>
          <a:off x="0" y="187478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2. Welke extra functies (bv. filters, zoekfuncties, statusiconen en visuele structuren) worden door gebruikers als het meest nuttig ervaren?</a:t>
          </a:r>
          <a:endParaRPr lang="en-US" sz="2000" kern="1200" dirty="0"/>
        </a:p>
      </dsp:txBody>
      <dsp:txXfrm>
        <a:off x="41123" y="1915910"/>
        <a:ext cx="11020779" cy="760154"/>
      </dsp:txXfrm>
    </dsp:sp>
    <dsp:sp modelId="{AA3F3FF9-32E9-4D31-809B-B409C24CE135}">
      <dsp:nvSpPr>
        <dsp:cNvPr id="0" name=""/>
        <dsp:cNvSpPr/>
      </dsp:nvSpPr>
      <dsp:spPr>
        <a:xfrm>
          <a:off x="0" y="271718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Filtering op node-status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Aantal </a:t>
          </a:r>
          <a:r>
            <a:rPr lang="nl-BE" sz="2000" kern="1200" dirty="0" err="1"/>
            <a:t>nodes</a:t>
          </a:r>
          <a:r>
            <a:rPr lang="nl-BE" sz="2000" kern="1200" dirty="0"/>
            <a:t> per status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Classificering via het schild-icoon</a:t>
          </a:r>
          <a:endParaRPr lang="en-US" sz="2000" kern="1200" dirty="0"/>
        </a:p>
      </dsp:txBody>
      <dsp:txXfrm>
        <a:off x="0" y="2717187"/>
        <a:ext cx="11103025" cy="1024649"/>
      </dsp:txXfrm>
    </dsp:sp>
    <dsp:sp modelId="{F4EC6C6E-5700-4E77-8A53-454BE243C3B9}">
      <dsp:nvSpPr>
        <dsp:cNvPr id="0" name=""/>
        <dsp:cNvSpPr/>
      </dsp:nvSpPr>
      <dsp:spPr>
        <a:xfrm>
          <a:off x="0" y="3741837"/>
          <a:ext cx="11103025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 dirty="0"/>
            <a:t>3. Hoe verhoudt de voorgestelde tool zich qua gebruiksvriendelijkheid en effectiviteit ten opzichte van een basisversie van </a:t>
          </a:r>
          <a:r>
            <a:rPr lang="nl-BE" sz="2000" kern="1200" dirty="0" err="1"/>
            <a:t>mindmapsoftware</a:t>
          </a:r>
          <a:r>
            <a:rPr lang="nl-BE" sz="2000" kern="1200" dirty="0"/>
            <a:t>?</a:t>
          </a:r>
          <a:endParaRPr lang="en-US" sz="2400" kern="1200" dirty="0"/>
        </a:p>
      </dsp:txBody>
      <dsp:txXfrm>
        <a:off x="41123" y="3782960"/>
        <a:ext cx="11020779" cy="760154"/>
      </dsp:txXfrm>
    </dsp:sp>
    <dsp:sp modelId="{F72ABF6D-C1B5-4192-9155-AB181E1D2D05}">
      <dsp:nvSpPr>
        <dsp:cNvPr id="0" name=""/>
        <dsp:cNvSpPr/>
      </dsp:nvSpPr>
      <dsp:spPr>
        <a:xfrm>
          <a:off x="0" y="4584237"/>
          <a:ext cx="11103025" cy="10246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gebruiksvriendelijkheid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Betere effectiviteit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2000" kern="1200" dirty="0"/>
            <a:t>Toegankelijker voor niet security-experts</a:t>
          </a:r>
          <a:endParaRPr lang="en-US" sz="2000" kern="1200" dirty="0"/>
        </a:p>
      </dsp:txBody>
      <dsp:txXfrm>
        <a:off x="0" y="4584237"/>
        <a:ext cx="11103025" cy="102464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29371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Custom</a:t>
          </a:r>
          <a:r>
            <a:rPr lang="nl-BE" sz="2400" kern="1200" dirty="0"/>
            <a:t> status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 err="1"/>
            <a:t>Branch</a:t>
          </a:r>
          <a:r>
            <a:rPr lang="nl-BE" sz="2400" kern="1200" dirty="0"/>
            <a:t> zoom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Real-time samenwerken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AI-ondersteuning voor bv. </a:t>
          </a:r>
          <a:r>
            <a:rPr lang="nl-BE" sz="2400" kern="1200" dirty="0" err="1"/>
            <a:t>threat</a:t>
          </a:r>
          <a:r>
            <a:rPr lang="nl-BE" sz="2400" kern="1200" dirty="0"/>
            <a:t>-suggesties</a:t>
          </a:r>
          <a:endParaRPr lang="en-US" sz="2400" kern="1200" dirty="0"/>
        </a:p>
      </dsp:txBody>
      <dsp:txXfrm>
        <a:off x="0" y="429371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133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Extra features testen</a:t>
          </a:r>
          <a:endParaRPr lang="en-US" sz="2400" kern="1200" dirty="0"/>
        </a:p>
      </dsp:txBody>
      <dsp:txXfrm>
        <a:off x="590430" y="43121"/>
        <a:ext cx="7597380" cy="772500"/>
      </dsp:txXfrm>
    </dsp:sp>
    <dsp:sp modelId="{C1F79392-0849-47E3-B5EF-C31769D9B83A}">
      <dsp:nvSpPr>
        <dsp:cNvPr id="0" name=""/>
        <dsp:cNvSpPr/>
      </dsp:nvSpPr>
      <dsp:spPr>
        <a:xfrm>
          <a:off x="0" y="3297761"/>
          <a:ext cx="10972800" cy="1918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604012" rIns="85161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Op grotere schaal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Langere periode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In “echte” werkomgeving</a:t>
          </a:r>
          <a:endParaRPr lang="en-US" sz="2400" kern="1200" dirty="0"/>
        </a:p>
      </dsp:txBody>
      <dsp:txXfrm>
        <a:off x="0" y="3297761"/>
        <a:ext cx="10972800" cy="1918350"/>
      </dsp:txXfrm>
    </dsp:sp>
    <dsp:sp modelId="{530ACE4E-7D57-4237-9962-1F766107B38B}">
      <dsp:nvSpPr>
        <dsp:cNvPr id="0" name=""/>
        <dsp:cNvSpPr/>
      </dsp:nvSpPr>
      <dsp:spPr>
        <a:xfrm>
          <a:off x="548640" y="2869721"/>
          <a:ext cx="7680960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400" kern="1200" dirty="0"/>
            <a:t>Verdere gebruikersstudie</a:t>
          </a:r>
          <a:endParaRPr lang="en-US" sz="2400" kern="1200" dirty="0"/>
        </a:p>
      </dsp:txBody>
      <dsp:txXfrm>
        <a:off x="590430" y="2911511"/>
        <a:ext cx="7597380" cy="7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30-1-2026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A459218-599D-CD07-E6CE-E529CFF1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 dirty="0"/>
          </a:p>
        </p:txBody>
      </p:sp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2468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F8DA5091-8B4F-9C83-66C2-A7170E0D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9" name="Tijdelijke aanduiding voor datum 8">
            <a:extLst>
              <a:ext uri="{FF2B5EF4-FFF2-40B4-BE49-F238E27FC236}">
                <a16:creationId xmlns:a16="http://schemas.microsoft.com/office/drawing/2014/main" id="{7813963B-1FD7-BA67-31BF-32718B734B2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AA9825B3-8FB6-973F-6076-74C933C1689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nl-BE"/>
          </a:p>
        </p:txBody>
      </p:sp>
      <p:sp>
        <p:nvSpPr>
          <p:cNvPr id="12" name="Tijdelijke aanduiding voor dianummer 11">
            <a:extLst>
              <a:ext uri="{FF2B5EF4-FFF2-40B4-BE49-F238E27FC236}">
                <a16:creationId xmlns:a16="http://schemas.microsoft.com/office/drawing/2014/main" id="{A0F49CE8-79E8-4BDE-FF32-1359A87798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-2400944" y="6376243"/>
            <a:ext cx="2844800" cy="365125"/>
          </a:xfrm>
        </p:spPr>
        <p:txBody>
          <a:bodyPr/>
          <a:lstStyle/>
          <a:p>
            <a:fld id="{2C8C6316-E44E-4DB2-87E9-228972E3BC6C}" type="slidenum">
              <a:rPr lang="nl-BE" altLang="en-US" smtClean="0"/>
              <a:pPr/>
              <a:t>‹nr.›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088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2F21A0B-90C1-97A4-DFFC-EAB0CE776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Situering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683475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A042044-7E18-B1DB-8D97-B822532C6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Onderzoeksvragen</a:t>
            </a:r>
            <a:endParaRPr lang="nl-BE" dirty="0"/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4B41D25-BF08-F2F3-F61F-C19106D2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Inhoudsopgave</a:t>
            </a:r>
            <a:endParaRPr lang="nl-BE" dirty="0"/>
          </a:p>
        </p:txBody>
      </p:sp>
      <p:graphicFrame>
        <p:nvGraphicFramePr>
          <p:cNvPr id="5" name="Tijdelijke aanduiding voor inhoud 1">
            <a:extLst>
              <a:ext uri="{FF2B5EF4-FFF2-40B4-BE49-F238E27FC236}">
                <a16:creationId xmlns:a16="http://schemas.microsoft.com/office/drawing/2014/main" id="{25E1EC43-8F4F-83CC-C250-500C3E7BE1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644046"/>
              </p:ext>
            </p:extLst>
          </p:nvPr>
        </p:nvGraphicFramePr>
        <p:xfrm>
          <a:off x="609600" y="692696"/>
          <a:ext cx="10972800" cy="5505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34EA59AA-9D10-E941-3DF3-0A062A6D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5</a:t>
            </a:fld>
            <a:endParaRPr lang="nl-BE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5AFBC1B-1600-F310-8108-520398CC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A59DD510-B622-EF72-3BA8-EC4195318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23" y="548680"/>
            <a:ext cx="7660754" cy="5400832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574A49E4-3B0D-EF5C-7330-8CB281F4D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400944" y="6381328"/>
            <a:ext cx="2844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2C8C6316-E44E-4DB2-87E9-228972E3BC6C}" type="slidenum">
              <a:rPr lang="nl-BE" altLang="en-US" smtClean="0"/>
              <a:pPr>
                <a:spcAft>
                  <a:spcPts val="600"/>
                </a:spcAft>
              </a:pPr>
              <a:t>7</a:t>
            </a:fld>
            <a:endParaRPr lang="nl-BE" altLang="en-US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85F1960-9EE0-1E32-FC59-F9E490A8341A}"/>
              </a:ext>
            </a:extLst>
          </p:cNvPr>
          <p:cNvSpPr txBox="1"/>
          <p:nvPr/>
        </p:nvSpPr>
        <p:spPr>
          <a:xfrm>
            <a:off x="2265623" y="5877272"/>
            <a:ext cx="7660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2BFF06F-6259-6B22-0B62-DB69A5C0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4766320" cy="2016221"/>
          </a:xfrm>
        </p:spPr>
        <p:txBody>
          <a:bodyPr/>
          <a:lstStyle/>
          <a:p>
            <a:r>
              <a:rPr lang="nl-BE" sz="2400" dirty="0"/>
              <a:t>Visualisatie technieken: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Argument-</a:t>
            </a:r>
            <a:r>
              <a:rPr lang="nl-BE" sz="2000" dirty="0" err="1"/>
              <a:t>mappingtool</a:t>
            </a:r>
            <a:r>
              <a:rPr lang="nl-BE" sz="2000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2: Voorbeeld van een </a:t>
            </a:r>
            <a:r>
              <a:rPr lang="nl-BE" sz="1600" dirty="0" err="1"/>
              <a:t>treemap</a:t>
            </a:r>
            <a:r>
              <a:rPr lang="nl-BE" sz="1600" dirty="0"/>
              <a:t> [9]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612258" y="5877272"/>
            <a:ext cx="4680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3: Voorbeeld van een circulaire </a:t>
            </a:r>
            <a:r>
              <a:rPr lang="nl-BE" sz="1600" dirty="0" err="1"/>
              <a:t>treemap</a:t>
            </a:r>
            <a:r>
              <a:rPr lang="nl-BE" sz="1600" dirty="0"/>
              <a:t> [10]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4: Voorbeeld van een hi-tree [8]</a:t>
            </a:r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AC8DF369-938F-20D2-4754-34DDC7E04C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77E9414F-64B2-77C8-1BC2-231953EF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576063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5: </a:t>
            </a:r>
            <a:r>
              <a:rPr lang="nl-BE" sz="1600" dirty="0" err="1"/>
              <a:t>React</a:t>
            </a:r>
            <a:r>
              <a:rPr lang="nl-BE" sz="1600" dirty="0"/>
              <a:t> logo [11]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6: Next.js logo [12]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7: D3-library logo [13]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BC3D2FA-C3F5-8DD5-B8B0-4C122D2172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8: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9: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5590FB84-64E3-5446-6C30-3A7E0495AAC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10: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11: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12: Fileview-geïnspireerde tree structuur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3687C8E-D232-09E8-2544-F80EA10E812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2" y="1268760"/>
            <a:ext cx="5405118" cy="3312368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581128"/>
            <a:ext cx="53909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13: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  <p:sp>
        <p:nvSpPr>
          <p:cNvPr id="13" name="Tijdelijke aanduiding voor dianummer 12">
            <a:extLst>
              <a:ext uri="{FF2B5EF4-FFF2-40B4-BE49-F238E27FC236}">
                <a16:creationId xmlns:a16="http://schemas.microsoft.com/office/drawing/2014/main" id="{E008EDFF-0A62-A95A-7522-BDAE33FBFB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14</a:t>
            </a:fld>
            <a:endParaRPr lang="nl-BE" altLang="en-US"/>
          </a:p>
        </p:txBody>
      </p:sp>
      <p:pic>
        <p:nvPicPr>
          <p:cNvPr id="15" name="Afbeelding 14" descr="Afbeelding met tekst, schermopname, Lettertype, logo&#10;&#10;Door AI gegenereerde inhoud is mogelijk onjuist.">
            <a:extLst>
              <a:ext uri="{FF2B5EF4-FFF2-40B4-BE49-F238E27FC236}">
                <a16:creationId xmlns:a16="http://schemas.microsoft.com/office/drawing/2014/main" id="{3BB980C4-4B3D-B4B7-512A-16FE041F03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5263" y="1052736"/>
            <a:ext cx="5824745" cy="3806554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0499C6DD-7A2D-EE9C-7508-7FDE844962AE}"/>
              </a:ext>
            </a:extLst>
          </p:cNvPr>
          <p:cNvSpPr txBox="1"/>
          <p:nvPr/>
        </p:nvSpPr>
        <p:spPr>
          <a:xfrm>
            <a:off x="6096000" y="4904293"/>
            <a:ext cx="57840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14: Voorbeeld van een </a:t>
            </a:r>
            <a:r>
              <a:rPr lang="nl-BE" sz="1600" dirty="0" err="1"/>
              <a:t>fortunately-unfortunately</a:t>
            </a:r>
            <a:r>
              <a:rPr lang="nl-BE" sz="1600" dirty="0"/>
              <a:t> tree uit de software</a:t>
            </a:r>
          </a:p>
        </p:txBody>
      </p:sp>
      <p:sp>
        <p:nvSpPr>
          <p:cNvPr id="16" name="Pijl: omhoog 15">
            <a:extLst>
              <a:ext uri="{FF2B5EF4-FFF2-40B4-BE49-F238E27FC236}">
                <a16:creationId xmlns:a16="http://schemas.microsoft.com/office/drawing/2014/main" id="{B1AF2C07-0BDF-5172-112A-5E89D3975852}"/>
              </a:ext>
            </a:extLst>
          </p:cNvPr>
          <p:cNvSpPr/>
          <p:nvPr/>
        </p:nvSpPr>
        <p:spPr>
          <a:xfrm rot="5400000">
            <a:off x="6980151" y="211296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7" name="Pijl: omhoog 16">
            <a:extLst>
              <a:ext uri="{FF2B5EF4-FFF2-40B4-BE49-F238E27FC236}">
                <a16:creationId xmlns:a16="http://schemas.microsoft.com/office/drawing/2014/main" id="{4DB8ABFE-870F-351C-412D-5E9AE2AF7767}"/>
              </a:ext>
            </a:extLst>
          </p:cNvPr>
          <p:cNvSpPr/>
          <p:nvPr/>
        </p:nvSpPr>
        <p:spPr>
          <a:xfrm rot="5400000">
            <a:off x="8443808" y="3244844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8" name="Pijl: omhoog 17">
            <a:extLst>
              <a:ext uri="{FF2B5EF4-FFF2-40B4-BE49-F238E27FC236}">
                <a16:creationId xmlns:a16="http://schemas.microsoft.com/office/drawing/2014/main" id="{DF8233AB-7AED-150C-A00C-B8CD77388612}"/>
              </a:ext>
            </a:extLst>
          </p:cNvPr>
          <p:cNvSpPr/>
          <p:nvPr/>
        </p:nvSpPr>
        <p:spPr>
          <a:xfrm rot="5400000">
            <a:off x="7761623" y="4281570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9" name="Pijl: omhoog 18">
            <a:extLst>
              <a:ext uri="{FF2B5EF4-FFF2-40B4-BE49-F238E27FC236}">
                <a16:creationId xmlns:a16="http://schemas.microsoft.com/office/drawing/2014/main" id="{52589B5B-AEA8-8407-D37C-21A969F8C8D9}"/>
              </a:ext>
            </a:extLst>
          </p:cNvPr>
          <p:cNvSpPr/>
          <p:nvPr/>
        </p:nvSpPr>
        <p:spPr>
          <a:xfrm rot="5400000">
            <a:off x="7761623" y="2637145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15: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16: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17: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1CEEB14-4275-BBDC-F316-745C49836BF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839416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18: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D8EC637-6DA3-2495-8F54-727CC87196F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16</a:t>
            </a:fld>
            <a:endParaRPr lang="nl-BE" altLang="en-US"/>
          </a:p>
        </p:txBody>
      </p:sp>
      <p:pic>
        <p:nvPicPr>
          <p:cNvPr id="5" name="Afbeelding 4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6BE418D6-C7FB-19D5-B14F-D6DFE8AC7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2" y="908720"/>
            <a:ext cx="3024336" cy="4646082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72EB9794-35FC-E4C6-A9C9-6BABEB9D810F}"/>
              </a:ext>
            </a:extLst>
          </p:cNvPr>
          <p:cNvSpPr txBox="1"/>
          <p:nvPr/>
        </p:nvSpPr>
        <p:spPr>
          <a:xfrm>
            <a:off x="7176122" y="5569986"/>
            <a:ext cx="3024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19: Uitgeklapte schaal na klik op een component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Gehele tool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3F40F10-6FBC-324E-8A67-F52CB7F8E3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17</a:t>
            </a:fld>
            <a:endParaRPr lang="nl-BE" altLang="en-US"/>
          </a:p>
        </p:txBody>
      </p:sp>
      <p:pic>
        <p:nvPicPr>
          <p:cNvPr id="4" name="Afbeelding 3" descr="Afbeelding met tekst, schermopname, Lettertype, ontwerp&#10;&#10;Door AI gegenereerde inhoud is mogelijk onjuist.">
            <a:extLst>
              <a:ext uri="{FF2B5EF4-FFF2-40B4-BE49-F238E27FC236}">
                <a16:creationId xmlns:a16="http://schemas.microsoft.com/office/drawing/2014/main" id="{4091FB84-75C0-9235-693A-44E0A639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48680"/>
            <a:ext cx="6240017" cy="2968488"/>
          </a:xfrm>
          <a:prstGeom prst="rect">
            <a:avLst/>
          </a:prstGeom>
        </p:spPr>
      </p:pic>
      <p:pic>
        <p:nvPicPr>
          <p:cNvPr id="7" name="Afbeelding 6" descr="Afbeelding met tekst, schermopname, diagram, nummer&#10;&#10;Door AI gegenereerde inhoud is mogelijk onjuist.">
            <a:extLst>
              <a:ext uri="{FF2B5EF4-FFF2-40B4-BE49-F238E27FC236}">
                <a16:creationId xmlns:a16="http://schemas.microsoft.com/office/drawing/2014/main" id="{3C2248D2-2F46-6544-669F-A88342AF6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687" y="2636912"/>
            <a:ext cx="6096000" cy="28921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361E92E9-F919-EE63-ADAB-BDD7A9E608A8}"/>
              </a:ext>
            </a:extLst>
          </p:cNvPr>
          <p:cNvSpPr txBox="1"/>
          <p:nvPr/>
        </p:nvSpPr>
        <p:spPr>
          <a:xfrm>
            <a:off x="143934" y="3347891"/>
            <a:ext cx="5952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20: De volledige weergave van de tool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355E446-8259-3BBE-B17F-F77F7B8DD173}"/>
              </a:ext>
            </a:extLst>
          </p:cNvPr>
          <p:cNvSpPr txBox="1"/>
          <p:nvPr/>
        </p:nvSpPr>
        <p:spPr>
          <a:xfrm>
            <a:off x="6048687" y="5529012"/>
            <a:ext cx="61433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21: De volledige weergave van de tool met uitgeklapte zijpanelen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8182F0FA-BC0E-66E0-174E-12C11646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855020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C1668CF-EB83-ED20-A9C3-F2BC07A6F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19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59" y="1736811"/>
            <a:ext cx="6701738" cy="3384376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9336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Gebruikersstudie</a:t>
            </a:r>
            <a:endParaRPr lang="nl-BE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721541" y="2204865"/>
            <a:ext cx="5384800" cy="2448269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23392" y="4951910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22: De basisversie gebruikt in de gebruikersstudie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123E34D-A29D-3F33-B01D-5A541E5AC66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20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FD69EE4-1F86-A76A-6427-044F0520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92696"/>
            <a:ext cx="7646640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UEQ (laagste -3, hoogste +3) [14]:</a:t>
            </a:r>
          </a:p>
          <a:p>
            <a:pPr lvl="1"/>
            <a:r>
              <a:rPr lang="nl-BE" sz="2000" dirty="0"/>
              <a:t>Basisversie blauw &amp; uitgebreide versie rood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sz="4000" dirty="0"/>
              <a:t>Resultaten</a:t>
            </a:r>
            <a:endParaRPr lang="nl-BE" dirty="0"/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624066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898758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23: De UEQ-score met in het blauw de basisversie en in het rood de uitgebreide versie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2C78C11-3EC8-49F9-7349-10B7B4FBC12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72" y="1841693"/>
            <a:ext cx="11149656" cy="374441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593BBAB3-15AE-5A0B-F740-49C06E82B84D}"/>
              </a:ext>
            </a:extLst>
          </p:cNvPr>
          <p:cNvSpPr txBox="1"/>
          <p:nvPr/>
        </p:nvSpPr>
        <p:spPr>
          <a:xfrm>
            <a:off x="863819" y="5610726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24: Rangschikking op basis van de gemiddelde rating van alle deelnemers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E2B6255-9C23-C60B-2A17-ACAACC71466F}"/>
              </a:ext>
            </a:extLst>
          </p:cNvPr>
          <p:cNvSpPr txBox="1"/>
          <p:nvPr/>
        </p:nvSpPr>
        <p:spPr>
          <a:xfrm>
            <a:off x="551384" y="869811"/>
            <a:ext cx="80137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/>
              <a:t>Lagere score = betere score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B716772-9E41-CF1F-BDE6-0C680944127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013330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276E790-26BF-D66F-F5E6-BC624406A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BE17FEA-0A95-60E3-FA16-F85CECAC2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44624"/>
            <a:ext cx="11987005" cy="549844"/>
          </a:xfrm>
        </p:spPr>
        <p:txBody>
          <a:bodyPr wrap="square" anchor="ctr">
            <a:noAutofit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874378001"/>
              </p:ext>
            </p:extLst>
          </p:nvPr>
        </p:nvGraphicFramePr>
        <p:xfrm>
          <a:off x="544487" y="620688"/>
          <a:ext cx="11103026" cy="5616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0EF9FCB7-91C4-BC83-1654-FE91D5F8B8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106644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DCBFFDB1-B904-953E-4D5E-C69237EC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9C1DA1B-5FB5-3E89-1FA5-58019940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CDE5A62A-F666-E555-5F63-C9D3EBB5226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29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A57F374-A769-5338-049F-6D5DB11FCA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30</a:t>
            </a:fld>
            <a:endParaRPr lang="nl-BE" altLang="en-US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6C7026-2B77-4EA1-3534-924AA206243E}"/>
              </a:ext>
            </a:extLst>
          </p:cNvPr>
          <p:cNvSpPr txBox="1"/>
          <p:nvPr/>
        </p:nvSpPr>
        <p:spPr>
          <a:xfrm>
            <a:off x="191344" y="615454"/>
            <a:ext cx="11809312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400" dirty="0"/>
              <a:t>[1] S. </a:t>
            </a:r>
            <a:r>
              <a:rPr lang="nl-BE" sz="1400" dirty="0" err="1"/>
              <a:t>Verreydt</a:t>
            </a:r>
            <a:r>
              <a:rPr lang="nl-BE" sz="1400" dirty="0"/>
              <a:t>, „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in Nederlandse organisaties,” 3 Oktober 2024. [Online]. </a:t>
            </a:r>
            <a:r>
              <a:rPr lang="nl-BE" sz="1400" dirty="0" err="1"/>
              <a:t>Available</a:t>
            </a:r>
            <a:r>
              <a:rPr lang="nl-BE" sz="1400" dirty="0"/>
              <a:t>: https://cybersecurity-bites.be/cybersecuritybydesign/threat-modeling-in </a:t>
            </a:r>
            <a:r>
              <a:rPr lang="nl-BE" sz="1400" dirty="0" err="1"/>
              <a:t>nederlandse</a:t>
            </a:r>
            <a:r>
              <a:rPr lang="nl-BE" sz="1400" dirty="0"/>
              <a:t>-organisaties/. [Geopend 13 Oktober 2025] </a:t>
            </a:r>
          </a:p>
          <a:p>
            <a:r>
              <a:rPr lang="en-US" sz="1400" dirty="0"/>
              <a:t>[2] I. Devendra, C. </a:t>
            </a:r>
            <a:r>
              <a:rPr lang="en-US" sz="1400" dirty="0" err="1"/>
              <a:t>Wijesiriwardana</a:t>
            </a:r>
            <a:r>
              <a:rPr lang="en-US" sz="1400" dirty="0"/>
              <a:t>, and P. </a:t>
            </a:r>
            <a:r>
              <a:rPr lang="en-US" sz="1400" dirty="0" err="1"/>
              <a:t>Wimalaratne</a:t>
            </a:r>
            <a:r>
              <a:rPr lang="en-US" sz="1400" dirty="0"/>
              <a:t>, “State-of-the-Art in Software Security Visualization: A Systematic Review,” </a:t>
            </a:r>
            <a:r>
              <a:rPr lang="en-US" sz="1400" dirty="0" err="1"/>
              <a:t>arXiv</a:t>
            </a:r>
            <a:r>
              <a:rPr lang="en-US" sz="1400" dirty="0"/>
              <a:t> (Cornell University), Sep. 2025, </a:t>
            </a:r>
            <a:r>
              <a:rPr lang="en-US" sz="1400" dirty="0" err="1"/>
              <a:t>doi</a:t>
            </a:r>
            <a:r>
              <a:rPr lang="en-US" sz="1400" dirty="0"/>
              <a:t>: https://doi.org/10.48550/arxiv.2509.20385.</a:t>
            </a:r>
          </a:p>
          <a:p>
            <a:r>
              <a:rPr lang="en-US" sz="1400" dirty="0"/>
              <a:t>[3] A. </a:t>
            </a:r>
            <a:r>
              <a:rPr lang="en-US" sz="1400" dirty="0" err="1"/>
              <a:t>Shostack</a:t>
            </a:r>
            <a:r>
              <a:rPr lang="en-US" sz="1400" dirty="0"/>
              <a:t>, “Fast, Cheap and Good An Unusual Trade-off Available in Threat Modeling,” 2021. Accessed: Jan. 11, 2026. [Online]. Available: https://shostack.org/files/papers/Fast-Cheap-and-Good.pdf </a:t>
            </a:r>
          </a:p>
          <a:p>
            <a:r>
              <a:rPr lang="nl-BE" sz="1400" dirty="0"/>
              <a:t>[4] N. </a:t>
            </a:r>
            <a:r>
              <a:rPr lang="nl-BE" sz="1400" dirty="0" err="1"/>
              <a:t>Shevchenko</a:t>
            </a:r>
            <a:r>
              <a:rPr lang="nl-BE" sz="1400" dirty="0"/>
              <a:t>, T. A. Chick, P. </a:t>
            </a:r>
            <a:r>
              <a:rPr lang="nl-BE" sz="1400" dirty="0" err="1"/>
              <a:t>O’riordan</a:t>
            </a:r>
            <a:r>
              <a:rPr lang="nl-BE" sz="1400" dirty="0"/>
              <a:t>, T. P. </a:t>
            </a:r>
            <a:r>
              <a:rPr lang="nl-BE" sz="1400" dirty="0" err="1"/>
              <a:t>Scanlon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C. </a:t>
            </a:r>
            <a:r>
              <a:rPr lang="nl-BE" sz="1400" dirty="0" err="1"/>
              <a:t>Woody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: A Summary of </a:t>
            </a:r>
            <a:r>
              <a:rPr lang="nl-BE" sz="1400" dirty="0" err="1"/>
              <a:t>Available</a:t>
            </a:r>
            <a:r>
              <a:rPr lang="nl-BE" sz="1400" dirty="0"/>
              <a:t> </a:t>
            </a:r>
            <a:r>
              <a:rPr lang="nl-BE" sz="1400" dirty="0" err="1"/>
              <a:t>Methods</a:t>
            </a:r>
            <a:r>
              <a:rPr lang="nl-BE" sz="1400" dirty="0"/>
              <a:t>,” Dtic.mil, Jul. 2018. https://apps.dtic.mil/sti/html/tr/AD1084024/</a:t>
            </a:r>
          </a:p>
          <a:p>
            <a:r>
              <a:rPr lang="nl-BE" sz="1400" dirty="0"/>
              <a:t>[5] Z. </a:t>
            </a:r>
            <a:r>
              <a:rPr lang="nl-BE" sz="1400" dirty="0" err="1"/>
              <a:t>Shi</a:t>
            </a:r>
            <a:r>
              <a:rPr lang="nl-BE" sz="1400" dirty="0"/>
              <a:t>, K. </a:t>
            </a:r>
            <a:r>
              <a:rPr lang="nl-BE" sz="1400" dirty="0" err="1"/>
              <a:t>Graffi</a:t>
            </a:r>
            <a:r>
              <a:rPr lang="nl-BE" sz="1400" dirty="0"/>
              <a:t>, D. </a:t>
            </a:r>
            <a:r>
              <a:rPr lang="nl-BE" sz="1400" dirty="0" err="1"/>
              <a:t>Starobinski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N. </a:t>
            </a:r>
            <a:r>
              <a:rPr lang="nl-BE" sz="1400" dirty="0" err="1"/>
              <a:t>Matyunin</a:t>
            </a:r>
            <a:r>
              <a:rPr lang="nl-BE" sz="1400" dirty="0"/>
              <a:t>, “</a:t>
            </a:r>
            <a:r>
              <a:rPr lang="nl-BE" sz="1400" dirty="0" err="1"/>
              <a:t>Threat</a:t>
            </a:r>
            <a:r>
              <a:rPr lang="nl-BE" sz="1400" dirty="0"/>
              <a:t> </a:t>
            </a:r>
            <a:r>
              <a:rPr lang="nl-BE" sz="1400" dirty="0" err="1"/>
              <a:t>Modeling</a:t>
            </a:r>
            <a:r>
              <a:rPr lang="nl-BE" sz="1400" dirty="0"/>
              <a:t> Tools: A </a:t>
            </a:r>
            <a:r>
              <a:rPr lang="nl-BE" sz="1400" dirty="0" err="1"/>
              <a:t>Taxonomy</a:t>
            </a:r>
            <a:r>
              <a:rPr lang="nl-BE" sz="1400" dirty="0"/>
              <a:t>,” IEEE Security &amp; Privacy, vol. 20, no. 4, pp. 2–13, 2021, </a:t>
            </a:r>
            <a:r>
              <a:rPr lang="nl-BE" sz="1400" dirty="0" err="1"/>
              <a:t>doi</a:t>
            </a:r>
            <a:r>
              <a:rPr lang="nl-BE" sz="1400" dirty="0"/>
              <a:t>: https://doi.org/10.1109/msec.2021.3125229. </a:t>
            </a:r>
          </a:p>
          <a:p>
            <a:r>
              <a:rPr lang="en-US" sz="1400" dirty="0"/>
              <a:t>[6] Hendrik </a:t>
            </a:r>
            <a:r>
              <a:rPr lang="en-US" sz="1400" dirty="0" err="1"/>
              <a:t>Ewerlin</a:t>
            </a:r>
            <a:r>
              <a:rPr lang="en-US" sz="1400" dirty="0"/>
              <a:t>, “ Fortunately ⇆ Unfortunately of Fortunately ⇆ Unfortunately,” Threat-modeling.net, 2026. https://threat-modeling.net/fortunately unfortunately-of-fortunately-unfortunately/ </a:t>
            </a:r>
          </a:p>
          <a:p>
            <a:r>
              <a:rPr lang="en-US" sz="1400" dirty="0"/>
              <a:t>[7] W. Scheibel, D. Limberger, and J. </a:t>
            </a:r>
            <a:r>
              <a:rPr lang="en-US" sz="1400" dirty="0" err="1"/>
              <a:t>Döllner</a:t>
            </a:r>
            <a:r>
              <a:rPr lang="en-US" sz="1400" dirty="0"/>
              <a:t>, “Survey of </a:t>
            </a:r>
            <a:r>
              <a:rPr lang="en-US" sz="1400" dirty="0" err="1"/>
              <a:t>treemap</a:t>
            </a:r>
            <a:r>
              <a:rPr lang="en-US" sz="1400" dirty="0"/>
              <a:t> layout algorithms,” in the 13th International Symposium on Visual Information Communication and Interaction, New York: Association for Computing Machinery, Aug. 2020. Accessed: Dec. 08, 2026. [Online]. Available: https://dl.acm.org/doi/10.1145/3430036.3430041</a:t>
            </a:r>
          </a:p>
          <a:p>
            <a:r>
              <a:rPr lang="nl-BE" sz="1400" dirty="0"/>
              <a:t>[8] P. </a:t>
            </a:r>
            <a:r>
              <a:rPr lang="nl-BE" sz="1400" dirty="0" err="1"/>
              <a:t>Sbarski</a:t>
            </a:r>
            <a:r>
              <a:rPr lang="nl-BE" sz="1400" dirty="0"/>
              <a:t>, T. van Gelder, K. Marriott, D. </a:t>
            </a:r>
            <a:r>
              <a:rPr lang="nl-BE" sz="1400" dirty="0" err="1"/>
              <a:t>Prager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A. </a:t>
            </a:r>
            <a:r>
              <a:rPr lang="nl-BE" sz="1400" dirty="0" err="1"/>
              <a:t>Bulka</a:t>
            </a:r>
            <a:r>
              <a:rPr lang="nl-BE" sz="1400" dirty="0"/>
              <a:t>, “</a:t>
            </a:r>
            <a:r>
              <a:rPr lang="nl-BE" sz="1400" dirty="0" err="1"/>
              <a:t>Visualizing</a:t>
            </a:r>
            <a:r>
              <a:rPr lang="nl-BE" sz="1400" dirty="0"/>
              <a:t> Argument </a:t>
            </a:r>
            <a:r>
              <a:rPr lang="nl-BE" sz="1400" dirty="0" err="1"/>
              <a:t>Structure</a:t>
            </a:r>
            <a:r>
              <a:rPr lang="nl-BE" sz="1400" dirty="0"/>
              <a:t>,” </a:t>
            </a:r>
            <a:r>
              <a:rPr lang="nl-BE" sz="1400" dirty="0" err="1"/>
              <a:t>Lecture</a:t>
            </a:r>
            <a:r>
              <a:rPr lang="nl-BE" sz="1400" dirty="0"/>
              <a:t> </a:t>
            </a:r>
            <a:r>
              <a:rPr lang="nl-BE" sz="1400" dirty="0" err="1"/>
              <a:t>Notes</a:t>
            </a:r>
            <a:r>
              <a:rPr lang="nl-BE" sz="1400" dirty="0"/>
              <a:t> in Computer </a:t>
            </a:r>
            <a:r>
              <a:rPr lang="nl-BE" sz="1400" dirty="0" err="1"/>
              <a:t>Science</a:t>
            </a:r>
            <a:r>
              <a:rPr lang="nl-BE" sz="1400" dirty="0"/>
              <a:t>, vol. 5358, pp. 129–138, 2008, </a:t>
            </a:r>
            <a:r>
              <a:rPr lang="nl-BE" sz="1400" dirty="0" err="1"/>
              <a:t>doi</a:t>
            </a:r>
            <a:r>
              <a:rPr lang="nl-BE" sz="1400" dirty="0"/>
              <a:t>: https://doi.org/10.1007/978-3-540-89639-5_13. </a:t>
            </a:r>
          </a:p>
          <a:p>
            <a:r>
              <a:rPr lang="en-US" sz="1400" dirty="0"/>
              <a:t>[9] “</a:t>
            </a:r>
            <a:r>
              <a:rPr lang="en-US" sz="1400" dirty="0" err="1"/>
              <a:t>Treemap</a:t>
            </a:r>
            <a:r>
              <a:rPr lang="en-US" sz="1400" dirty="0"/>
              <a:t> Charts - What Are They, How To Create Them,” Inetsoft.com, 2026. https://www.inetsoft.com/info/treemap-charts-definition-how-to-create/ (accessed Jan. 16, 2026). </a:t>
            </a:r>
          </a:p>
          <a:p>
            <a:r>
              <a:rPr lang="nl-BE" sz="1400" dirty="0"/>
              <a:t>[10] </a:t>
            </a:r>
            <a:r>
              <a:rPr lang="nl-BE" sz="1400" dirty="0" err="1"/>
              <a:t>BellaDati</a:t>
            </a:r>
            <a:r>
              <a:rPr lang="nl-BE" sz="1400" dirty="0"/>
              <a:t>, “</a:t>
            </a:r>
            <a:r>
              <a:rPr lang="nl-BE" sz="1400" dirty="0" err="1"/>
              <a:t>Circular</a:t>
            </a:r>
            <a:r>
              <a:rPr lang="nl-BE" sz="1400" dirty="0"/>
              <a:t> </a:t>
            </a:r>
            <a:r>
              <a:rPr lang="nl-BE" sz="1400" dirty="0" err="1"/>
              <a:t>Treemap</a:t>
            </a:r>
            <a:r>
              <a:rPr lang="nl-BE" sz="1400" dirty="0"/>
              <a:t> | </a:t>
            </a:r>
            <a:r>
              <a:rPr lang="nl-BE" sz="1400" dirty="0" err="1"/>
              <a:t>BellaDati</a:t>
            </a:r>
            <a:r>
              <a:rPr lang="nl-BE" sz="1400" dirty="0"/>
              <a:t> Marketplace,” </a:t>
            </a:r>
            <a:r>
              <a:rPr lang="nl-BE" sz="1400" dirty="0" err="1"/>
              <a:t>BellaDati</a:t>
            </a:r>
            <a:r>
              <a:rPr lang="nl-BE" sz="1400" dirty="0"/>
              <a:t> Marketplace, 2016. https://www.belladati.com/marketplace/package/extension/custom-view/circular </a:t>
            </a:r>
            <a:r>
              <a:rPr lang="nl-BE" sz="1400" dirty="0" err="1"/>
              <a:t>treemap</a:t>
            </a:r>
            <a:r>
              <a:rPr lang="nl-BE" sz="1400" dirty="0"/>
              <a:t>/ (</a:t>
            </a:r>
            <a:r>
              <a:rPr lang="nl-BE" sz="1400" dirty="0" err="1"/>
              <a:t>accessed</a:t>
            </a:r>
            <a:r>
              <a:rPr lang="nl-BE" sz="1400" dirty="0"/>
              <a:t> Jan. 16, 2026). </a:t>
            </a:r>
          </a:p>
          <a:p>
            <a:r>
              <a:rPr lang="nl-BE" sz="1400" dirty="0"/>
              <a:t>[11] </a:t>
            </a:r>
            <a:r>
              <a:rPr lang="en-US" sz="1400" dirty="0"/>
              <a:t>Meta, “React,” </a:t>
            </a:r>
            <a:r>
              <a:rPr lang="en-US" sz="1400" dirty="0" err="1"/>
              <a:t>react.dev</a:t>
            </a:r>
            <a:r>
              <a:rPr lang="en-US" sz="1400" dirty="0"/>
              <a:t>. https://react.dev (accessed Jan. 25, 2026).</a:t>
            </a:r>
          </a:p>
          <a:p>
            <a:r>
              <a:rPr lang="en-US" sz="1400" dirty="0"/>
              <a:t>[12] T. Spiro, “Next.js 15 vs 16: Building Modern Blogs in the </a:t>
            </a:r>
            <a:r>
              <a:rPr lang="en-US" sz="1400" dirty="0" err="1"/>
              <a:t>Turbopack</a:t>
            </a:r>
            <a:r>
              <a:rPr lang="en-US" sz="1400" dirty="0"/>
              <a:t> Era,” Cosmic, Oct. 24, 2025. https://www.cosmicjs.com/blog/nextjs-15-vs-16-building-modern-blogs-in-the-turbopack-era (accessed Jan. 29, 2026).</a:t>
            </a:r>
          </a:p>
          <a:p>
            <a:r>
              <a:rPr lang="en-US" sz="1400" dirty="0"/>
              <a:t>[13] M. Bostock, “D3.js - Data-Driven Documents,” d3js.org. https://d3js.org (accessed Jan. 25, 2026).</a:t>
            </a:r>
          </a:p>
          <a:p>
            <a:r>
              <a:rPr lang="fr-FR" sz="1400" dirty="0"/>
              <a:t>[14] UEQ, “User </a:t>
            </a:r>
            <a:r>
              <a:rPr lang="fr-FR" sz="1400" dirty="0" err="1"/>
              <a:t>experience</a:t>
            </a:r>
            <a:r>
              <a:rPr lang="fr-FR" sz="1400" dirty="0"/>
              <a:t> questionnaire (UEQ),” Ueq-online.org, 2018. https://www.ueq-online.org/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EDECEEB7-F25D-E93C-CB22-A3019984E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31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32C80F6-9429-429B-8CBA-2190409E4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32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8EBE174-EF1C-1181-1EEA-D362EAEEDD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33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2F4E6558-39A4-C79D-9F37-09CB8F01839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34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FC5C1201-6F81-36F2-5D8D-08974227D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35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10556BC5-E1B7-4198-CD8E-3031A7AACB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36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61822DEE-B1B7-0DCC-4D9F-E40B6AC002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37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  <p:sp>
        <p:nvSpPr>
          <p:cNvPr id="2" name="Tijdelijke aanduiding voor dianummer 1">
            <a:extLst>
              <a:ext uri="{FF2B5EF4-FFF2-40B4-BE49-F238E27FC236}">
                <a16:creationId xmlns:a16="http://schemas.microsoft.com/office/drawing/2014/main" id="{A7692642-A2D5-E6F6-BCF5-8575AC201D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8C6316-E44E-4DB2-87E9-228972E3BC6C}" type="slidenum">
              <a:rPr lang="nl-BE" altLang="en-US" smtClean="0"/>
              <a:pPr/>
              <a:t>38</a:t>
            </a:fld>
            <a:endParaRPr lang="nl-BE" altLang="en-US"/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600</TotalTime>
  <Words>2008</Words>
  <Application>Microsoft Office PowerPoint</Application>
  <PresentationFormat>Breedbeeld</PresentationFormat>
  <Paragraphs>440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 G</cp:lastModifiedBy>
  <cp:revision>183</cp:revision>
  <dcterms:created xsi:type="dcterms:W3CDTF">2020-06-01T13:17:24Z</dcterms:created>
  <dcterms:modified xsi:type="dcterms:W3CDTF">2026-01-29T23:36:17Z</dcterms:modified>
</cp:coreProperties>
</file>