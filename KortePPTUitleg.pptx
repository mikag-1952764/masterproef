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nl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35018A2-174C-F559-2601-44E0CF4ACC2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E780BBCB-D0FD-78E0-EE73-DE728A92A73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5697252-9C88-C91B-4B9B-B9807900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5E92D0B-4A82-5C79-D807-5B6B72CBE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D7EEFEB-AEBB-7209-6B15-B02B43C545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242772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9F1E66-08BE-5D9A-6755-8701A0F3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6F3171D-9ED5-EDD6-4C5D-B46438ED5B4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48983FB-F1A1-11C9-8266-2C591D436B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42E8CBD-4FC9-E847-21D2-C9A62732B3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041F659-775F-A912-C9EB-3CD8B00ED5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270621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8B5CF94-5E61-DB8D-AE0D-690FB5012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A56AF5AB-2EB2-3A10-3555-4C791EE6E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7089456-7FA3-65B3-1229-4EE5B2EF52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33D5AA63-331B-FC45-9B36-1194001598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25EAF43-3AC3-AE8B-3C64-9DEBC8DEB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155048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CED33C7-4539-59AC-3FFA-EC82AA8F66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DAE6FF5-2614-C192-A49E-42076A975B5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C47EF183-851B-FB7F-3157-44F7AE8CC0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DD049817-2CEB-897C-90CA-FEC13A8382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251121A-500F-B4B6-4BC5-5D52F369F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DE28ADBA-39B4-5B23-059C-07F6266DB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84520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A792ED-AF5F-9642-C232-114B68F14D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EB6B591A-9A26-C316-5931-F8CD16F61A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389F4C96-5CD7-C4D4-510C-3028D23876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1F82ABF4-879A-60A2-7AD1-4CF62D2127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E251CD8-7A05-33A4-C32F-B656E1D4CE7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F08B3B2E-EB93-D0D7-5EA9-09F905F0D2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D50779FF-ACF7-E72B-0C98-B8CE26956C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0934D660-9959-05E5-241F-60E419A670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9691197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418F28F-01BE-63ED-0DB2-AEAA8FBCCA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BD2E5EB-C95D-393E-81B8-23CCEEC7D1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29C8CFBD-6578-8914-AE84-1B1ADC68E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8A7DF8CD-99CF-8BA6-6B5F-072A537854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315578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8D0CB8E-EEB2-26A4-A0E1-8604B03A07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EB7B15A-E628-3D23-FACF-89C4D31B92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F0FFBE87-0B2F-1FE4-0355-04E7456DA8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9477136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C61B41E-2A62-86EF-C102-24895835BE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821B64F-B924-F33D-E490-239C8C9FFB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4428654-3885-50B6-F912-43A0BCF9A7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EC6A1287-11FD-0576-8704-F70AC59A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F577A35-1125-B9D7-08DF-BCFBC147D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16DB1477-8C2A-C46F-0617-758DE4C01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8901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6B44E2-9B1D-1CBC-A390-5478C5BB9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2930A569-7B0F-DC9D-3BDA-B6689F6B727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BE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B5C5BCCF-97B2-D098-A4BB-932988D2B4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C995E94-876D-174B-75CD-C21F21E49A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F2EED5EA-C49D-1E1D-9321-A88C193EE1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CF87A43F-F17D-0521-81FF-DBDCBADDB1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352213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3CCDB9A-D790-2A66-79BE-8810B57525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58EEFC41-C5C0-8328-576A-27F020F49E6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F963B23-683D-E964-33EA-533C077988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34A427D-B925-C6B3-D7E7-E599041B10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BB0280D-3D5A-FF47-95C8-9ED796CAC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2665178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1F46A4B-C13E-AEBC-29DD-E72EF3A2D2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A2B2E1A-7768-E884-F5E5-8EFA1A812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3D4ACBC-0CF3-0538-B7E5-A4ED569275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93C4910-508E-A0CC-23CD-8EFE3986BC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6F270D9-F355-41B4-D28C-0C34668281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18867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94D8682D-EA0A-E2AE-41EE-E4C9911C22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nl-BE"/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8540B197-4B6C-C07A-22CE-EC7FBF35EC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5105480-EFB3-A03C-4C9C-DA0A72F00AD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18041EB-549A-4459-ABAF-7C5474F0D6D0}" type="datetimeFigureOut">
              <a:rPr lang="nl-BE" smtClean="0"/>
              <a:t>20/11/2025</a:t>
            </a:fld>
            <a:endParaRPr lang="nl-BE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D3C787C-B9B9-B852-EE12-DEFF1E39520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E9EC9BF6-2949-3A5C-E935-6520868D01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A59EDD-5550-44A1-8B5E-00A6D1219DF2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383420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1E465C57-C1B3-CB09-DA17-3A88B04DB31F}"/>
              </a:ext>
            </a:extLst>
          </p:cNvPr>
          <p:cNvSpPr txBox="1"/>
          <p:nvPr/>
        </p:nvSpPr>
        <p:spPr>
          <a:xfrm>
            <a:off x="430306" y="394447"/>
            <a:ext cx="169629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4000" b="1" dirty="0"/>
              <a:t>Studie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A8582F6C-277E-EAAC-85D8-839BAB0EA248}"/>
              </a:ext>
            </a:extLst>
          </p:cNvPr>
          <p:cNvSpPr txBox="1"/>
          <p:nvPr/>
        </p:nvSpPr>
        <p:spPr>
          <a:xfrm>
            <a:off x="430306" y="1192306"/>
            <a:ext cx="6624506" cy="212365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Security </a:t>
            </a:r>
            <a:r>
              <a:rPr lang="nl-BE" sz="2400" dirty="0" err="1"/>
              <a:t>modeling</a:t>
            </a:r>
            <a:r>
              <a:rPr lang="nl-BE" sz="2400" dirty="0"/>
              <a:t> vergemakkelijken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 err="1"/>
              <a:t>Fortunately-unfortunately</a:t>
            </a:r>
            <a:r>
              <a:rPr lang="nl-BE" sz="2400" dirty="0"/>
              <a:t> methode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Methode uit het </a:t>
            </a:r>
            <a:r>
              <a:rPr lang="nl-BE" sz="2000" dirty="0" err="1"/>
              <a:t>theatre</a:t>
            </a:r>
            <a:endParaRPr lang="nl-BE" sz="20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 err="1"/>
              <a:t>Modeling</a:t>
            </a:r>
            <a:r>
              <a:rPr lang="nl-BE" sz="2000" dirty="0"/>
              <a:t> toegankelijker maken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Helpen bij breinstormen in groep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Deze studie focust op gebruiksvriendelijkheid</a:t>
            </a:r>
          </a:p>
        </p:txBody>
      </p:sp>
    </p:spTree>
    <p:extLst>
      <p:ext uri="{BB962C8B-B14F-4D97-AF65-F5344CB8AC3E}">
        <p14:creationId xmlns:p14="http://schemas.microsoft.com/office/powerpoint/2010/main" val="9781622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48E73-5CEE-5660-735B-89807B99A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5485376D-F8BB-4832-B1B0-49230924E903}"/>
              </a:ext>
            </a:extLst>
          </p:cNvPr>
          <p:cNvSpPr txBox="1"/>
          <p:nvPr/>
        </p:nvSpPr>
        <p:spPr>
          <a:xfrm>
            <a:off x="430306" y="394447"/>
            <a:ext cx="1053948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4000" b="1" dirty="0"/>
              <a:t>Wat is de </a:t>
            </a:r>
            <a:r>
              <a:rPr lang="nl-BE" sz="4000" b="1" dirty="0" err="1"/>
              <a:t>fortunately-unfortunately</a:t>
            </a:r>
            <a:r>
              <a:rPr lang="nl-BE" sz="4000" b="1" dirty="0"/>
              <a:t> methode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935183BF-D488-DDE3-5577-8D34570C30AB}"/>
              </a:ext>
            </a:extLst>
          </p:cNvPr>
          <p:cNvSpPr txBox="1"/>
          <p:nvPr/>
        </p:nvSpPr>
        <p:spPr>
          <a:xfrm>
            <a:off x="430306" y="1192306"/>
            <a:ext cx="9529532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Uit improvisatietheater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Verhaalstructuur met afwisselend </a:t>
            </a:r>
            <a:r>
              <a:rPr lang="nl-BE" sz="2400" dirty="0" err="1"/>
              <a:t>fortunate</a:t>
            </a:r>
            <a:r>
              <a:rPr lang="nl-BE" sz="2400" dirty="0"/>
              <a:t> en </a:t>
            </a:r>
            <a:r>
              <a:rPr lang="nl-BE" sz="2400" dirty="0" err="1"/>
              <a:t>unfortunate</a:t>
            </a:r>
            <a:endParaRPr lang="nl-B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 err="1"/>
              <a:t>Fortuntate</a:t>
            </a:r>
            <a:r>
              <a:rPr lang="nl-BE" sz="2000" dirty="0"/>
              <a:t>: een oplossing/positief punt/mitigatie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 err="1"/>
              <a:t>Unfortunate</a:t>
            </a:r>
            <a:r>
              <a:rPr lang="nl-BE" sz="2000" dirty="0"/>
              <a:t>: probleem/negatief punt/risico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Bouwt steeds verder uit eerdere punten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Maakt in teamcontext werken makkelijker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Breekt complexiteit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Hulp bij verborgen risico’s zichtbaar te maken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Resulteert dus in een boomstructuur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Simpel voorbeeld: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i="1" dirty="0"/>
              <a:t>“We willen een veilige IT-infrastructuur onderhouden.”</a:t>
            </a:r>
            <a:r>
              <a:rPr lang="nl-BE" sz="2000" dirty="0"/>
              <a:t> (</a:t>
            </a:r>
            <a:r>
              <a:rPr lang="nl-BE" sz="2000" dirty="0" err="1"/>
              <a:t>fortunate</a:t>
            </a:r>
            <a:r>
              <a:rPr lang="nl-BE" sz="2000" dirty="0"/>
              <a:t>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i="1" dirty="0"/>
              <a:t>“</a:t>
            </a:r>
            <a:r>
              <a:rPr lang="nl-BE" sz="2000" i="1" dirty="0" err="1"/>
              <a:t>Unfortunately</a:t>
            </a:r>
            <a:r>
              <a:rPr lang="nl-BE" sz="2000" i="1" dirty="0"/>
              <a:t>, er zijn cyberdreigingen en kwetsbaarheden.”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“</a:t>
            </a:r>
            <a:r>
              <a:rPr lang="nl-BE" sz="2000" i="1" dirty="0" err="1"/>
              <a:t>Fortunately</a:t>
            </a:r>
            <a:r>
              <a:rPr lang="nl-BE" sz="2000" i="1" dirty="0"/>
              <a:t>, we kunnen firewalls en detectiesystemen inzetten.”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i="1" dirty="0"/>
              <a:t>“</a:t>
            </a:r>
            <a:r>
              <a:rPr lang="nl-BE" sz="2000" i="1" dirty="0" err="1"/>
              <a:t>Unfortunately</a:t>
            </a:r>
            <a:r>
              <a:rPr lang="nl-BE" sz="2000" i="1" dirty="0"/>
              <a:t>, deze systemen kunnen falen of verkeerd geconfigureerd zijn.”</a:t>
            </a:r>
          </a:p>
        </p:txBody>
      </p:sp>
    </p:spTree>
    <p:extLst>
      <p:ext uri="{BB962C8B-B14F-4D97-AF65-F5344CB8AC3E}">
        <p14:creationId xmlns:p14="http://schemas.microsoft.com/office/powerpoint/2010/main" val="243385361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1D1B7F-800F-2F61-E530-90795A94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2B0E671C-9EE5-EA15-5E5F-2BECCE48047E}"/>
              </a:ext>
            </a:extLst>
          </p:cNvPr>
          <p:cNvSpPr txBox="1"/>
          <p:nvPr/>
        </p:nvSpPr>
        <p:spPr>
          <a:xfrm>
            <a:off x="430306" y="394447"/>
            <a:ext cx="463184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4000" b="1" dirty="0"/>
              <a:t>Features bij de tool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8AC06940-02E1-552D-1001-1BF365B89435}"/>
              </a:ext>
            </a:extLst>
          </p:cNvPr>
          <p:cNvSpPr txBox="1"/>
          <p:nvPr/>
        </p:nvSpPr>
        <p:spPr>
          <a:xfrm>
            <a:off x="430306" y="1192306"/>
            <a:ext cx="8331640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Onderzoek naar tree opbouw/visualisatie methode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Ook gebruikt voor de versie zonder optimalisatie naar de methode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Duidelijke aanduiding van </a:t>
            </a:r>
            <a:r>
              <a:rPr lang="nl-BE" sz="2400" dirty="0" err="1"/>
              <a:t>fortunate</a:t>
            </a:r>
            <a:r>
              <a:rPr lang="nl-BE" sz="2400" dirty="0"/>
              <a:t> en </a:t>
            </a:r>
            <a:r>
              <a:rPr lang="nl-BE" sz="2400" dirty="0" err="1"/>
              <a:t>unfortunate</a:t>
            </a:r>
            <a:r>
              <a:rPr lang="nl-BE" sz="2400" dirty="0"/>
              <a:t> </a:t>
            </a:r>
            <a:r>
              <a:rPr lang="nl-BE" sz="2400" dirty="0" err="1"/>
              <a:t>nodes</a:t>
            </a:r>
            <a:endParaRPr lang="nl-B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 err="1"/>
              <a:t>Fortunate</a:t>
            </a:r>
            <a:r>
              <a:rPr lang="nl-BE" sz="2000" dirty="0"/>
              <a:t>: groene </a:t>
            </a:r>
            <a:r>
              <a:rPr lang="nl-BE" sz="2000" dirty="0" err="1"/>
              <a:t>nodes</a:t>
            </a:r>
            <a:endParaRPr lang="nl-BE" sz="20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 err="1"/>
              <a:t>Unfortunate</a:t>
            </a:r>
            <a:r>
              <a:rPr lang="nl-BE" sz="2000" dirty="0"/>
              <a:t>: rode </a:t>
            </a:r>
            <a:r>
              <a:rPr lang="nl-BE" sz="2000" dirty="0" err="1"/>
              <a:t>nodes</a:t>
            </a:r>
            <a:endParaRPr lang="nl-BE" sz="20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Automatisch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Status van node </a:t>
            </a:r>
            <a:r>
              <a:rPr lang="nl-BE" sz="2400" dirty="0" err="1"/>
              <a:t>adhv</a:t>
            </a:r>
            <a:r>
              <a:rPr lang="nl-BE" sz="2400" dirty="0"/>
              <a:t> </a:t>
            </a:r>
            <a:r>
              <a:rPr lang="nl-BE" sz="2400" dirty="0" err="1"/>
              <a:t>icons</a:t>
            </a:r>
            <a:endParaRPr lang="nl-B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Statusoverzicht van de node statussen (hoeveelheden)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Tab met samenvatting/filter van de statussen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000" dirty="0"/>
              <a:t>Soorten: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nl-BE" dirty="0" err="1"/>
              <a:t>Weakness</a:t>
            </a:r>
            <a:r>
              <a:rPr lang="nl-BE" dirty="0"/>
              <a:t> (</a:t>
            </a:r>
            <a:r>
              <a:rPr lang="nl-BE" dirty="0" err="1"/>
              <a:t>sorted</a:t>
            </a:r>
            <a:r>
              <a:rPr lang="nl-BE" dirty="0"/>
              <a:t> op </a:t>
            </a:r>
            <a:r>
              <a:rPr lang="nl-BE" dirty="0" err="1"/>
              <a:t>dangerrating</a:t>
            </a:r>
            <a:r>
              <a:rPr lang="nl-BE" dirty="0"/>
              <a:t>)</a:t>
            </a:r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nl-BE" dirty="0" err="1"/>
              <a:t>Further</a:t>
            </a:r>
            <a:r>
              <a:rPr lang="nl-BE" dirty="0"/>
              <a:t> </a:t>
            </a:r>
            <a:r>
              <a:rPr lang="nl-BE" dirty="0" err="1"/>
              <a:t>investigation</a:t>
            </a:r>
            <a:r>
              <a:rPr lang="nl-BE" dirty="0"/>
              <a:t> (</a:t>
            </a:r>
            <a:r>
              <a:rPr lang="nl-BE" dirty="0" err="1"/>
              <a:t>sorted</a:t>
            </a:r>
            <a:r>
              <a:rPr lang="nl-BE" dirty="0"/>
              <a:t> op </a:t>
            </a:r>
            <a:r>
              <a:rPr lang="nl-BE" dirty="0" err="1"/>
              <a:t>dangerrating</a:t>
            </a:r>
            <a:r>
              <a:rPr lang="nl-BE"/>
              <a:t>)</a:t>
            </a:r>
            <a:endParaRPr lang="nl-BE" dirty="0"/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nl-BE" dirty="0" err="1"/>
              <a:t>Assumption</a:t>
            </a:r>
            <a:r>
              <a:rPr lang="nl-BE" dirty="0"/>
              <a:t> </a:t>
            </a:r>
            <a:r>
              <a:rPr lang="nl-BE" dirty="0" err="1"/>
              <a:t>to</a:t>
            </a:r>
            <a:r>
              <a:rPr lang="nl-BE" dirty="0"/>
              <a:t> </a:t>
            </a:r>
            <a:r>
              <a:rPr lang="nl-BE" dirty="0" err="1"/>
              <a:t>verify</a:t>
            </a:r>
            <a:endParaRPr lang="nl-BE" dirty="0"/>
          </a:p>
          <a:p>
            <a:pPr marL="1371600" lvl="2" indent="-457200">
              <a:buFont typeface="Arial" panose="020B0604020202020204" pitchFamily="34" charset="0"/>
              <a:buChar char="•"/>
            </a:pPr>
            <a:r>
              <a:rPr lang="nl-BE" dirty="0" err="1"/>
              <a:t>Verified</a:t>
            </a:r>
            <a:r>
              <a:rPr lang="nl-BE" dirty="0"/>
              <a:t> </a:t>
            </a:r>
            <a:r>
              <a:rPr lang="nl-BE" dirty="0" err="1"/>
              <a:t>assumption</a:t>
            </a:r>
            <a:endParaRPr lang="nl-BE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Samenvatting van een </a:t>
            </a:r>
            <a:r>
              <a:rPr lang="nl-BE" sz="2400" dirty="0" err="1"/>
              <a:t>branch</a:t>
            </a:r>
            <a:r>
              <a:rPr lang="nl-BE" sz="2400" dirty="0"/>
              <a:t> (root -&gt; node)</a:t>
            </a:r>
          </a:p>
        </p:txBody>
      </p:sp>
    </p:spTree>
    <p:extLst>
      <p:ext uri="{BB962C8B-B14F-4D97-AF65-F5344CB8AC3E}">
        <p14:creationId xmlns:p14="http://schemas.microsoft.com/office/powerpoint/2010/main" val="30026135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E182F-CE7B-B371-D7DD-2238073C4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kstvak 3">
            <a:extLst>
              <a:ext uri="{FF2B5EF4-FFF2-40B4-BE49-F238E27FC236}">
                <a16:creationId xmlns:a16="http://schemas.microsoft.com/office/drawing/2014/main" id="{3688AF9F-019F-C631-9AE7-FB9BAE975970}"/>
              </a:ext>
            </a:extLst>
          </p:cNvPr>
          <p:cNvSpPr txBox="1"/>
          <p:nvPr/>
        </p:nvSpPr>
        <p:spPr>
          <a:xfrm>
            <a:off x="430306" y="394447"/>
            <a:ext cx="5204951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BE" sz="4000" b="1" dirty="0"/>
              <a:t>Gebruikersonderzoek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D991D581-4BA7-2FBA-F9F7-744186EEE938}"/>
              </a:ext>
            </a:extLst>
          </p:cNvPr>
          <p:cNvSpPr txBox="1"/>
          <p:nvPr/>
        </p:nvSpPr>
        <p:spPr>
          <a:xfrm>
            <a:off x="430306" y="1192306"/>
            <a:ext cx="8250464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Testen van versie met feature tegen versie zonder features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 err="1"/>
              <a:t>Adhv</a:t>
            </a:r>
            <a:r>
              <a:rPr lang="nl-BE" sz="2400" dirty="0"/>
              <a:t> een verhaal dat users toelaat zelf op zoek te gaan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nl-BE" sz="2400" dirty="0"/>
              <a:t>Meten: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400" dirty="0" err="1"/>
              <a:t>Efficientie</a:t>
            </a:r>
            <a:endParaRPr lang="nl-BE" sz="2400" dirty="0"/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400" dirty="0"/>
              <a:t>Gebruiksvriendelijkheid -&gt; duidelijkheid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400" dirty="0"/>
              <a:t>Fouten in de tree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400" dirty="0"/>
              <a:t>SUS-score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nl-BE" sz="2400" dirty="0"/>
              <a:t>Survey naar het gebruik en ontbrekende features, …</a:t>
            </a:r>
          </a:p>
        </p:txBody>
      </p:sp>
    </p:spTree>
    <p:extLst>
      <p:ext uri="{BB962C8B-B14F-4D97-AF65-F5344CB8AC3E}">
        <p14:creationId xmlns:p14="http://schemas.microsoft.com/office/powerpoint/2010/main" val="987797783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</TotalTime>
  <Words>251</Words>
  <Application>Microsoft Office PowerPoint</Application>
  <PresentationFormat>Breedbeeld</PresentationFormat>
  <Paragraphs>47</Paragraphs>
  <Slides>4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Kantoorthema</vt:lpstr>
      <vt:lpstr>PowerPoint-presentatie</vt:lpstr>
      <vt:lpstr>PowerPoint-presentatie</vt:lpstr>
      <vt:lpstr>PowerPoint-presentatie</vt:lpstr>
      <vt:lpstr>PowerPoint-presentatie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Mika Gielkens</dc:creator>
  <cp:lastModifiedBy>Mika Gielkens</cp:lastModifiedBy>
  <cp:revision>1</cp:revision>
  <dcterms:created xsi:type="dcterms:W3CDTF">2025-11-20T20:21:33Z</dcterms:created>
  <dcterms:modified xsi:type="dcterms:W3CDTF">2025-11-20T22:07:34Z</dcterms:modified>
</cp:coreProperties>
</file>